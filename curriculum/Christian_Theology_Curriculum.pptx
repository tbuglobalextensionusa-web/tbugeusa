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11480"/>
            <a:ext cx="11368735" cy="6035040"/>
          </a:xfrm>
          <a:prstGeom prst="rect">
            <a:avLst/>
          </a:prstGeom>
          <a:noFill/>
          <a:ln w="1397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12064" y="512064"/>
            <a:ext cx="11167567" cy="5833872"/>
          </a:xfrm>
          <a:prstGeom prst="rect">
            <a:avLst/>
          </a:prstGeom>
          <a:noFill/>
          <a:ln w="508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932688"/>
            <a:ext cx="1054577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E6D3A3"/>
                </a:solidFill>
                <a:latin typeface="Calibri Light"/>
              </a:rPr>
              <a:t>UNIVERSITY-LEVEL THEOLOGICAL EDUCATION</a:t>
            </a:r>
          </a:p>
        </p:txBody>
      </p:sp>
      <p:cxnSp>
        <p:nvCxnSpPr>
          <p:cNvPr id="6" name="Connector 5"/>
          <p:cNvCxnSpPr/>
          <p:nvPr/>
        </p:nvCxnSpPr>
        <p:spPr>
          <a:xfrm>
            <a:off x="5592927" y="1298448"/>
            <a:ext cx="320040"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278727" y="1298448"/>
            <a:ext cx="320040"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1874519"/>
            <a:ext cx="10362895" cy="1234440"/>
          </a:xfrm>
          <a:prstGeom prst="rect">
            <a:avLst/>
          </a:prstGeom>
          <a:noFill/>
        </p:spPr>
        <p:txBody>
          <a:bodyPr wrap="square" anchor="ctr" lIns="0" rIns="0" tIns="0" bIns="0">
            <a:spAutoFit/>
          </a:bodyPr>
          <a:lstStyle/>
          <a:p>
            <a:pPr algn="ctr">
              <a:lnSpc>
                <a:spcPct val="100000"/>
              </a:lnSpc>
              <a:spcBef>
                <a:spcPts val="0"/>
              </a:spcBef>
              <a:spcAft>
                <a:spcPts val="0"/>
              </a:spcAft>
            </a:pPr>
            <a:r>
              <a:rPr sz="5600" b="1" i="0" u="none" spc="150">
                <a:solidFill>
                  <a:srgbClr val="FFFFFF"/>
                </a:solidFill>
                <a:latin typeface="Palatino Linotype"/>
              </a:rPr>
              <a:t>CHRISTIAN THEOLOGY</a:t>
            </a:r>
          </a:p>
        </p:txBody>
      </p:sp>
      <p:cxnSp>
        <p:nvCxnSpPr>
          <p:cNvPr id="9" name="Connector 8"/>
          <p:cNvCxnSpPr/>
          <p:nvPr/>
        </p:nvCxnSpPr>
        <p:spPr>
          <a:xfrm>
            <a:off x="4175607" y="3310128"/>
            <a:ext cx="1737360" cy="0"/>
          </a:xfrm>
          <a:prstGeom prst="line">
            <a:avLst/>
          </a:prstGeom>
          <a:ln w="1397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78727" y="3310128"/>
            <a:ext cx="1737360" cy="0"/>
          </a:xfrm>
          <a:prstGeom prst="line">
            <a:avLst/>
          </a:prstGeom>
          <a:ln w="1397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059271" y="3273552"/>
            <a:ext cx="73152" cy="73152"/>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14400" y="3529584"/>
            <a:ext cx="10362895" cy="457200"/>
          </a:xfrm>
          <a:prstGeom prst="rect">
            <a:avLst/>
          </a:prstGeom>
          <a:noFill/>
        </p:spPr>
        <p:txBody>
          <a:bodyPr wrap="square" anchor="t" lIns="0" rIns="0" tIns="0" bIns="0">
            <a:spAutoFit/>
          </a:bodyPr>
          <a:lstStyle/>
          <a:p>
            <a:pPr algn="ctr">
              <a:lnSpc>
                <a:spcPct val="100000"/>
              </a:lnSpc>
              <a:spcBef>
                <a:spcPts val="0"/>
              </a:spcBef>
              <a:spcAft>
                <a:spcPts val="0"/>
              </a:spcAft>
            </a:pPr>
            <a:r>
              <a:rPr sz="1500" b="1" i="0" u="none" spc="450">
                <a:solidFill>
                  <a:srgbClr val="E6D3A3"/>
                </a:solidFill>
                <a:latin typeface="Calibri Light"/>
              </a:rPr>
              <a:t>A COMPREHENSIVE ACADEMIC STUDY</a:t>
            </a:r>
          </a:p>
        </p:txBody>
      </p:sp>
      <p:sp>
        <p:nvSpPr>
          <p:cNvPr id="13" name="TextBox 12"/>
          <p:cNvSpPr txBox="1"/>
          <p:nvPr/>
        </p:nvSpPr>
        <p:spPr>
          <a:xfrm>
            <a:off x="2194560" y="4315968"/>
            <a:ext cx="7802575" cy="868680"/>
          </a:xfrm>
          <a:prstGeom prst="rect">
            <a:avLst/>
          </a:prstGeom>
          <a:noFill/>
        </p:spPr>
        <p:txBody>
          <a:bodyPr wrap="square" anchor="t" lIns="0" rIns="0" tIns="0" bIns="0">
            <a:spAutoFit/>
          </a:bodyPr>
          <a:lstStyle/>
          <a:p>
            <a:pPr algn="ctr">
              <a:lnSpc>
                <a:spcPct val="140000"/>
              </a:lnSpc>
              <a:spcBef>
                <a:spcPts val="0"/>
              </a:spcBef>
              <a:spcAft>
                <a:spcPts val="0"/>
              </a:spcAft>
            </a:pPr>
            <a:r>
              <a:rPr sz="1300" b="0" i="1" u="none" spc="30">
                <a:solidFill>
                  <a:srgbClr val="C9CDD6"/>
                </a:solidFill>
                <a:latin typeface="Palatino Linotype"/>
              </a:rPr>
              <a:t>An eighteen-module academic programme tracing the Christian faith from its foundations to advanced research — scripture, doctrine, history, practice and critical inquiry.</a:t>
            </a:r>
          </a:p>
        </p:txBody>
      </p:sp>
      <p:sp>
        <p:nvSpPr>
          <p:cNvPr id="14" name="TextBox 13"/>
          <p:cNvSpPr txBox="1"/>
          <p:nvPr/>
        </p:nvSpPr>
        <p:spPr>
          <a:xfrm>
            <a:off x="822960" y="5742432"/>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220">
                <a:solidFill>
                  <a:srgbClr val="9AA5BC"/>
                </a:solidFill>
                <a:latin typeface="Calibri Light"/>
              </a:rPr>
              <a:t>18 MODULES  ·  220 LECTURE TOPICS  ·  FOUNDATIONS TO ADVANCED RESEARCH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105156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COURSE INTRODUCTION</a:t>
            </a:r>
          </a:p>
        </p:txBody>
      </p:sp>
      <p:sp>
        <p:nvSpPr>
          <p:cNvPr id="4" name="TextBox 3"/>
          <p:cNvSpPr txBox="1"/>
          <p:nvPr/>
        </p:nvSpPr>
        <p:spPr>
          <a:xfrm>
            <a:off x="822960" y="91440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232A38"/>
                </a:solidFill>
                <a:latin typeface="Palatino Linotype"/>
              </a:rPr>
              <a:t>Why Study Theology, and How This Course Proceeds</a:t>
            </a:r>
          </a:p>
        </p:txBody>
      </p:sp>
      <p:cxnSp>
        <p:nvCxnSpPr>
          <p:cNvPr id="5" name="Connector 4"/>
          <p:cNvCxnSpPr/>
          <p:nvPr/>
        </p:nvCxnSpPr>
        <p:spPr>
          <a:xfrm>
            <a:off x="822960" y="162763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01952"/>
            <a:ext cx="32004" cy="12984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78992" y="1901952"/>
            <a:ext cx="10058400"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ACADEMIC PURPOSE</a:t>
            </a:r>
          </a:p>
        </p:txBody>
      </p:sp>
      <p:sp>
        <p:nvSpPr>
          <p:cNvPr id="8" name="TextBox 7"/>
          <p:cNvSpPr txBox="1"/>
          <p:nvPr/>
        </p:nvSpPr>
        <p:spPr>
          <a:xfrm>
            <a:off x="1078992" y="2194560"/>
            <a:ext cx="10058400" cy="969264"/>
          </a:xfrm>
          <a:prstGeom prst="rect">
            <a:avLst/>
          </a:prstGeom>
          <a:noFill/>
        </p:spPr>
        <p:txBody>
          <a:bodyPr wrap="square" anchor="t" lIns="0" rIns="0" tIns="0" bIns="0">
            <a:spAutoFit/>
          </a:bodyPr>
          <a:lstStyle/>
          <a:p>
            <a:pPr algn="l">
              <a:lnSpc>
                <a:spcPct val="130000"/>
              </a:lnSpc>
              <a:spcBef>
                <a:spcPts val="0"/>
              </a:spcBef>
              <a:spcAft>
                <a:spcPts val="0"/>
              </a:spcAft>
            </a:pPr>
            <a:r>
              <a:rPr sz="1250" b="0" i="0" u="none">
                <a:solidFill>
                  <a:srgbClr val="232A38"/>
                </a:solidFill>
                <a:latin typeface="Palatino Linotype"/>
              </a:rPr>
              <a:t>Christian Theology (theologia Christiana) is the disciplined, rational study of the faith as it is grounded in Scripture, shaped by the historical Church, and addressed to the whole of life. This programme is designed to equip students to articulate, examine and defend the central doctrines of the Christian faith with scholarly rigour and devotional seriousness.</a:t>
            </a:r>
          </a:p>
        </p:txBody>
      </p:sp>
      <p:sp>
        <p:nvSpPr>
          <p:cNvPr id="9" name="Rectangle 8"/>
          <p:cNvSpPr/>
          <p:nvPr/>
        </p:nvSpPr>
        <p:spPr>
          <a:xfrm>
            <a:off x="822960" y="3401568"/>
            <a:ext cx="32004" cy="12984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78992" y="3401568"/>
            <a:ext cx="10058400"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METHOD &amp; APPROACH</a:t>
            </a:r>
          </a:p>
        </p:txBody>
      </p:sp>
      <p:sp>
        <p:nvSpPr>
          <p:cNvPr id="11" name="TextBox 10"/>
          <p:cNvSpPr txBox="1"/>
          <p:nvPr/>
        </p:nvSpPr>
        <p:spPr>
          <a:xfrm>
            <a:off x="1078992" y="3694176"/>
            <a:ext cx="10058400" cy="969264"/>
          </a:xfrm>
          <a:prstGeom prst="rect">
            <a:avLst/>
          </a:prstGeom>
          <a:noFill/>
        </p:spPr>
        <p:txBody>
          <a:bodyPr wrap="square" anchor="t" lIns="0" rIns="0" tIns="0" bIns="0">
            <a:spAutoFit/>
          </a:bodyPr>
          <a:lstStyle/>
          <a:p>
            <a:pPr algn="l">
              <a:lnSpc>
                <a:spcPct val="130000"/>
              </a:lnSpc>
              <a:spcBef>
                <a:spcPts val="0"/>
              </a:spcBef>
              <a:spcAft>
                <a:spcPts val="0"/>
              </a:spcAft>
            </a:pPr>
            <a:r>
              <a:rPr sz="1250" b="0" i="0" u="none">
                <a:solidFill>
                  <a:srgbClr val="232A38"/>
                </a:solidFill>
                <a:latin typeface="Palatino Linotype"/>
              </a:rPr>
              <a:t>Each module opens with a section divider, an introduction to the discipline, a sequence of numbered lecture topics, and a summary. Explanations distinguish biblical testimony, historical confession and systematic interpretation, and they present the major positions of different Christian traditions where they diverge.</a:t>
            </a:r>
          </a:p>
        </p:txBody>
      </p:sp>
      <p:sp>
        <p:nvSpPr>
          <p:cNvPr id="12" name="Rectangle 11"/>
          <p:cNvSpPr/>
          <p:nvPr/>
        </p:nvSpPr>
        <p:spPr>
          <a:xfrm>
            <a:off x="822960" y="4901184"/>
            <a:ext cx="32004" cy="12984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78992" y="4901184"/>
            <a:ext cx="10058400"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SCOPE OF STUDY</a:t>
            </a:r>
          </a:p>
        </p:txBody>
      </p:sp>
      <p:sp>
        <p:nvSpPr>
          <p:cNvPr id="14" name="TextBox 13"/>
          <p:cNvSpPr txBox="1"/>
          <p:nvPr/>
        </p:nvSpPr>
        <p:spPr>
          <a:xfrm>
            <a:off x="1078992" y="5193792"/>
            <a:ext cx="10058400" cy="969264"/>
          </a:xfrm>
          <a:prstGeom prst="rect">
            <a:avLst/>
          </a:prstGeom>
          <a:noFill/>
        </p:spPr>
        <p:txBody>
          <a:bodyPr wrap="square" anchor="t" lIns="0" rIns="0" tIns="0" bIns="0">
            <a:spAutoFit/>
          </a:bodyPr>
          <a:lstStyle/>
          <a:p>
            <a:pPr algn="l">
              <a:lnSpc>
                <a:spcPct val="130000"/>
              </a:lnSpc>
              <a:spcBef>
                <a:spcPts val="0"/>
              </a:spcBef>
              <a:spcAft>
                <a:spcPts val="0"/>
              </a:spcAft>
            </a:pPr>
            <a:r>
              <a:rPr sz="1250" b="0" i="0" u="none">
                <a:solidFill>
                  <a:srgbClr val="232A38"/>
                </a:solidFill>
                <a:latin typeface="Palatino Linotype"/>
              </a:rPr>
              <a:t>The curriculum spans the entire theological edifice: prolegomena and the nature of theological reflection; the doctrines of God, Christ, the Spirit, humanity and salvation; the person and mission of the Church; the Christian life and ethics; the history of Christian thought; apologetics and theology in conversation with modernity; and the methods of advanced theological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105156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LEARNING OBJECTIVES</a:t>
            </a:r>
          </a:p>
        </p:txBody>
      </p:sp>
      <p:sp>
        <p:nvSpPr>
          <p:cNvPr id="4" name="TextBox 3"/>
          <p:cNvSpPr txBox="1"/>
          <p:nvPr/>
        </p:nvSpPr>
        <p:spPr>
          <a:xfrm>
            <a:off x="822960" y="91440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232A38"/>
                </a:solidFill>
                <a:latin typeface="Palatino Linotype"/>
              </a:rPr>
              <a:t>What the Student Will Be Able to Do</a:t>
            </a:r>
          </a:p>
        </p:txBody>
      </p:sp>
      <p:cxnSp>
        <p:nvCxnSpPr>
          <p:cNvPr id="5" name="Connector 4"/>
          <p:cNvCxnSpPr/>
          <p:nvPr/>
        </p:nvCxnSpPr>
        <p:spPr>
          <a:xfrm>
            <a:off x="822960" y="162763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84248"/>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22960" y="1984248"/>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a:t>
            </a:r>
          </a:p>
        </p:txBody>
      </p:sp>
      <p:sp>
        <p:nvSpPr>
          <p:cNvPr id="8" name="TextBox 7"/>
          <p:cNvSpPr txBox="1"/>
          <p:nvPr/>
        </p:nvSpPr>
        <p:spPr>
          <a:xfrm>
            <a:off x="1417320" y="1965960"/>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Define the major doctrinal terms of Christian theology with precision and explain their biblical, historical and systematic context.</a:t>
            </a:r>
          </a:p>
        </p:txBody>
      </p:sp>
      <p:cxnSp>
        <p:nvCxnSpPr>
          <p:cNvPr id="9" name="Connector 8"/>
          <p:cNvCxnSpPr/>
          <p:nvPr/>
        </p:nvCxnSpPr>
        <p:spPr>
          <a:xfrm>
            <a:off x="1417320" y="2532888"/>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22960" y="2743200"/>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2743200"/>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a:t>
            </a:r>
          </a:p>
        </p:txBody>
      </p:sp>
      <p:sp>
        <p:nvSpPr>
          <p:cNvPr id="12" name="TextBox 11"/>
          <p:cNvSpPr txBox="1"/>
          <p:nvPr/>
        </p:nvSpPr>
        <p:spPr>
          <a:xfrm>
            <a:off x="1417320" y="2724912"/>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Trace the development of key doctrines from Scripture through the creeds, councils and confessions to contemporary expression.</a:t>
            </a:r>
          </a:p>
        </p:txBody>
      </p:sp>
      <p:cxnSp>
        <p:nvCxnSpPr>
          <p:cNvPr id="13" name="Connector 12"/>
          <p:cNvCxnSpPr/>
          <p:nvPr/>
        </p:nvCxnSpPr>
        <p:spPr>
          <a:xfrm>
            <a:off x="1417320" y="3291840"/>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2960" y="3502152"/>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2960" y="3502152"/>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3</a:t>
            </a:r>
          </a:p>
        </p:txBody>
      </p:sp>
      <p:sp>
        <p:nvSpPr>
          <p:cNvPr id="16" name="TextBox 15"/>
          <p:cNvSpPr txBox="1"/>
          <p:nvPr/>
        </p:nvSpPr>
        <p:spPr>
          <a:xfrm>
            <a:off x="1417320" y="3483864"/>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Compare the major Christian traditions — Catholic, Orthodox, Reformed, Evangelical and others — with objective scholarly balance.</a:t>
            </a:r>
          </a:p>
        </p:txBody>
      </p:sp>
      <p:cxnSp>
        <p:nvCxnSpPr>
          <p:cNvPr id="17" name="Connector 16"/>
          <p:cNvCxnSpPr/>
          <p:nvPr/>
        </p:nvCxnSpPr>
        <p:spPr>
          <a:xfrm>
            <a:off x="1417320" y="4050791"/>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22960" y="4261103"/>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960" y="4261103"/>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4</a:t>
            </a:r>
          </a:p>
        </p:txBody>
      </p:sp>
      <p:sp>
        <p:nvSpPr>
          <p:cNvPr id="20" name="TextBox 19"/>
          <p:cNvSpPr txBox="1"/>
          <p:nvPr/>
        </p:nvSpPr>
        <p:spPr>
          <a:xfrm>
            <a:off x="1417320" y="4242816"/>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Apply theological reasoning to ethical, cultural and missional questions of the present age.</a:t>
            </a:r>
          </a:p>
        </p:txBody>
      </p:sp>
      <p:cxnSp>
        <p:nvCxnSpPr>
          <p:cNvPr id="21" name="Connector 20"/>
          <p:cNvCxnSpPr/>
          <p:nvPr/>
        </p:nvCxnSpPr>
        <p:spPr>
          <a:xfrm>
            <a:off x="1417320" y="4809744"/>
            <a:ext cx="9921240" cy="0"/>
          </a:xfrm>
          <a:prstGeom prst="line">
            <a:avLst/>
          </a:prstGeom>
          <a:ln w="6350">
            <a:solidFill>
              <a:srgbClr val="D8D0BE"/>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5020055"/>
            <a:ext cx="384048" cy="38404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2960" y="5020055"/>
            <a:ext cx="384048" cy="38404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5</a:t>
            </a:r>
          </a:p>
        </p:txBody>
      </p:sp>
      <p:sp>
        <p:nvSpPr>
          <p:cNvPr id="24" name="TextBox 23"/>
          <p:cNvSpPr txBox="1"/>
          <p:nvPr/>
        </p:nvSpPr>
        <p:spPr>
          <a:xfrm>
            <a:off x="1417320" y="5001768"/>
            <a:ext cx="9875520" cy="566928"/>
          </a:xfrm>
          <a:prstGeom prst="rect">
            <a:avLst/>
          </a:prstGeom>
          <a:noFill/>
        </p:spPr>
        <p:txBody>
          <a:bodyPr wrap="square" anchor="ctr" lIns="0" rIns="0" tIns="0" bIns="0">
            <a:spAutoFit/>
          </a:bodyPr>
          <a:lstStyle/>
          <a:p>
            <a:pPr algn="l">
              <a:lnSpc>
                <a:spcPct val="118000"/>
              </a:lnSpc>
              <a:spcBef>
                <a:spcPts val="0"/>
              </a:spcBef>
              <a:spcAft>
                <a:spcPts val="0"/>
              </a:spcAft>
            </a:pPr>
            <a:r>
              <a:rPr sz="1250" b="0" i="0" u="none">
                <a:solidFill>
                  <a:srgbClr val="232A38"/>
                </a:solidFill>
                <a:latin typeface="Calibri"/>
              </a:rPr>
              <a:t>Demonstrate competence in the academic method of theological research, from problem formulation to thesis defence.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31520"/>
            <a:ext cx="10515600" cy="32004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20">
                <a:solidFill>
                  <a:srgbClr val="E6D3A3"/>
                </a:solidFill>
                <a:latin typeface="Calibri Light"/>
              </a:rPr>
              <a:t>THEOLOGICAL PROGRESSION</a:t>
            </a:r>
          </a:p>
        </p:txBody>
      </p:sp>
      <p:sp>
        <p:nvSpPr>
          <p:cNvPr id="5" name="TextBox 4"/>
          <p:cNvSpPr txBox="1"/>
          <p:nvPr/>
        </p:nvSpPr>
        <p:spPr>
          <a:xfrm>
            <a:off x="822960" y="1097280"/>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FFFFFF"/>
                </a:solidFill>
                <a:latin typeface="Palatino Linotype"/>
              </a:rPr>
              <a:t>From Foundation to Advanced Research</a:t>
            </a:r>
          </a:p>
        </p:txBody>
      </p:sp>
      <p:cxnSp>
        <p:nvCxnSpPr>
          <p:cNvPr id="6" name="Connector 5"/>
          <p:cNvCxnSpPr/>
          <p:nvPr/>
        </p:nvCxnSpPr>
        <p:spPr>
          <a:xfrm>
            <a:off x="822960" y="1810512"/>
            <a:ext cx="10543032"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194560"/>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2194560"/>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a:t>
            </a:r>
          </a:p>
        </p:txBody>
      </p:sp>
      <p:sp>
        <p:nvSpPr>
          <p:cNvPr id="9" name="TextBox 8"/>
          <p:cNvSpPr txBox="1"/>
          <p:nvPr/>
        </p:nvSpPr>
        <p:spPr>
          <a:xfrm>
            <a:off x="1828800" y="2212848"/>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Foundations</a:t>
            </a:r>
          </a:p>
        </p:txBody>
      </p:sp>
      <p:sp>
        <p:nvSpPr>
          <p:cNvPr id="10" name="TextBox 9"/>
          <p:cNvSpPr txBox="1"/>
          <p:nvPr/>
        </p:nvSpPr>
        <p:spPr>
          <a:xfrm>
            <a:off x="1828800" y="2560320"/>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the nature, sources and method of theology; the Bible as the rule of faith</a:t>
            </a:r>
          </a:p>
        </p:txBody>
      </p:sp>
      <p:cxnSp>
        <p:nvCxnSpPr>
          <p:cNvPr id="11" name="Connector 10"/>
          <p:cNvCxnSpPr/>
          <p:nvPr/>
        </p:nvCxnSpPr>
        <p:spPr>
          <a:xfrm>
            <a:off x="1179576" y="2907791"/>
            <a:ext cx="0" cy="173737"/>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22960" y="3081528"/>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2960" y="3081528"/>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II</a:t>
            </a:r>
          </a:p>
        </p:txBody>
      </p:sp>
      <p:sp>
        <p:nvSpPr>
          <p:cNvPr id="14" name="TextBox 13"/>
          <p:cNvSpPr txBox="1"/>
          <p:nvPr/>
        </p:nvSpPr>
        <p:spPr>
          <a:xfrm>
            <a:off x="1828800" y="3099816"/>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Systematic Theology</a:t>
            </a:r>
          </a:p>
        </p:txBody>
      </p:sp>
      <p:sp>
        <p:nvSpPr>
          <p:cNvPr id="15" name="TextBox 14"/>
          <p:cNvSpPr txBox="1"/>
          <p:nvPr/>
        </p:nvSpPr>
        <p:spPr>
          <a:xfrm>
            <a:off x="1828800" y="3447288"/>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God, the Trinity, Christ, the Spirit, humanity, salvation, the Church and last things</a:t>
            </a:r>
          </a:p>
        </p:txBody>
      </p:sp>
      <p:cxnSp>
        <p:nvCxnSpPr>
          <p:cNvPr id="16" name="Connector 15"/>
          <p:cNvCxnSpPr/>
          <p:nvPr/>
        </p:nvCxnSpPr>
        <p:spPr>
          <a:xfrm>
            <a:off x="1179576" y="3794760"/>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22960" y="3968496"/>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22960" y="3968496"/>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III</a:t>
            </a:r>
          </a:p>
        </p:txBody>
      </p:sp>
      <p:sp>
        <p:nvSpPr>
          <p:cNvPr id="19" name="TextBox 18"/>
          <p:cNvSpPr txBox="1"/>
          <p:nvPr/>
        </p:nvSpPr>
        <p:spPr>
          <a:xfrm>
            <a:off x="1828800" y="3986783"/>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Applied Theology</a:t>
            </a:r>
          </a:p>
        </p:txBody>
      </p:sp>
      <p:sp>
        <p:nvSpPr>
          <p:cNvPr id="20" name="TextBox 19"/>
          <p:cNvSpPr txBox="1"/>
          <p:nvPr/>
        </p:nvSpPr>
        <p:spPr>
          <a:xfrm>
            <a:off x="1828800" y="4334256"/>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the Christian life, ethics and the theology of the world's great questions</a:t>
            </a:r>
          </a:p>
        </p:txBody>
      </p:sp>
      <p:cxnSp>
        <p:nvCxnSpPr>
          <p:cNvPr id="21" name="Connector 20"/>
          <p:cNvCxnSpPr/>
          <p:nvPr/>
        </p:nvCxnSpPr>
        <p:spPr>
          <a:xfrm>
            <a:off x="1179576" y="4681728"/>
            <a:ext cx="0" cy="17373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4855464"/>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2960" y="4855464"/>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IV</a:t>
            </a:r>
          </a:p>
        </p:txBody>
      </p:sp>
      <p:sp>
        <p:nvSpPr>
          <p:cNvPr id="24" name="TextBox 23"/>
          <p:cNvSpPr txBox="1"/>
          <p:nvPr/>
        </p:nvSpPr>
        <p:spPr>
          <a:xfrm>
            <a:off x="1828800" y="4873751"/>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Historical Theology</a:t>
            </a:r>
          </a:p>
        </p:txBody>
      </p:sp>
      <p:sp>
        <p:nvSpPr>
          <p:cNvPr id="25" name="TextBox 24"/>
          <p:cNvSpPr txBox="1"/>
          <p:nvPr/>
        </p:nvSpPr>
        <p:spPr>
          <a:xfrm>
            <a:off x="1828800" y="5221224"/>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the faith as confessed and lived from the apostles to the present</a:t>
            </a:r>
          </a:p>
        </p:txBody>
      </p:sp>
      <p:cxnSp>
        <p:nvCxnSpPr>
          <p:cNvPr id="26" name="Connector 25"/>
          <p:cNvCxnSpPr/>
          <p:nvPr/>
        </p:nvCxnSpPr>
        <p:spPr>
          <a:xfrm>
            <a:off x="1179576" y="5568696"/>
            <a:ext cx="0" cy="173735"/>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22960" y="5742431"/>
            <a:ext cx="713232" cy="713232"/>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22960" y="5742431"/>
            <a:ext cx="713232" cy="713232"/>
          </a:xfrm>
          <a:prstGeom prst="rect">
            <a:avLst/>
          </a:prstGeom>
          <a:noFill/>
        </p:spPr>
        <p:txBody>
          <a:bodyPr wrap="square" anchor="ctr" lIns="0" rIns="0" tIns="0" bIns="0">
            <a:spAutoFit/>
          </a:bodyPr>
          <a:lstStyle/>
          <a:p>
            <a:pPr algn="ctr">
              <a:lnSpc>
                <a:spcPct val="100000"/>
              </a:lnSpc>
              <a:spcBef>
                <a:spcPts val="0"/>
              </a:spcBef>
              <a:spcAft>
                <a:spcPts val="0"/>
              </a:spcAft>
            </a:pPr>
            <a:r>
              <a:rPr sz="2000" b="1" i="0" u="none">
                <a:solidFill>
                  <a:srgbClr val="E6D3A3"/>
                </a:solidFill>
                <a:latin typeface="Palatino Linotype"/>
              </a:rPr>
              <a:t>V</a:t>
            </a:r>
          </a:p>
        </p:txBody>
      </p:sp>
      <p:sp>
        <p:nvSpPr>
          <p:cNvPr id="29" name="TextBox 28"/>
          <p:cNvSpPr txBox="1"/>
          <p:nvPr/>
        </p:nvSpPr>
        <p:spPr>
          <a:xfrm>
            <a:off x="1828800" y="5760719"/>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300" b="1" i="0" u="none" spc="120">
                <a:solidFill>
                  <a:srgbClr val="FFFFFF"/>
                </a:solidFill>
                <a:latin typeface="Calibri Light"/>
              </a:rPr>
              <a:t>Advanced Theology</a:t>
            </a:r>
          </a:p>
        </p:txBody>
      </p:sp>
      <p:sp>
        <p:nvSpPr>
          <p:cNvPr id="30" name="TextBox 29"/>
          <p:cNvSpPr txBox="1"/>
          <p:nvPr/>
        </p:nvSpPr>
        <p:spPr>
          <a:xfrm>
            <a:off x="1828800" y="6108192"/>
            <a:ext cx="9326880" cy="320040"/>
          </a:xfrm>
          <a:prstGeom prst="rect">
            <a:avLst/>
          </a:prstGeom>
          <a:noFill/>
        </p:spPr>
        <p:txBody>
          <a:bodyPr wrap="square" anchor="t" lIns="0" rIns="0" tIns="0" bIns="0">
            <a:spAutoFit/>
          </a:bodyPr>
          <a:lstStyle/>
          <a:p>
            <a:pPr algn="l">
              <a:lnSpc>
                <a:spcPct val="100000"/>
              </a:lnSpc>
              <a:spcBef>
                <a:spcPts val="0"/>
              </a:spcBef>
              <a:spcAft>
                <a:spcPts val="0"/>
              </a:spcAft>
            </a:pPr>
            <a:r>
              <a:rPr sz="1000" b="0" i="0" u="none">
                <a:solidFill>
                  <a:srgbClr val="9AA5BC"/>
                </a:solidFill>
                <a:latin typeface="Calibri"/>
              </a:rPr>
              <a:t>apologetics, comparative traditions and the method of original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3" name="Connector 2"/>
          <p:cNvCxnSpPr/>
          <p:nvPr/>
        </p:nvCxnSpPr>
        <p:spPr>
          <a:xfrm>
            <a:off x="822960" y="56692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713232"/>
            <a:ext cx="1054577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COURSE OVERVIEW</a:t>
            </a:r>
          </a:p>
        </p:txBody>
      </p:sp>
      <p:sp>
        <p:nvSpPr>
          <p:cNvPr id="5" name="TextBox 4"/>
          <p:cNvSpPr txBox="1"/>
          <p:nvPr/>
        </p:nvSpPr>
        <p:spPr>
          <a:xfrm>
            <a:off x="822960" y="1005840"/>
            <a:ext cx="10545775" cy="548640"/>
          </a:xfrm>
          <a:prstGeom prst="rect">
            <a:avLst/>
          </a:prstGeom>
          <a:noFill/>
        </p:spPr>
        <p:txBody>
          <a:bodyPr wrap="square" anchor="t" lIns="0" rIns="0" tIns="0" bIns="0">
            <a:spAutoFit/>
          </a:bodyPr>
          <a:lstStyle/>
          <a:p>
            <a:pPr algn="l">
              <a:lnSpc>
                <a:spcPct val="100000"/>
              </a:lnSpc>
              <a:spcBef>
                <a:spcPts val="0"/>
              </a:spcBef>
              <a:spcAft>
                <a:spcPts val="0"/>
              </a:spcAft>
            </a:pPr>
            <a:r>
              <a:rPr sz="2700" b="1" i="0" u="none">
                <a:solidFill>
                  <a:srgbClr val="232A38"/>
                </a:solidFill>
                <a:latin typeface="Palatino Linotype"/>
              </a:rPr>
              <a:t>The Structure of the Programme</a:t>
            </a:r>
          </a:p>
        </p:txBody>
      </p:sp>
      <p:sp>
        <p:nvSpPr>
          <p:cNvPr id="6" name="Rectangle 5"/>
          <p:cNvSpPr/>
          <p:nvPr/>
        </p:nvSpPr>
        <p:spPr>
          <a:xfrm>
            <a:off x="822960" y="190195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87552" y="1783080"/>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01</a:t>
            </a:r>
          </a:p>
        </p:txBody>
      </p:sp>
      <p:sp>
        <p:nvSpPr>
          <p:cNvPr id="8" name="TextBox 7"/>
          <p:cNvSpPr txBox="1"/>
          <p:nvPr/>
        </p:nvSpPr>
        <p:spPr>
          <a:xfrm>
            <a:off x="1600200" y="1783080"/>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Foundations of Christian Theology</a:t>
            </a:r>
          </a:p>
        </p:txBody>
      </p:sp>
      <p:cxnSp>
        <p:nvCxnSpPr>
          <p:cNvPr id="9" name="Connector 8"/>
          <p:cNvCxnSpPr/>
          <p:nvPr/>
        </p:nvCxnSpPr>
        <p:spPr>
          <a:xfrm>
            <a:off x="822960" y="2276856"/>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22960" y="243687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7552" y="2318004"/>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02</a:t>
            </a:r>
          </a:p>
        </p:txBody>
      </p:sp>
      <p:sp>
        <p:nvSpPr>
          <p:cNvPr id="12" name="TextBox 11"/>
          <p:cNvSpPr txBox="1"/>
          <p:nvPr/>
        </p:nvSpPr>
        <p:spPr>
          <a:xfrm>
            <a:off x="1600200" y="2318004"/>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 Bible: The Book of Theology</a:t>
            </a:r>
          </a:p>
        </p:txBody>
      </p:sp>
      <p:cxnSp>
        <p:nvCxnSpPr>
          <p:cNvPr id="13" name="Connector 12"/>
          <p:cNvCxnSpPr/>
          <p:nvPr/>
        </p:nvCxnSpPr>
        <p:spPr>
          <a:xfrm>
            <a:off x="822960" y="2811780"/>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2960" y="297180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87552" y="2852928"/>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03</a:t>
            </a:r>
          </a:p>
        </p:txBody>
      </p:sp>
      <p:sp>
        <p:nvSpPr>
          <p:cNvPr id="16" name="TextBox 15"/>
          <p:cNvSpPr txBox="1"/>
          <p:nvPr/>
        </p:nvSpPr>
        <p:spPr>
          <a:xfrm>
            <a:off x="1600200" y="2852928"/>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Theology Proper: The Doctrine of God</a:t>
            </a:r>
          </a:p>
        </p:txBody>
      </p:sp>
      <p:cxnSp>
        <p:nvCxnSpPr>
          <p:cNvPr id="17" name="Connector 16"/>
          <p:cNvCxnSpPr/>
          <p:nvPr/>
        </p:nvCxnSpPr>
        <p:spPr>
          <a:xfrm>
            <a:off x="822960" y="3346704"/>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22960" y="350672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87552" y="3387852"/>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04</a:t>
            </a:r>
          </a:p>
        </p:txBody>
      </p:sp>
      <p:sp>
        <p:nvSpPr>
          <p:cNvPr id="20" name="TextBox 19"/>
          <p:cNvSpPr txBox="1"/>
          <p:nvPr/>
        </p:nvSpPr>
        <p:spPr>
          <a:xfrm>
            <a:off x="1600200" y="3387852"/>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Creation, Providence and Angels</a:t>
            </a:r>
          </a:p>
        </p:txBody>
      </p:sp>
      <p:cxnSp>
        <p:nvCxnSpPr>
          <p:cNvPr id="21" name="Connector 20"/>
          <p:cNvCxnSpPr/>
          <p:nvPr/>
        </p:nvCxnSpPr>
        <p:spPr>
          <a:xfrm>
            <a:off x="822960" y="3881628"/>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22960" y="4041648"/>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87552" y="3922776"/>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05</a:t>
            </a:r>
          </a:p>
        </p:txBody>
      </p:sp>
      <p:sp>
        <p:nvSpPr>
          <p:cNvPr id="24" name="TextBox 23"/>
          <p:cNvSpPr txBox="1"/>
          <p:nvPr/>
        </p:nvSpPr>
        <p:spPr>
          <a:xfrm>
            <a:off x="1600200" y="3922776"/>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 Doctrine of Man</a:t>
            </a:r>
          </a:p>
        </p:txBody>
      </p:sp>
      <p:cxnSp>
        <p:nvCxnSpPr>
          <p:cNvPr id="25" name="Connector 24"/>
          <p:cNvCxnSpPr/>
          <p:nvPr/>
        </p:nvCxnSpPr>
        <p:spPr>
          <a:xfrm>
            <a:off x="822960" y="4416552"/>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22960" y="457657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87552" y="4457700"/>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06</a:t>
            </a:r>
          </a:p>
        </p:txBody>
      </p:sp>
      <p:sp>
        <p:nvSpPr>
          <p:cNvPr id="28" name="TextBox 27"/>
          <p:cNvSpPr txBox="1"/>
          <p:nvPr/>
        </p:nvSpPr>
        <p:spPr>
          <a:xfrm>
            <a:off x="1600200" y="4457700"/>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 Holy Spirit: The Doctrine of the Spirit</a:t>
            </a:r>
          </a:p>
        </p:txBody>
      </p:sp>
      <p:cxnSp>
        <p:nvCxnSpPr>
          <p:cNvPr id="29" name="Connector 28"/>
          <p:cNvCxnSpPr/>
          <p:nvPr/>
        </p:nvCxnSpPr>
        <p:spPr>
          <a:xfrm>
            <a:off x="822960" y="4951476"/>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22960" y="511149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87552" y="4992624"/>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07</a:t>
            </a:r>
          </a:p>
        </p:txBody>
      </p:sp>
      <p:sp>
        <p:nvSpPr>
          <p:cNvPr id="32" name="TextBox 31"/>
          <p:cNvSpPr txBox="1"/>
          <p:nvPr/>
        </p:nvSpPr>
        <p:spPr>
          <a:xfrm>
            <a:off x="1600200" y="4992624"/>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Christology: The Person and Work of Christ</a:t>
            </a:r>
          </a:p>
        </p:txBody>
      </p:sp>
      <p:cxnSp>
        <p:nvCxnSpPr>
          <p:cNvPr id="33" name="Connector 32"/>
          <p:cNvCxnSpPr/>
          <p:nvPr/>
        </p:nvCxnSpPr>
        <p:spPr>
          <a:xfrm>
            <a:off x="822960" y="5486400"/>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22960" y="564642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87552" y="5527548"/>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08</a:t>
            </a:r>
          </a:p>
        </p:txBody>
      </p:sp>
      <p:sp>
        <p:nvSpPr>
          <p:cNvPr id="36" name="TextBox 35"/>
          <p:cNvSpPr txBox="1"/>
          <p:nvPr/>
        </p:nvSpPr>
        <p:spPr>
          <a:xfrm>
            <a:off x="1600200" y="5527548"/>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Soteriology: The Doctrine of Salvation</a:t>
            </a:r>
          </a:p>
        </p:txBody>
      </p:sp>
      <p:cxnSp>
        <p:nvCxnSpPr>
          <p:cNvPr id="37" name="Connector 36"/>
          <p:cNvCxnSpPr/>
          <p:nvPr/>
        </p:nvCxnSpPr>
        <p:spPr>
          <a:xfrm>
            <a:off x="822960" y="6021324"/>
            <a:ext cx="4632807"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22960" y="618134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87552" y="6062472"/>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09</a:t>
            </a:r>
          </a:p>
        </p:txBody>
      </p:sp>
      <p:sp>
        <p:nvSpPr>
          <p:cNvPr id="40" name="TextBox 39"/>
          <p:cNvSpPr txBox="1"/>
          <p:nvPr/>
        </p:nvSpPr>
        <p:spPr>
          <a:xfrm>
            <a:off x="1600200" y="6062472"/>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Ecclesiology: The Doctrine of the Church</a:t>
            </a:r>
          </a:p>
        </p:txBody>
      </p:sp>
      <p:sp>
        <p:nvSpPr>
          <p:cNvPr id="41" name="Rectangle 40"/>
          <p:cNvSpPr/>
          <p:nvPr/>
        </p:nvSpPr>
        <p:spPr>
          <a:xfrm>
            <a:off x="6415887" y="190195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80479" y="1783080"/>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10</a:t>
            </a:r>
          </a:p>
        </p:txBody>
      </p:sp>
      <p:sp>
        <p:nvSpPr>
          <p:cNvPr id="43" name="TextBox 42"/>
          <p:cNvSpPr txBox="1"/>
          <p:nvPr/>
        </p:nvSpPr>
        <p:spPr>
          <a:xfrm>
            <a:off x="7193127" y="1783080"/>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Eschatology: The Doctrine of Last Things</a:t>
            </a:r>
          </a:p>
        </p:txBody>
      </p:sp>
      <p:cxnSp>
        <p:nvCxnSpPr>
          <p:cNvPr id="44" name="Connector 43"/>
          <p:cNvCxnSpPr/>
          <p:nvPr/>
        </p:nvCxnSpPr>
        <p:spPr>
          <a:xfrm>
            <a:off x="6415887" y="2276856"/>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415887" y="243687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80479" y="2318004"/>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11</a:t>
            </a:r>
          </a:p>
        </p:txBody>
      </p:sp>
      <p:sp>
        <p:nvSpPr>
          <p:cNvPr id="47" name="TextBox 46"/>
          <p:cNvSpPr txBox="1"/>
          <p:nvPr/>
        </p:nvSpPr>
        <p:spPr>
          <a:xfrm>
            <a:off x="7193127" y="2318004"/>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 Christian Life and Spiritual Formation</a:t>
            </a:r>
          </a:p>
        </p:txBody>
      </p:sp>
      <p:cxnSp>
        <p:nvCxnSpPr>
          <p:cNvPr id="48" name="Connector 47"/>
          <p:cNvCxnSpPr/>
          <p:nvPr/>
        </p:nvCxnSpPr>
        <p:spPr>
          <a:xfrm>
            <a:off x="6415887" y="2811780"/>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415887" y="297180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580479" y="2852928"/>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12</a:t>
            </a:r>
          </a:p>
        </p:txBody>
      </p:sp>
      <p:sp>
        <p:nvSpPr>
          <p:cNvPr id="51" name="TextBox 50"/>
          <p:cNvSpPr txBox="1"/>
          <p:nvPr/>
        </p:nvSpPr>
        <p:spPr>
          <a:xfrm>
            <a:off x="7193127" y="2852928"/>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Christian Ethics</a:t>
            </a:r>
          </a:p>
        </p:txBody>
      </p:sp>
      <p:cxnSp>
        <p:nvCxnSpPr>
          <p:cNvPr id="52" name="Connector 51"/>
          <p:cNvCxnSpPr/>
          <p:nvPr/>
        </p:nvCxnSpPr>
        <p:spPr>
          <a:xfrm>
            <a:off x="6415887" y="3346704"/>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6415887" y="350672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580479" y="3387852"/>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13</a:t>
            </a:r>
          </a:p>
        </p:txBody>
      </p:sp>
      <p:sp>
        <p:nvSpPr>
          <p:cNvPr id="55" name="TextBox 54"/>
          <p:cNvSpPr txBox="1"/>
          <p:nvPr/>
        </p:nvSpPr>
        <p:spPr>
          <a:xfrm>
            <a:off x="7193127" y="3387852"/>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Missiology: The Mission of the Church</a:t>
            </a:r>
          </a:p>
        </p:txBody>
      </p:sp>
      <p:cxnSp>
        <p:nvCxnSpPr>
          <p:cNvPr id="56" name="Connector 55"/>
          <p:cNvCxnSpPr/>
          <p:nvPr/>
        </p:nvCxnSpPr>
        <p:spPr>
          <a:xfrm>
            <a:off x="6415887" y="3881628"/>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6415887" y="4041648"/>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580479" y="3922776"/>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14</a:t>
            </a:r>
          </a:p>
        </p:txBody>
      </p:sp>
      <p:sp>
        <p:nvSpPr>
          <p:cNvPr id="59" name="TextBox 58"/>
          <p:cNvSpPr txBox="1"/>
          <p:nvPr/>
        </p:nvSpPr>
        <p:spPr>
          <a:xfrm>
            <a:off x="7193127" y="3922776"/>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Theology and the Contemporary World</a:t>
            </a:r>
          </a:p>
        </p:txBody>
      </p:sp>
      <p:cxnSp>
        <p:nvCxnSpPr>
          <p:cNvPr id="60" name="Connector 59"/>
          <p:cNvCxnSpPr/>
          <p:nvPr/>
        </p:nvCxnSpPr>
        <p:spPr>
          <a:xfrm>
            <a:off x="6415887" y="4416552"/>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6415887" y="457657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580479" y="4457700"/>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15</a:t>
            </a:r>
          </a:p>
        </p:txBody>
      </p:sp>
      <p:sp>
        <p:nvSpPr>
          <p:cNvPr id="63" name="TextBox 62"/>
          <p:cNvSpPr txBox="1"/>
          <p:nvPr/>
        </p:nvSpPr>
        <p:spPr>
          <a:xfrm>
            <a:off x="7193127" y="4457700"/>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Church History</a:t>
            </a:r>
          </a:p>
        </p:txBody>
      </p:sp>
      <p:cxnSp>
        <p:nvCxnSpPr>
          <p:cNvPr id="64" name="Connector 63"/>
          <p:cNvCxnSpPr/>
          <p:nvPr/>
        </p:nvCxnSpPr>
        <p:spPr>
          <a:xfrm>
            <a:off x="6415887" y="4951476"/>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6415887" y="5111496"/>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580479" y="4992624"/>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16</a:t>
            </a:r>
          </a:p>
        </p:txBody>
      </p:sp>
      <p:sp>
        <p:nvSpPr>
          <p:cNvPr id="67" name="TextBox 66"/>
          <p:cNvSpPr txBox="1"/>
          <p:nvPr/>
        </p:nvSpPr>
        <p:spPr>
          <a:xfrm>
            <a:off x="7193127" y="4992624"/>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Advanced Christian Theology</a:t>
            </a:r>
          </a:p>
        </p:txBody>
      </p:sp>
      <p:cxnSp>
        <p:nvCxnSpPr>
          <p:cNvPr id="68" name="Connector 67"/>
          <p:cNvCxnSpPr/>
          <p:nvPr/>
        </p:nvCxnSpPr>
        <p:spPr>
          <a:xfrm>
            <a:off x="6415887" y="5486400"/>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6415887" y="5646420"/>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6580479" y="5527548"/>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17</a:t>
            </a:r>
          </a:p>
        </p:txBody>
      </p:sp>
      <p:sp>
        <p:nvSpPr>
          <p:cNvPr id="71" name="TextBox 70"/>
          <p:cNvSpPr txBox="1"/>
          <p:nvPr/>
        </p:nvSpPr>
        <p:spPr>
          <a:xfrm>
            <a:off x="7193127" y="5527548"/>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Apologetics and Theology in Dialogue</a:t>
            </a:r>
          </a:p>
        </p:txBody>
      </p:sp>
      <p:cxnSp>
        <p:nvCxnSpPr>
          <p:cNvPr id="72" name="Connector 71"/>
          <p:cNvCxnSpPr/>
          <p:nvPr/>
        </p:nvCxnSpPr>
        <p:spPr>
          <a:xfrm>
            <a:off x="6415887" y="6021324"/>
            <a:ext cx="4632808" cy="0"/>
          </a:xfrm>
          <a:prstGeom prst="line">
            <a:avLst/>
          </a:prstGeom>
          <a:ln w="6350">
            <a:solidFill>
              <a:srgbClr val="DAD7C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6415887" y="618134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580479" y="6062472"/>
            <a:ext cx="566928" cy="534924"/>
          </a:xfrm>
          <a:prstGeom prst="rect">
            <a:avLst/>
          </a:prstGeom>
          <a:noFill/>
        </p:spPr>
        <p:txBody>
          <a:bodyPr wrap="square" anchor="ctr" lIns="0" rIns="0" tIns="0" bIns="0">
            <a:spAutoFit/>
          </a:bodyPr>
          <a:lstStyle/>
          <a:p>
            <a:pPr algn="l">
              <a:lnSpc>
                <a:spcPct val="100000"/>
              </a:lnSpc>
              <a:spcBef>
                <a:spcPts val="0"/>
              </a:spcBef>
              <a:spcAft>
                <a:spcPts val="0"/>
              </a:spcAft>
            </a:pPr>
            <a:r>
              <a:rPr sz="1500" b="1" i="0" u="none">
                <a:solidFill>
                  <a:srgbClr val="77212E"/>
                </a:solidFill>
                <a:latin typeface="Palatino Linotype"/>
              </a:rPr>
              <a:t>18</a:t>
            </a:r>
          </a:p>
        </p:txBody>
      </p:sp>
      <p:sp>
        <p:nvSpPr>
          <p:cNvPr id="75" name="TextBox 74"/>
          <p:cNvSpPr txBox="1"/>
          <p:nvPr/>
        </p:nvSpPr>
        <p:spPr>
          <a:xfrm>
            <a:off x="7193127" y="6062472"/>
            <a:ext cx="3947007" cy="534924"/>
          </a:xfrm>
          <a:prstGeom prst="rect">
            <a:avLst/>
          </a:prstGeom>
          <a:noFill/>
        </p:spPr>
        <p:txBody>
          <a:bodyPr wrap="square" anchor="ctr" lIns="0" rIns="0" tIns="0" bIns="0">
            <a:spAutoFit/>
          </a:bodyPr>
          <a:lstStyle/>
          <a:p>
            <a:pPr algn="l">
              <a:lnSpc>
                <a:spcPct val="105000"/>
              </a:lnSpc>
              <a:spcBef>
                <a:spcPts val="0"/>
              </a:spcBef>
              <a:spcAft>
                <a:spcPts val="0"/>
              </a:spcAft>
            </a:pPr>
            <a:r>
              <a:rPr sz="1100" b="0" i="0" u="none">
                <a:solidFill>
                  <a:srgbClr val="232A38"/>
                </a:solidFill>
                <a:latin typeface="Calibri"/>
              </a:rPr>
              <a:t>Advanced Theological Research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275319" y="2309774"/>
            <a:ext cx="2834640" cy="283464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flipV="1">
            <a:off x="9692640" y="3379622"/>
            <a:ext cx="0" cy="64008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321040" y="3343046"/>
            <a:ext cx="1371600" cy="33832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9692640" y="3343046"/>
            <a:ext cx="1371600" cy="33832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4001414"/>
            <a:ext cx="1371600" cy="36576"/>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692640" y="4001414"/>
            <a:ext cx="1371600" cy="36576"/>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368137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064240" y="368137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522208" y="3377062"/>
            <a:ext cx="1005840" cy="274137"/>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522208" y="3439424"/>
            <a:ext cx="1005840" cy="156454"/>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522208" y="3501786"/>
            <a:ext cx="1005840" cy="3877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646919" y="296814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01</a:t>
            </a:r>
          </a:p>
        </p:txBody>
      </p:sp>
      <p:sp>
        <p:nvSpPr>
          <p:cNvPr id="18" name="TextBox 17"/>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01</a:t>
            </a:r>
          </a:p>
        </p:txBody>
      </p:sp>
      <p:sp>
        <p:nvSpPr>
          <p:cNvPr id="19" name="TextBox 18"/>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FOUNDATIONS OF CHRISTIAN THEOLOGY</a:t>
            </a:r>
          </a:p>
        </p:txBody>
      </p:sp>
      <p:cxnSp>
        <p:nvCxnSpPr>
          <p:cNvPr id="20" name="Connector 19"/>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meaning, nature, sources, method and purpose of Christian theological reflection.</a:t>
            </a:r>
          </a:p>
        </p:txBody>
      </p:sp>
      <p:sp>
        <p:nvSpPr>
          <p:cNvPr id="22" name="Rectangle 21"/>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01955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21615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01</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FOUNDATIONS OF CHRISTIAN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Foundations of Christian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asks the threshold question that the whole programme rests upon: what is theology, and how is it properly done? It examines the word, its biblical and classical roots, the sources from which theology draws, and the method by which faith is rationally expounded.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study of theology begins with the conviction that God has spoken. From the early Church's 'sacred science' through the medieval university to the modern faculty of divinity, Christian theology has been understood as faith seeking understanding — reason in the service of revelation, not its rival.</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Every later doctrine stands or falls on the answers given here. The sources of theology, its method, its language and its relationship to philosophy and science determine how Scripture, doctrine and life are related throughout the course.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define Christian theology precisely, locate its authoritative sources, and adopt the disciplined method that the remaining modules will employ.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Definition and Meaning of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term 'theology' (theologia) is a Hellenistic coinage, used of the pagan gods by Homer, Plato and Plutarch. In the Christian sense it denotes the science of God as he has revealed himself in Scripture. Theologians have defined it variously as 'faith seeking understanding' (Anselm), the science of the triune God (Barth), and the rational exposition of Christian belief. The discipline is thus at once a science — ordered, systematic and critical — and a confession, because its subject is a living God who addresses his people.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Theologia: from theos (God) and logos (word, reason, discourse)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Theology as science and as confession of the living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Fides quaerens intellectum — Anselm's guiding principle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between natural and revealed theology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19:1</a:t>
            </a:r>
          </a:p>
          <a:p>
            <a:pPr algn="l">
              <a:lnSpc>
                <a:spcPct val="108000"/>
              </a:lnSpc>
              <a:spcBef>
                <a:spcPts val="0"/>
              </a:spcBef>
              <a:spcAft>
                <a:spcPts val="250"/>
              </a:spcAft>
            </a:pPr>
            <a:r>
              <a:rPr sz="1000" b="0" i="1" u="none">
                <a:solidFill>
                  <a:srgbClr val="232A38"/>
                </a:solidFill>
                <a:latin typeface="Calibri"/>
              </a:rPr>
              <a:t>Romans 1:19-20</a:t>
            </a:r>
          </a:p>
          <a:p>
            <a:pPr algn="l">
              <a:lnSpc>
                <a:spcPct val="108000"/>
              </a:lnSpc>
              <a:spcBef>
                <a:spcPts val="0"/>
              </a:spcBef>
              <a:spcAft>
                <a:spcPts val="250"/>
              </a:spcAft>
            </a:pPr>
            <a:r>
              <a:rPr sz="1000" b="0" i="1" u="none">
                <a:solidFill>
                  <a:srgbClr val="232A38"/>
                </a:solidFill>
                <a:latin typeface="Calibri"/>
              </a:rPr>
              <a:t>2 Timothy 2:15</a:t>
            </a:r>
          </a:p>
          <a:p>
            <a:pPr algn="l">
              <a:lnSpc>
                <a:spcPct val="108000"/>
              </a:lnSpc>
              <a:spcBef>
                <a:spcPts val="0"/>
              </a:spcBef>
              <a:spcAft>
                <a:spcPts val="250"/>
              </a:spcAft>
            </a:pPr>
            <a:r>
              <a:rPr sz="1000" b="0" i="1" u="none">
                <a:solidFill>
                  <a:srgbClr val="232A38"/>
                </a:solidFill>
                <a:latin typeface="Calibri"/>
              </a:rPr>
              <a:t>1 Corinthians 2:10</a:t>
            </a:r>
          </a:p>
          <a:p>
            <a:pPr algn="l">
              <a:lnSpc>
                <a:spcPct val="110000"/>
              </a:lnSpc>
              <a:spcBef>
                <a:spcPts val="400"/>
              </a:spcBef>
              <a:spcAft>
                <a:spcPts val="0"/>
              </a:spcAft>
            </a:pPr>
            <a:r>
              <a:rPr sz="950" b="0" i="0" u="none">
                <a:solidFill>
                  <a:srgbClr val="4C566B"/>
                </a:solidFill>
                <a:latin typeface="Calibri"/>
              </a:rPr>
              <a:t>The word enters Christian use via the Greek Fathers; Origen's De Principiis (c. 215) is often cited as the earliest systematic work.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theology is the disciplined, rational study of God as he has revealed himself — reason in the service of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Sources of Christian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Historic Christian theology rests on sources that different traditions order differently. Scripture is affirmed by the whole Church as the inspired, authoritative norm (norma normans). The creeds and confessions stand as secondary rules of faith, summarising the Church's confession across the centuries. The living tradition of the Church's doctrine, worship and life, and the Spirit-witnessed experience of believers, complete the field. Roman Catholic, Orthodox, Reformed and Evangelical traditions weigh these sources differently, and an honest method makes the ordering explicit.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Scripture as the supreme, self-authenticating norm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Creeds and confessions as secondary rules of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Tradition as the transmission of the faith (traditio)</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experience of believers, illumined by the Spirit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2 Peter 1:20-21</a:t>
            </a:r>
          </a:p>
          <a:p>
            <a:pPr algn="l">
              <a:lnSpc>
                <a:spcPct val="108000"/>
              </a:lnSpc>
              <a:spcBef>
                <a:spcPts val="0"/>
              </a:spcBef>
              <a:spcAft>
                <a:spcPts val="250"/>
              </a:spcAft>
            </a:pPr>
            <a:r>
              <a:rPr sz="1000" b="0" i="1" u="none">
                <a:solidFill>
                  <a:srgbClr val="232A38"/>
                </a:solidFill>
                <a:latin typeface="Calibri"/>
              </a:rPr>
              <a:t>1 Corinthians 11:2</a:t>
            </a:r>
          </a:p>
          <a:p>
            <a:pPr algn="l">
              <a:lnSpc>
                <a:spcPct val="108000"/>
              </a:lnSpc>
              <a:spcBef>
                <a:spcPts val="0"/>
              </a:spcBef>
              <a:spcAft>
                <a:spcPts val="250"/>
              </a:spcAft>
            </a:pPr>
            <a:r>
              <a:rPr sz="1000" b="0" i="1" u="none">
                <a:solidFill>
                  <a:srgbClr val="232A38"/>
                </a:solidFill>
                <a:latin typeface="Calibri"/>
              </a:rPr>
              <a:t>2 John 9</a:t>
            </a:r>
          </a:p>
          <a:p>
            <a:pPr algn="l">
              <a:lnSpc>
                <a:spcPct val="110000"/>
              </a:lnSpc>
              <a:spcBef>
                <a:spcPts val="400"/>
              </a:spcBef>
              <a:spcAft>
                <a:spcPts val="0"/>
              </a:spcAft>
            </a:pPr>
            <a:r>
              <a:rPr sz="950" b="0" i="0" u="none">
                <a:solidFill>
                  <a:srgbClr val="4C566B"/>
                </a:solidFill>
                <a:latin typeface="Calibri"/>
              </a:rPr>
              <a:t>Westminster's 1646 confession makes Scripture the 'supreme judge'; the East stresses conciliar definition within the Church's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must state its sources and their order; the traditions differ in weighting, not in inventing new authorities.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Method of Theological Reflection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classical method of theology proceeds from the biblical texts through careful exegesis, gathering the scattered testimony of Scripture on each theme, and articulating it in doctrinal language. The movement is descriptive (what the texts say), dialectical (how tensions are weighed) and constructive (the systematic statement), the whole being checked against the rule of faith and the confessions. Modern method additionally engages historical criticism, philosophy of religion and the social sciences as tools that serve — but do not govern — the theological task.</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Exegesis precedes dogmatics: the texts before the system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regula fidei as the test of interpretation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Analogia fidei — the whole of Scripture governs its parts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interplay of text, tradition and situation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8:20</a:t>
            </a:r>
          </a:p>
          <a:p>
            <a:pPr algn="l">
              <a:lnSpc>
                <a:spcPct val="108000"/>
              </a:lnSpc>
              <a:spcBef>
                <a:spcPts val="0"/>
              </a:spcBef>
              <a:spcAft>
                <a:spcPts val="250"/>
              </a:spcAft>
            </a:pPr>
            <a:r>
              <a:rPr sz="1000" b="0" i="1" u="none">
                <a:solidFill>
                  <a:srgbClr val="232A38"/>
                </a:solidFill>
                <a:latin typeface="Calibri"/>
              </a:rPr>
              <a:t>Acts 17:11</a:t>
            </a:r>
          </a:p>
          <a:p>
            <a:pPr algn="l">
              <a:lnSpc>
                <a:spcPct val="108000"/>
              </a:lnSpc>
              <a:spcBef>
                <a:spcPts val="0"/>
              </a:spcBef>
              <a:spcAft>
                <a:spcPts val="250"/>
              </a:spcAft>
            </a:pPr>
            <a:r>
              <a:rPr sz="1000" b="0" i="1" u="none">
                <a:solidFill>
                  <a:srgbClr val="232A38"/>
                </a:solidFill>
                <a:latin typeface="Calibri"/>
              </a:rPr>
              <a:t>1 Timothy 3:15</a:t>
            </a:r>
          </a:p>
          <a:p>
            <a:pPr algn="l">
              <a:lnSpc>
                <a:spcPct val="108000"/>
              </a:lnSpc>
              <a:spcBef>
                <a:spcPts val="0"/>
              </a:spcBef>
              <a:spcAft>
                <a:spcPts val="250"/>
              </a:spcAft>
            </a:pPr>
            <a:r>
              <a:rPr sz="1000" b="0" i="1" u="none">
                <a:solidFill>
                  <a:srgbClr val="232A38"/>
                </a:solidFill>
                <a:latin typeface="Calibri"/>
              </a:rPr>
              <a:t>2 John 9</a:t>
            </a:r>
          </a:p>
          <a:p>
            <a:pPr algn="l">
              <a:lnSpc>
                <a:spcPct val="110000"/>
              </a:lnSpc>
              <a:spcBef>
                <a:spcPts val="400"/>
              </a:spcBef>
              <a:spcAft>
                <a:spcPts val="0"/>
              </a:spcAft>
            </a:pPr>
            <a:r>
              <a:rPr sz="950" b="0" i="0" u="none">
                <a:solidFill>
                  <a:srgbClr val="4C566B"/>
                </a:solidFill>
                <a:latin typeface="Calibri"/>
              </a:rPr>
              <a:t>Irenaeus developed the rule of faith against Gnosticism; the Reformers recovered 'Scripture interpreting Scripture'.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Sound method is circular in the best sense: text, tradition and situation check one another until confession coheres with revelation.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Relationship of Theology and Philosophy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relationship of theology to philosophy has long been a live question. The medieval maxim 'philosophy is the handmaid of theology' (ancilla theologiae) captured the classical view: philosophy supplies logic, categories and critique, while theology determines the content of belief. The tension surfaced in the thirteenth-century quarrel over the limits of reason and returned in modern debates about natural theology. A mature position affirms that reason is a gift of the Creator, indispensable to theology, yet subordinate to the reality of revelation.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Philosophy as ancilla theologiae — servant, not master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use and abuse of reason in the study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Natural theology and its limits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independence and the dependence of the two disciplines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1:20-21</a:t>
            </a:r>
          </a:p>
          <a:p>
            <a:pPr algn="l">
              <a:lnSpc>
                <a:spcPct val="108000"/>
              </a:lnSpc>
              <a:spcBef>
                <a:spcPts val="0"/>
              </a:spcBef>
              <a:spcAft>
                <a:spcPts val="250"/>
              </a:spcAft>
            </a:pPr>
            <a:r>
              <a:rPr sz="1000" b="0" i="1" u="none">
                <a:solidFill>
                  <a:srgbClr val="232A38"/>
                </a:solidFill>
                <a:latin typeface="Calibri"/>
              </a:rPr>
              <a:t>1 Corinthians 1:20-25</a:t>
            </a:r>
          </a:p>
          <a:p>
            <a:pPr algn="l">
              <a:lnSpc>
                <a:spcPct val="108000"/>
              </a:lnSpc>
              <a:spcBef>
                <a:spcPts val="0"/>
              </a:spcBef>
              <a:spcAft>
                <a:spcPts val="250"/>
              </a:spcAft>
            </a:pPr>
            <a:r>
              <a:rPr sz="1000" b="0" i="1" u="none">
                <a:solidFill>
                  <a:srgbClr val="232A38"/>
                </a:solidFill>
                <a:latin typeface="Calibri"/>
              </a:rPr>
              <a:t>James 3:15-17</a:t>
            </a:r>
          </a:p>
          <a:p>
            <a:pPr algn="l">
              <a:lnSpc>
                <a:spcPct val="108000"/>
              </a:lnSpc>
              <a:spcBef>
                <a:spcPts val="0"/>
              </a:spcBef>
              <a:spcAft>
                <a:spcPts val="250"/>
              </a:spcAft>
            </a:pPr>
            <a:r>
              <a:rPr sz="1000" b="0" i="1" u="none">
                <a:solidFill>
                  <a:srgbClr val="232A38"/>
                </a:solidFill>
                <a:latin typeface="Calibri"/>
              </a:rPr>
              <a:t>Colossians 2:8</a:t>
            </a:r>
          </a:p>
          <a:p>
            <a:pPr algn="l">
              <a:lnSpc>
                <a:spcPct val="110000"/>
              </a:lnSpc>
              <a:spcBef>
                <a:spcPts val="400"/>
              </a:spcBef>
              <a:spcAft>
                <a:spcPts val="0"/>
              </a:spcAft>
            </a:pPr>
            <a:r>
              <a:rPr sz="950" b="0" i="0" u="none">
                <a:solidFill>
                  <a:srgbClr val="4C566B"/>
                </a:solidFill>
                <a:latin typeface="Calibri"/>
              </a:rPr>
              <a:t>Aquinas synthesised Aristotle and faith; the Protestant Scholastics and later thinkers refined the boundaries of each.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Reason is a divinely given instrument of theology — valuable, universal, and rightly ordered beneath the authority of revelation.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Relationship of Theology and Science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science address different questions from different vantage points: science describes the lawful, measurable order of nature, while theology interprets reality in the light of divine purpose and revelation. The two are not rivals so long as each respects the other's province. The great Christian scientists — Newton, Paley's predecessors, and the founders of modern research — saw their work as the study of God's book of nature. Conflicts, where they have arisen, have usually turned on over-reaching claims on either side, not on the methods themselves.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two books of God: Scripture and nature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Complementarity: different questions, different methods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dangers of scientism and of creationism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scientist as a model of integration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19:1-4</a:t>
            </a:r>
          </a:p>
          <a:p>
            <a:pPr algn="l">
              <a:lnSpc>
                <a:spcPct val="108000"/>
              </a:lnSpc>
              <a:spcBef>
                <a:spcPts val="0"/>
              </a:spcBef>
              <a:spcAft>
                <a:spcPts val="250"/>
              </a:spcAft>
            </a:pPr>
            <a:r>
              <a:rPr sz="1000" b="0" i="1" u="none">
                <a:solidFill>
                  <a:srgbClr val="232A38"/>
                </a:solidFill>
                <a:latin typeface="Calibri"/>
              </a:rPr>
              <a:t>Romans 1:20</a:t>
            </a:r>
          </a:p>
          <a:p>
            <a:pPr algn="l">
              <a:lnSpc>
                <a:spcPct val="108000"/>
              </a:lnSpc>
              <a:spcBef>
                <a:spcPts val="0"/>
              </a:spcBef>
              <a:spcAft>
                <a:spcPts val="250"/>
              </a:spcAft>
            </a:pPr>
            <a:r>
              <a:rPr sz="1000" b="0" i="1" u="none">
                <a:solidFill>
                  <a:srgbClr val="232A38"/>
                </a:solidFill>
                <a:latin typeface="Calibri"/>
              </a:rPr>
              <a:t>Job 38-41</a:t>
            </a:r>
          </a:p>
          <a:p>
            <a:pPr algn="l">
              <a:lnSpc>
                <a:spcPct val="108000"/>
              </a:lnSpc>
              <a:spcBef>
                <a:spcPts val="0"/>
              </a:spcBef>
              <a:spcAft>
                <a:spcPts val="250"/>
              </a:spcAft>
            </a:pPr>
            <a:r>
              <a:rPr sz="1000" b="0" i="1" u="none">
                <a:solidFill>
                  <a:srgbClr val="232A38"/>
                </a:solidFill>
                <a:latin typeface="Calibri"/>
              </a:rPr>
              <a:t>Proverbs 8:22-31</a:t>
            </a:r>
          </a:p>
          <a:p>
            <a:pPr algn="l">
              <a:lnSpc>
                <a:spcPct val="110000"/>
              </a:lnSpc>
              <a:spcBef>
                <a:spcPts val="400"/>
              </a:spcBef>
              <a:spcAft>
                <a:spcPts val="0"/>
              </a:spcAft>
            </a:pPr>
            <a:r>
              <a:rPr sz="950" b="0" i="0" u="none">
                <a:solidFill>
                  <a:srgbClr val="4C566B"/>
                </a:solidFill>
                <a:latin typeface="Calibri"/>
              </a:rPr>
              <a:t>The Galileo affair and the 'conflict thesis' are now historically nuanced; most scholars see a complex, mixed relationship.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science are complementary disciplines; each is at its best when it does not overstep its proper method.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Role of Faith and Reason in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Faith and reason are both human faculties, both created and both directed to truth, yet they differ in object and in mode. Reason discerns by evidence and logic; faith apprehends the person and the saving work of God by the Spirit's work on the heart. The Reformation slogan fides et ratio, and the older fides quaerens intellectum, both insist that the two are partners. Faith does not abandon reason; rather, faith supplies the content — revelation — that reason then expounds, defends and applies.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Faith and reason as distinct but cooperating faculties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Fides et ratio — the partnership of belief and thought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noetic work of the Spirit in understanding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danger of rationalism and of anti-intellectualism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10:14-17</a:t>
            </a:r>
          </a:p>
          <a:p>
            <a:pPr algn="l">
              <a:lnSpc>
                <a:spcPct val="108000"/>
              </a:lnSpc>
              <a:spcBef>
                <a:spcPts val="0"/>
              </a:spcBef>
              <a:spcAft>
                <a:spcPts val="250"/>
              </a:spcAft>
            </a:pPr>
            <a:r>
              <a:rPr sz="1000" b="0" i="1" u="none">
                <a:solidFill>
                  <a:srgbClr val="232A38"/>
                </a:solidFill>
                <a:latin typeface="Calibri"/>
              </a:rPr>
              <a:t>1 Corinthians 1:21</a:t>
            </a:r>
          </a:p>
          <a:p>
            <a:pPr algn="l">
              <a:lnSpc>
                <a:spcPct val="108000"/>
              </a:lnSpc>
              <a:spcBef>
                <a:spcPts val="0"/>
              </a:spcBef>
              <a:spcAft>
                <a:spcPts val="250"/>
              </a:spcAft>
            </a:pPr>
            <a:r>
              <a:rPr sz="1000" b="0" i="1" u="none">
                <a:solidFill>
                  <a:srgbClr val="232A38"/>
                </a:solidFill>
                <a:latin typeface="Calibri"/>
              </a:rPr>
              <a:t>Hebrews 11:3</a:t>
            </a:r>
          </a:p>
          <a:p>
            <a:pPr algn="l">
              <a:lnSpc>
                <a:spcPct val="108000"/>
              </a:lnSpc>
              <a:spcBef>
                <a:spcPts val="0"/>
              </a:spcBef>
              <a:spcAft>
                <a:spcPts val="250"/>
              </a:spcAft>
            </a:pPr>
            <a:r>
              <a:rPr sz="1000" b="0" i="1" u="none">
                <a:solidFill>
                  <a:srgbClr val="232A38"/>
                </a:solidFill>
                <a:latin typeface="Calibri"/>
              </a:rPr>
              <a:t>Proverbs 23:7</a:t>
            </a:r>
          </a:p>
          <a:p>
            <a:pPr algn="l">
              <a:lnSpc>
                <a:spcPct val="110000"/>
              </a:lnSpc>
              <a:spcBef>
                <a:spcPts val="400"/>
              </a:spcBef>
              <a:spcAft>
                <a:spcPts val="0"/>
              </a:spcAft>
            </a:pPr>
            <a:r>
              <a:rPr sz="950" b="0" i="0" u="none">
                <a:solidFill>
                  <a:srgbClr val="4C566B"/>
                </a:solidFill>
                <a:latin typeface="Calibri"/>
              </a:rPr>
              <a:t>Aquinas balanced the two in the Summa; the Council of Faith and Reason (Fides et Ratio) reaffirmed the partnership in 1998.</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is neither blind faith nor cold reason, but reason rightly engaged with the truth that faith has received.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Language of Theology and Divine Predication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How can finite language speak of an infinite God? Theology inherits a rich but difficult vocabulary. Predicates of God are understood affirmatively (we say what is of God), negatively (we say what God is not — the apophatic way), and analogically (we say what is of God by reference to creatures, while preserving the infinite difference). The doctrine of analogy (analogia entis) holds that our words are true of God not univocally (as of a creature) nor purely negatively, but by an analogy grounded in God's own self-communication.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via affirmativa, negativa and eminente (supereminently)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Univocal, equivocal and analogical predication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analogia entis and its critics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Mystery: the limits and the necessity of theological language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Exodus 3:14</a:t>
            </a:r>
          </a:p>
          <a:p>
            <a:pPr algn="l">
              <a:lnSpc>
                <a:spcPct val="108000"/>
              </a:lnSpc>
              <a:spcBef>
                <a:spcPts val="0"/>
              </a:spcBef>
              <a:spcAft>
                <a:spcPts val="250"/>
              </a:spcAft>
            </a:pPr>
            <a:r>
              <a:rPr sz="1000" b="0" i="1" u="none">
                <a:solidFill>
                  <a:srgbClr val="232A38"/>
                </a:solidFill>
                <a:latin typeface="Calibri"/>
              </a:rPr>
              <a:t>Isaiah 6:3</a:t>
            </a:r>
          </a:p>
          <a:p>
            <a:pPr algn="l">
              <a:lnSpc>
                <a:spcPct val="108000"/>
              </a:lnSpc>
              <a:spcBef>
                <a:spcPts val="0"/>
              </a:spcBef>
              <a:spcAft>
                <a:spcPts val="250"/>
              </a:spcAft>
            </a:pPr>
            <a:r>
              <a:rPr sz="1000" b="0" i="1" u="none">
                <a:solidFill>
                  <a:srgbClr val="232A38"/>
                </a:solidFill>
                <a:latin typeface="Calibri"/>
              </a:rPr>
              <a:t>Isaiah 55:8-9</a:t>
            </a:r>
          </a:p>
          <a:p>
            <a:pPr algn="l">
              <a:lnSpc>
                <a:spcPct val="108000"/>
              </a:lnSpc>
              <a:spcBef>
                <a:spcPts val="0"/>
              </a:spcBef>
              <a:spcAft>
                <a:spcPts val="250"/>
              </a:spcAft>
            </a:pPr>
            <a:r>
              <a:rPr sz="1000" b="0" i="1" u="none">
                <a:solidFill>
                  <a:srgbClr val="232A38"/>
                </a:solidFill>
                <a:latin typeface="Calibri"/>
              </a:rPr>
              <a:t>1 John 4:12</a:t>
            </a:r>
          </a:p>
          <a:p>
            <a:pPr algn="l">
              <a:lnSpc>
                <a:spcPct val="110000"/>
              </a:lnSpc>
              <a:spcBef>
                <a:spcPts val="400"/>
              </a:spcBef>
              <a:spcAft>
                <a:spcPts val="0"/>
              </a:spcAft>
            </a:pPr>
            <a:r>
              <a:rPr sz="950" b="0" i="0" u="none">
                <a:solidFill>
                  <a:srgbClr val="4C566B"/>
                </a:solidFill>
                <a:latin typeface="Calibri"/>
              </a:rPr>
              <a:t>Pseudo-Dionysius shaped the negative way; Aquinas systematised analogy; Barth challenged the analogia entis.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Theological language is genuinely true of God, but always by analogy — pointing to a reality that far exceeds every word.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Place of the Holy Spirit in Theological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theology is not merely an academic exercise; it is undertaken in the power and under the guidance of the Holy Spirit, who is the teacher of the Church. The Spirit who inspired the Scriptures illumines the mind of the student, guards against error, and applies the truth to the life of the believer and the Church. To study theology apart from the Spirit is to study the words of God without their author and their life-giving power. The discipline is therefore both an intellectual and a spiritual exercise, dependent on prayer, the Word, and the fellowship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the teacher and illuminator of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Inspiration and illumination: the Spirit's two works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noetic effect of the fall on the study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Theology as a spiritual as well as an intellectual discipline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14:26</a:t>
            </a:r>
          </a:p>
          <a:p>
            <a:pPr algn="l">
              <a:lnSpc>
                <a:spcPct val="108000"/>
              </a:lnSpc>
              <a:spcBef>
                <a:spcPts val="0"/>
              </a:spcBef>
              <a:spcAft>
                <a:spcPts val="250"/>
              </a:spcAft>
            </a:pPr>
            <a:r>
              <a:rPr sz="1000" b="0" i="1" u="none">
                <a:solidFill>
                  <a:srgbClr val="232A38"/>
                </a:solidFill>
                <a:latin typeface="Calibri"/>
              </a:rPr>
              <a:t>John 16:13</a:t>
            </a:r>
          </a:p>
          <a:p>
            <a:pPr algn="l">
              <a:lnSpc>
                <a:spcPct val="108000"/>
              </a:lnSpc>
              <a:spcBef>
                <a:spcPts val="0"/>
              </a:spcBef>
              <a:spcAft>
                <a:spcPts val="250"/>
              </a:spcAft>
            </a:pPr>
            <a:r>
              <a:rPr sz="1000" b="0" i="1" u="none">
                <a:solidFill>
                  <a:srgbClr val="232A38"/>
                </a:solidFill>
                <a:latin typeface="Calibri"/>
              </a:rPr>
              <a:t>1 Corinthians 2:10-14</a:t>
            </a:r>
          </a:p>
          <a:p>
            <a:pPr algn="l">
              <a:lnSpc>
                <a:spcPct val="108000"/>
              </a:lnSpc>
              <a:spcBef>
                <a:spcPts val="0"/>
              </a:spcBef>
              <a:spcAft>
                <a:spcPts val="250"/>
              </a:spcAft>
            </a:pPr>
            <a:r>
              <a:rPr sz="1000" b="0" i="1" u="none">
                <a:solidFill>
                  <a:srgbClr val="232A38"/>
                </a:solidFill>
                <a:latin typeface="Calibri"/>
              </a:rPr>
              <a:t>2 Peter 1:20-21</a:t>
            </a:r>
          </a:p>
          <a:p>
            <a:pPr algn="l">
              <a:lnSpc>
                <a:spcPct val="110000"/>
              </a:lnSpc>
              <a:spcBef>
                <a:spcPts val="400"/>
              </a:spcBef>
              <a:spcAft>
                <a:spcPts val="0"/>
              </a:spcAft>
            </a:pPr>
            <a:r>
              <a:rPr sz="950" b="0" i="0" u="none">
                <a:solidFill>
                  <a:srgbClr val="4C566B"/>
                </a:solidFill>
                <a:latin typeface="Calibri"/>
              </a:rPr>
              <a:t>The Reformers spoke of the 'inner witness' of the Spirit (testimonium Spiritus Sancti internum) as the ground of Scripture's authority.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Holy Spirit is both the source and the guide of theology; to study apart from him is to approach God's Word without its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History of Theology as an Academic Discipline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009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developed as a distinct academic discipline gradually. In the early Church it was the 'first philosophy' of the bishop and the catechetical school; by the sixth century the great cathedral and monastic schools were training clergy. The rise of the universities in the twelfth and thirteenth centuries made theologia the queen of the sciences, crowned by the Summae of Aquinas and the great lectio systems. The Reformation re-founded the discipline on the principle of sola Scriptura, and the modern university inherited a rich, if sometimes contested, tradition.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Theology in the catechetical and monastic schools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medieval university and theologia as queen of the sciences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Reformation re-foundation on sola Scriptura</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modern university and the academic status of theology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2:2</a:t>
            </a:r>
          </a:p>
          <a:p>
            <a:pPr algn="l">
              <a:lnSpc>
                <a:spcPct val="108000"/>
              </a:lnSpc>
              <a:spcBef>
                <a:spcPts val="0"/>
              </a:spcBef>
              <a:spcAft>
                <a:spcPts val="250"/>
              </a:spcAft>
            </a:pPr>
            <a:r>
              <a:rPr sz="1000" b="0" i="1" u="none">
                <a:solidFill>
                  <a:srgbClr val="232A38"/>
                </a:solidFill>
                <a:latin typeface="Calibri"/>
              </a:rPr>
              <a:t>Titus 1:9</a:t>
            </a:r>
          </a:p>
          <a:p>
            <a:pPr algn="l">
              <a:lnSpc>
                <a:spcPct val="108000"/>
              </a:lnSpc>
              <a:spcBef>
                <a:spcPts val="0"/>
              </a:spcBef>
              <a:spcAft>
                <a:spcPts val="250"/>
              </a:spcAft>
            </a:pPr>
            <a:r>
              <a:rPr sz="1000" b="0" i="1" u="none">
                <a:solidFill>
                  <a:srgbClr val="232A38"/>
                </a:solidFill>
                <a:latin typeface="Calibri"/>
              </a:rPr>
              <a:t>1 Timothy 3:2</a:t>
            </a:r>
          </a:p>
          <a:p>
            <a:pPr algn="l">
              <a:lnSpc>
                <a:spcPct val="108000"/>
              </a:lnSpc>
              <a:spcBef>
                <a:spcPts val="0"/>
              </a:spcBef>
              <a:spcAft>
                <a:spcPts val="250"/>
              </a:spcAft>
            </a:pPr>
            <a:r>
              <a:rPr sz="1000" b="0" i="1" u="none">
                <a:solidFill>
                  <a:srgbClr val="232A38"/>
                </a:solidFill>
                <a:latin typeface="Calibri"/>
              </a:rPr>
              <a:t>Acts 17:28</a:t>
            </a:r>
          </a:p>
          <a:p>
            <a:pPr algn="l">
              <a:lnSpc>
                <a:spcPct val="110000"/>
              </a:lnSpc>
              <a:spcBef>
                <a:spcPts val="400"/>
              </a:spcBef>
              <a:spcAft>
                <a:spcPts val="0"/>
              </a:spcAft>
            </a:pPr>
            <a:r>
              <a:rPr sz="950" b="0" i="0" u="none">
                <a:solidFill>
                  <a:srgbClr val="4C566B"/>
                </a:solidFill>
                <a:latin typeface="Calibri"/>
              </a:rPr>
              <a:t>The Studium of Paris and the faculty of arts-to-theology structure shaped Western theological education for centuries.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Theology's academic status rests on a long history of formation, from the catechetical school to the modern university faculty.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Theological Education and the Formation of Ministers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purpose of theological education is not merely the transmission of information but the formation of ministers who can think theologically, preach the Word, shepherd the flock, and defend the faith. The classical curriculum — the arts (philosophy, languages, history) followed by theology — trained the mind before it handled the mysteries. Formation is holistic, embracing intellect, character and piety, so that the minister is not a mere technician of doctrine but a mature servant of Christ, able to apply sound doctrine to the concrete situations of ministry.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Formation of mind, character and piety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classical arts-then-theology curriculum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Competence in exegesis, homiletics and pastoral care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minister as theologian, preacher and shepherd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Timothy 3:1-7</a:t>
            </a:r>
          </a:p>
          <a:p>
            <a:pPr algn="l">
              <a:lnSpc>
                <a:spcPct val="108000"/>
              </a:lnSpc>
              <a:spcBef>
                <a:spcPts val="0"/>
              </a:spcBef>
              <a:spcAft>
                <a:spcPts val="250"/>
              </a:spcAft>
            </a:pPr>
            <a:r>
              <a:rPr sz="1000" b="0" i="1" u="none">
                <a:solidFill>
                  <a:srgbClr val="232A38"/>
                </a:solidFill>
                <a:latin typeface="Calibri"/>
              </a:rPr>
              <a:t>Titus 1:5-9</a:t>
            </a:r>
          </a:p>
          <a:p>
            <a:pPr algn="l">
              <a:lnSpc>
                <a:spcPct val="108000"/>
              </a:lnSpc>
              <a:spcBef>
                <a:spcPts val="0"/>
              </a:spcBef>
              <a:spcAft>
                <a:spcPts val="250"/>
              </a:spcAft>
            </a:pPr>
            <a:r>
              <a:rPr sz="1000" b="0" i="1" u="none">
                <a:solidFill>
                  <a:srgbClr val="232A38"/>
                </a:solidFill>
                <a:latin typeface="Calibri"/>
              </a:rPr>
              <a:t>2 Timothy 2:2, 15</a:t>
            </a:r>
          </a:p>
          <a:p>
            <a:pPr algn="l">
              <a:lnSpc>
                <a:spcPct val="108000"/>
              </a:lnSpc>
              <a:spcBef>
                <a:spcPts val="0"/>
              </a:spcBef>
              <a:spcAft>
                <a:spcPts val="250"/>
              </a:spcAft>
            </a:pPr>
            <a:r>
              <a:rPr sz="1000" b="0" i="1" u="none">
                <a:solidFill>
                  <a:srgbClr val="232A38"/>
                </a:solidFill>
                <a:latin typeface="Calibri"/>
              </a:rPr>
              <a:t>Matthew 28:19-20</a:t>
            </a:r>
          </a:p>
          <a:p>
            <a:pPr algn="l">
              <a:lnSpc>
                <a:spcPct val="110000"/>
              </a:lnSpc>
              <a:spcBef>
                <a:spcPts val="400"/>
              </a:spcBef>
              <a:spcAft>
                <a:spcPts val="0"/>
              </a:spcAft>
            </a:pPr>
            <a:r>
              <a:rPr sz="950" b="0" i="0" u="none">
                <a:solidFill>
                  <a:srgbClr val="4C566B"/>
                </a:solidFill>
                <a:latin typeface="Calibri"/>
              </a:rPr>
              <a:t>The seminary system matured after the Reformation; modern curricula balance academic rigour with practical ministry training.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Theological education forms whole ministers — competent in thought, mature in character, and devoted in piety to the work of the gospel.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Relationship of Theology to the Church and to Life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is not a free-floating speculation; it is the Church's own self-understanding and is accountable to the Church's confession and to the tasks of the Christian life. Doctrine is given not to be stored but to be lived. The Reformation insight that 'there is no Christian life without Christian doctrine, nor Christian doctrine without Christian life' captures the mutual implication. Theology therefore issues in worship, ethics, ministry and evangelism, and it is tested and shaped by the experience of the believing community.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Theology as the Church's self-understanding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Doctrine in the service of worship and ethics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mutual implication of doctrine and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accountability of theology to the confessing community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James 1:22-25</a:t>
            </a:r>
          </a:p>
          <a:p>
            <a:pPr algn="l">
              <a:lnSpc>
                <a:spcPct val="108000"/>
              </a:lnSpc>
              <a:spcBef>
                <a:spcPts val="0"/>
              </a:spcBef>
              <a:spcAft>
                <a:spcPts val="250"/>
              </a:spcAft>
            </a:pPr>
            <a:r>
              <a:rPr sz="1000" b="0" i="1" u="none">
                <a:solidFill>
                  <a:srgbClr val="232A38"/>
                </a:solidFill>
                <a:latin typeface="Calibri"/>
              </a:rPr>
              <a:t>2 Peter 3:18</a:t>
            </a:r>
          </a:p>
          <a:p>
            <a:pPr algn="l">
              <a:lnSpc>
                <a:spcPct val="108000"/>
              </a:lnSpc>
              <a:spcBef>
                <a:spcPts val="0"/>
              </a:spcBef>
              <a:spcAft>
                <a:spcPts val="250"/>
              </a:spcAft>
            </a:pPr>
            <a:r>
              <a:rPr sz="1000" b="0" i="1" u="none">
                <a:solidFill>
                  <a:srgbClr val="232A38"/>
                </a:solidFill>
                <a:latin typeface="Calibri"/>
              </a:rPr>
              <a:t>Hebrews 4:12</a:t>
            </a:r>
          </a:p>
          <a:p>
            <a:pPr algn="l">
              <a:lnSpc>
                <a:spcPct val="108000"/>
              </a:lnSpc>
              <a:spcBef>
                <a:spcPts val="0"/>
              </a:spcBef>
              <a:spcAft>
                <a:spcPts val="250"/>
              </a:spcAft>
            </a:pPr>
            <a:r>
              <a:rPr sz="1000" b="0" i="1" u="none">
                <a:solidFill>
                  <a:srgbClr val="232A38"/>
                </a:solidFill>
                <a:latin typeface="Calibri"/>
              </a:rPr>
              <a:t>Colossians 1:10</a:t>
            </a:r>
          </a:p>
          <a:p>
            <a:pPr algn="l">
              <a:lnSpc>
                <a:spcPct val="110000"/>
              </a:lnSpc>
              <a:spcBef>
                <a:spcPts val="400"/>
              </a:spcBef>
              <a:spcAft>
                <a:spcPts val="0"/>
              </a:spcAft>
            </a:pPr>
            <a:r>
              <a:rPr sz="950" b="0" i="0" u="none">
                <a:solidFill>
                  <a:srgbClr val="4C566B"/>
                </a:solidFill>
                <a:latin typeface="Calibri"/>
              </a:rPr>
              <a:t>The 'sola' principles of the Reformation were grounded in the conviction that doctrine shapes the whole of Christian living.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exists for the Church and for life; sound doctrine is the foundation of authentic worship, ethics and mission.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Sources and Aims of Theology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module has established the foundations on which the rest of the programme stands. Theology is the rational, systematic study of God as revealed; its supreme source is Scripture, supported by the creeds, tradition and experience in a clear order; its method moves from exegesis through articulation to confession, guided by the Holy Spirit and checked by the rule of faith. Its aim is not abstraction but the knowing of God, the building up of the Church, and the equipping of ministers and believers for the tasks of the Christian life. Every subsequent module applies these foundations to a specific region of doctrine.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Theology as the rational study of the self-revealing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ordered sources: Scripture, creed, tradition, experience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 method from text to confession under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aim: knowledge of God, the edification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2:10-13</a:t>
            </a:r>
          </a:p>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1 Peter 1:14-16</a:t>
            </a:r>
          </a:p>
          <a:p>
            <a:pPr algn="l">
              <a:lnSpc>
                <a:spcPct val="108000"/>
              </a:lnSpc>
              <a:spcBef>
                <a:spcPts val="0"/>
              </a:spcBef>
              <a:spcAft>
                <a:spcPts val="250"/>
              </a:spcAft>
            </a:pPr>
            <a:r>
              <a:rPr sz="1000" b="0" i="1" u="none">
                <a:solidFill>
                  <a:srgbClr val="232A38"/>
                </a:solidFill>
                <a:latin typeface="Calibri"/>
              </a:rPr>
              <a:t>Joshua 1:8</a:t>
            </a:r>
          </a:p>
          <a:p>
            <a:pPr algn="l">
              <a:lnSpc>
                <a:spcPct val="110000"/>
              </a:lnSpc>
              <a:spcBef>
                <a:spcPts val="400"/>
              </a:spcBef>
              <a:spcAft>
                <a:spcPts val="0"/>
              </a:spcAft>
            </a:pPr>
            <a:r>
              <a:rPr sz="950" b="0" i="0" u="none">
                <a:solidFill>
                  <a:srgbClr val="4C566B"/>
                </a:solidFill>
                <a:latin typeface="Calibri"/>
              </a:rPr>
              <a:t>These foundations mirror the programme of the great theological Summae and the modern university course alike.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With the sources, method and aims of theology fixed, the programme turns to the supreme source itself: the Scriptures.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01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Foundations of Christian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Theology is the science of God as revealed — reason serving faith, not replacing it.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Scripture is the supreme norm; the creeds, tradition and experience are subordinate witnesses in a clear order.</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A disciplined method moves from exegesis through doctrinal articulation to confessional statement, guided by the Spirit.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sources and method established here are the material and the instrument of every later module; they recur in biblical, systematic, historical and practical theology alike.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fixed the sources and method of theology, the programme turns to the supreme text itself: the Bible as the book of theology.</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02 · The Bible: The Book of Theology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02</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 BIBLE: THE BOOK OF THEOLOGY</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fixed the sources and method of theology, the programme turns to the supreme text itself: the Bible as the book of theology.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641080" y="3826764"/>
            <a:ext cx="2103120" cy="45720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915400" y="3259836"/>
            <a:ext cx="1554480" cy="45720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9189719" y="2692908"/>
            <a:ext cx="1005840" cy="457200"/>
          </a:xfrm>
          <a:prstGeom prst="rect">
            <a:avLst/>
          </a:prstGeom>
          <a:noFill/>
          <a:ln w="1524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7" name="Connector 6"/>
          <p:cNvCxnSpPr/>
          <p:nvPr/>
        </p:nvCxnSpPr>
        <p:spPr>
          <a:xfrm flipV="1">
            <a:off x="9692640" y="1997964"/>
            <a:ext cx="0" cy="2377440"/>
          </a:xfrm>
          <a:prstGeom prst="line">
            <a:avLst/>
          </a:prstGeom>
          <a:ln w="10160">
            <a:solidFill>
              <a:srgbClr val="6E7A93"/>
            </a:solidFill>
            <a:prstDash val="dash"/>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9642348" y="1856232"/>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02</a:t>
            </a:r>
          </a:p>
        </p:txBody>
      </p:sp>
      <p:sp>
        <p:nvSpPr>
          <p:cNvPr id="11" name="TextBox 10"/>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02</a:t>
            </a:r>
          </a:p>
        </p:txBody>
      </p:sp>
      <p:sp>
        <p:nvSpPr>
          <p:cNvPr id="12" name="TextBox 11"/>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 BIBLE: THE BOOK OF THEOLOGY</a:t>
            </a:r>
          </a:p>
        </p:txBody>
      </p:sp>
      <p:cxnSp>
        <p:nvCxnSpPr>
          <p:cNvPr id="13" name="Connector 12"/>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formation, inspiration, authority and interpretation of the Scriptures as the rule of the Christian faith.</a:t>
            </a:r>
          </a:p>
        </p:txBody>
      </p:sp>
      <p:sp>
        <p:nvSpPr>
          <p:cNvPr id="15" name="Rectangle 14"/>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21615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02</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 BIBLE: THE BOOK OF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 Bible: The Book of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studies the Bible itself as the book of theology: its origin and formation in Israel and the Church, its claim to be the word of God, its canon, its transmission, and the principles by which it is to be read and applied.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Scriptures arose within the covenant communities of Israel and the Church, were recognised by those communities, and have been transmitted, translated and interpreted across twenty centuries. Their formation is thus both a divine and a human story — the Word accommodated to human language.</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If Scripture is the norm of all doctrine, then every other module stands or falls with the questions answered here: what the Bible is, why it is authoritative, and how it is to be read responsibly.</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nature, authority and canonical structure of the Bible, and to adopt the principles of interpretation that the course will use throughout.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Origin and Composition of the Old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Old Testament grew over centuries within Israel's covenant life: the Torah, the historical books, the wisdom and poetic literature, and the prophetic writings. The Hebrew canon — Law, Prophets and Writings (Torah, Nevi'im, Ketuvim) — was fixed in its present form around the time of the Council of Jamnia (c. AD 90), though its books were already recognised as Scripture within the community. The division into thirty-nine books corresponds to the Jewish threefold division, and the text was preserved with extraordinary care by the Masoretes.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Torah, Nevi'im, Ketuvim — the threefold Hebrew canon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Dictated, prophetic, wisdom and apostolic modes of composition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canon as recognition, not creation, of Scripture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Masoretic Text as the standard Hebrew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Deuteronomy 4:2</a:t>
            </a:r>
          </a:p>
          <a:p>
            <a:pPr algn="l">
              <a:lnSpc>
                <a:spcPct val="108000"/>
              </a:lnSpc>
              <a:spcBef>
                <a:spcPts val="0"/>
              </a:spcBef>
              <a:spcAft>
                <a:spcPts val="250"/>
              </a:spcAft>
            </a:pPr>
            <a:r>
              <a:rPr sz="1000" b="0" i="1" u="none">
                <a:solidFill>
                  <a:srgbClr val="232A38"/>
                </a:solidFill>
                <a:latin typeface="Calibri"/>
              </a:rPr>
              <a:t>Nehemiah 8:8</a:t>
            </a:r>
          </a:p>
          <a:p>
            <a:pPr algn="l">
              <a:lnSpc>
                <a:spcPct val="108000"/>
              </a:lnSpc>
              <a:spcBef>
                <a:spcPts val="0"/>
              </a:spcBef>
              <a:spcAft>
                <a:spcPts val="250"/>
              </a:spcAft>
            </a:pPr>
            <a:r>
              <a:rPr sz="1000" b="0" i="1" u="none">
                <a:solidFill>
                  <a:srgbClr val="232A38"/>
                </a:solidFill>
                <a:latin typeface="Calibri"/>
              </a:rPr>
              <a:t>2 Timothy 3:14</a:t>
            </a:r>
          </a:p>
          <a:p>
            <a:pPr algn="l">
              <a:lnSpc>
                <a:spcPct val="108000"/>
              </a:lnSpc>
              <a:spcBef>
                <a:spcPts val="0"/>
              </a:spcBef>
              <a:spcAft>
                <a:spcPts val="250"/>
              </a:spcAft>
            </a:pPr>
            <a:r>
              <a:rPr sz="1000" b="0" i="1" u="none">
                <a:solidFill>
                  <a:srgbClr val="232A38"/>
                </a:solidFill>
                <a:latin typeface="Calibri"/>
              </a:rPr>
              <a:t>Psalm 119:152</a:t>
            </a:r>
          </a:p>
          <a:p>
            <a:pPr algn="l">
              <a:lnSpc>
                <a:spcPct val="110000"/>
              </a:lnSpc>
              <a:spcBef>
                <a:spcPts val="400"/>
              </a:spcBef>
              <a:spcAft>
                <a:spcPts val="0"/>
              </a:spcAft>
            </a:pPr>
            <a:r>
              <a:rPr sz="950" b="0" i="0" u="none">
                <a:solidFill>
                  <a:srgbClr val="4C566B"/>
                </a:solidFill>
                <a:latin typeface="Calibri"/>
              </a:rPr>
              <a:t>The Septuagint (LXX), translated in Alexandria c. 250-150 BC, shaped the New Testament's quotation of the Old.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Old Testament is a library of covenant history, recognised as Scripture by the faithful community of Israel.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Origin and Composition of the New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New Testament arose in the decades following the resurrection: the Gospels and Acts, the Pauline and general epistles, and Revelation. The writings circulated among the churches, were read in worship alongside the Old Testament, and were collected into the fourfold Gospel and the complete canon. By the late fourth century — the Syntaxis of Athanasius (367) and the Councils of Hippo (393) and Carthage (397) — the twenty-seven-book canon had achieved its final, universal shape on the basis of apostolicity, orthodoxy and catholic usage.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Apostolicity as the criterion of the New Testament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fourfold Gospel: Matthew, Mark, Luke, John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canonical process: recognition by the rule of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Textus Receptus and the critical text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Luke 1:1-4</a:t>
            </a:r>
          </a:p>
          <a:p>
            <a:pPr algn="l">
              <a:lnSpc>
                <a:spcPct val="108000"/>
              </a:lnSpc>
              <a:spcBef>
                <a:spcPts val="0"/>
              </a:spcBef>
              <a:spcAft>
                <a:spcPts val="250"/>
              </a:spcAft>
            </a:pPr>
            <a:r>
              <a:rPr sz="1000" b="0" i="1" u="none">
                <a:solidFill>
                  <a:srgbClr val="232A38"/>
                </a:solidFill>
                <a:latin typeface="Calibri"/>
              </a:rPr>
              <a:t>2 Peter 3:15-16</a:t>
            </a:r>
          </a:p>
          <a:p>
            <a:pPr algn="l">
              <a:lnSpc>
                <a:spcPct val="108000"/>
              </a:lnSpc>
              <a:spcBef>
                <a:spcPts val="0"/>
              </a:spcBef>
              <a:spcAft>
                <a:spcPts val="250"/>
              </a:spcAft>
            </a:pPr>
            <a:r>
              <a:rPr sz="1000" b="0" i="1" u="none">
                <a:solidFill>
                  <a:srgbClr val="232A38"/>
                </a:solidFill>
                <a:latin typeface="Calibri"/>
              </a:rPr>
              <a:t>Matthew 28:20</a:t>
            </a:r>
          </a:p>
          <a:p>
            <a:pPr algn="l">
              <a:lnSpc>
                <a:spcPct val="108000"/>
              </a:lnSpc>
              <a:spcBef>
                <a:spcPts val="0"/>
              </a:spcBef>
              <a:spcAft>
                <a:spcPts val="250"/>
              </a:spcAft>
            </a:pPr>
            <a:r>
              <a:rPr sz="1000" b="0" i="1" u="none">
                <a:solidFill>
                  <a:srgbClr val="232A38"/>
                </a:solidFill>
                <a:latin typeface="Calibri"/>
              </a:rPr>
              <a:t>1 Thessalonians 5:20-21</a:t>
            </a:r>
          </a:p>
          <a:p>
            <a:pPr algn="l">
              <a:lnSpc>
                <a:spcPct val="110000"/>
              </a:lnSpc>
              <a:spcBef>
                <a:spcPts val="400"/>
              </a:spcBef>
              <a:spcAft>
                <a:spcPts val="0"/>
              </a:spcAft>
            </a:pPr>
            <a:r>
              <a:rPr sz="950" b="0" i="0" u="none">
                <a:solidFill>
                  <a:srgbClr val="4C566B"/>
                </a:solidFill>
                <a:latin typeface="Calibri"/>
              </a:rPr>
              <a:t>The Muratorian Fragment (c. 170) and the lists of Athanasius, Tertullian and Eusebius trace the canon's emergence.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New Testament canon is the Church's witness to the apostolic rule of faith — a library received and guarded, not issued from above.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Canon of Scripture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canon of Scripture is the list of books recognised as the inspired Word of God. The question is not how the books became canonical, but how the Church discerned which books were already so. The criteria were apostolicity or connection with the apostolic age, orthodoxy in content, and catholic usage in the churches' worship and teaching. The process was one of recognition, not conferral: the books did not become Scripture by the Church's vote, but the Church acknowledged what Scripture already was. Both the Old and New Testaments reached their closed form by the fourth century.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canon as recognition, not conferral, of Scripture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Criteria: apostolicity, orthodoxy, catholic usage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development of the Old and New canon lists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closed canon and its practical consequences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Peter 3:15-16</a:t>
            </a:r>
          </a:p>
          <a:p>
            <a:pPr algn="l">
              <a:lnSpc>
                <a:spcPct val="108000"/>
              </a:lnSpc>
              <a:spcBef>
                <a:spcPts val="0"/>
              </a:spcBef>
              <a:spcAft>
                <a:spcPts val="250"/>
              </a:spcAft>
            </a:pPr>
            <a:r>
              <a:rPr sz="1000" b="0" i="1" u="none">
                <a:solidFill>
                  <a:srgbClr val="232A38"/>
                </a:solidFill>
                <a:latin typeface="Calibri"/>
              </a:rPr>
              <a:t>2 Timothy 3:16</a:t>
            </a:r>
          </a:p>
          <a:p>
            <a:pPr algn="l">
              <a:lnSpc>
                <a:spcPct val="108000"/>
              </a:lnSpc>
              <a:spcBef>
                <a:spcPts val="0"/>
              </a:spcBef>
              <a:spcAft>
                <a:spcPts val="250"/>
              </a:spcAft>
            </a:pPr>
            <a:r>
              <a:rPr sz="1000" b="0" i="1" u="none">
                <a:solidFill>
                  <a:srgbClr val="232A38"/>
                </a:solidFill>
                <a:latin typeface="Calibri"/>
              </a:rPr>
              <a:t>Revelation 22:18-19</a:t>
            </a:r>
          </a:p>
          <a:p>
            <a:pPr algn="l">
              <a:lnSpc>
                <a:spcPct val="108000"/>
              </a:lnSpc>
              <a:spcBef>
                <a:spcPts val="0"/>
              </a:spcBef>
              <a:spcAft>
                <a:spcPts val="250"/>
              </a:spcAft>
            </a:pPr>
            <a:r>
              <a:rPr sz="1000" b="0" i="1" u="none">
                <a:solidFill>
                  <a:srgbClr val="232A38"/>
                </a:solidFill>
                <a:latin typeface="Calibri"/>
              </a:rPr>
              <a:t>Luke 24:27</a:t>
            </a:r>
          </a:p>
          <a:p>
            <a:pPr algn="l">
              <a:lnSpc>
                <a:spcPct val="110000"/>
              </a:lnSpc>
              <a:spcBef>
                <a:spcPts val="400"/>
              </a:spcBef>
              <a:spcAft>
                <a:spcPts val="0"/>
              </a:spcAft>
            </a:pPr>
            <a:r>
              <a:rPr sz="950" b="0" i="0" u="none">
                <a:solidFill>
                  <a:srgbClr val="4C566B"/>
                </a:solidFill>
                <a:latin typeface="Calibri"/>
              </a:rPr>
              <a:t>Athanasius's Easter letter of 367 gives the first complete list of the twenty-seven New Testament books.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canon is closed because the apostolic witness is complete; the Church discerns and guards what God has already spoken.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Unity and Diversity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Bible is a remarkable unity within a striking diversity: sixty-six books, by roughly forty authors, over about fifteen centuries, in two languages and many literary forms, yet bearing a single centre — the redemptive work of the one God in Christ. The diversity is no barrier to unity, for the authors were human and the Author was one. The progressive unfolding of redemption — promise in the Old Testament, accomplishment in the New — is a unity of fulfilment. This organic unity is the ground of the principle of Scripture interpreting Scripture.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One Author, many authors: the divine-human authorship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of redemptive-historical fulfilment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Promise and fulfilment between the Testaments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basis of the analogy of faith (analogia fidei)</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Peter 1:19-21</a:t>
            </a:r>
          </a:p>
          <a:p>
            <a:pPr algn="l">
              <a:lnSpc>
                <a:spcPct val="108000"/>
              </a:lnSpc>
              <a:spcBef>
                <a:spcPts val="0"/>
              </a:spcBef>
              <a:spcAft>
                <a:spcPts val="250"/>
              </a:spcAft>
            </a:pPr>
            <a:r>
              <a:rPr sz="1000" b="0" i="1" u="none">
                <a:solidFill>
                  <a:srgbClr val="232A38"/>
                </a:solidFill>
                <a:latin typeface="Calibri"/>
              </a:rPr>
              <a:t>Luke 24:27, 44</a:t>
            </a:r>
          </a:p>
          <a:p>
            <a:pPr algn="l">
              <a:lnSpc>
                <a:spcPct val="108000"/>
              </a:lnSpc>
              <a:spcBef>
                <a:spcPts val="0"/>
              </a:spcBef>
              <a:spcAft>
                <a:spcPts val="250"/>
              </a:spcAft>
            </a:pPr>
            <a:r>
              <a:rPr sz="1000" b="0" i="1" u="none">
                <a:solidFill>
                  <a:srgbClr val="232A38"/>
                </a:solidFill>
                <a:latin typeface="Calibri"/>
              </a:rPr>
              <a:t>Matthew 5:17-18</a:t>
            </a:r>
          </a:p>
          <a:p>
            <a:pPr algn="l">
              <a:lnSpc>
                <a:spcPct val="108000"/>
              </a:lnSpc>
              <a:spcBef>
                <a:spcPts val="0"/>
              </a:spcBef>
              <a:spcAft>
                <a:spcPts val="250"/>
              </a:spcAft>
            </a:pPr>
            <a:r>
              <a:rPr sz="1000" b="0" i="1" u="none">
                <a:solidFill>
                  <a:srgbClr val="232A38"/>
                </a:solidFill>
                <a:latin typeface="Calibri"/>
              </a:rPr>
              <a:t>Hebrews 1:1-2</a:t>
            </a:r>
          </a:p>
          <a:p>
            <a:pPr algn="l">
              <a:lnSpc>
                <a:spcPct val="110000"/>
              </a:lnSpc>
              <a:spcBef>
                <a:spcPts val="400"/>
              </a:spcBef>
              <a:spcAft>
                <a:spcPts val="0"/>
              </a:spcAft>
            </a:pPr>
            <a:r>
              <a:rPr sz="950" b="0" i="0" u="none">
                <a:solidFill>
                  <a:srgbClr val="4C566B"/>
                </a:solidFill>
                <a:latin typeface="Calibri"/>
              </a:rPr>
              <a:t>The 'canon within a canon' problem was solved historically by the principle of mutual illumination of the parts.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Bible's diversity under one divine Author guarantees that its parts interpret, correct and complete one another.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Biblical Inspiration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Inspiration asserts that the Scriptures are not merely religious literature but the very Word of God, written by human authors guided by the Holy Spirit so that what they wrote is God's word (2 Tim 3:16; 2 Pet 1:21). The doctrine is pneu-theopneustos — God-breathed — a statement about the origin of the text. The human element is real: the authors' styles, knowledge and situations appear throughout, yet the words are God's. Inspiration is verbal in the sense that the very words are given, and it extends to the autographs as they were originally written, the ground of the doctrines of inerrancy and infallibility.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Theopneustos: Scripture as 'God-breathed'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Verbal plenary inspiration and the human element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Inspiration of the autographs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basis of inerrancy and infallibility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2 Peter 1:21</a:t>
            </a:r>
          </a:p>
          <a:p>
            <a:pPr algn="l">
              <a:lnSpc>
                <a:spcPct val="108000"/>
              </a:lnSpc>
              <a:spcBef>
                <a:spcPts val="0"/>
              </a:spcBef>
              <a:spcAft>
                <a:spcPts val="250"/>
              </a:spcAft>
            </a:pPr>
            <a:r>
              <a:rPr sz="1000" b="0" i="1" u="none">
                <a:solidFill>
                  <a:srgbClr val="232A38"/>
                </a:solidFill>
                <a:latin typeface="Calibri"/>
              </a:rPr>
              <a:t>2 Peter 1:20-21</a:t>
            </a:r>
          </a:p>
          <a:p>
            <a:pPr algn="l">
              <a:lnSpc>
                <a:spcPct val="108000"/>
              </a:lnSpc>
              <a:spcBef>
                <a:spcPts val="0"/>
              </a:spcBef>
              <a:spcAft>
                <a:spcPts val="250"/>
              </a:spcAft>
            </a:pPr>
            <a:r>
              <a:rPr sz="1000" b="0" i="1" u="none">
                <a:solidFill>
                  <a:srgbClr val="232A38"/>
                </a:solidFill>
                <a:latin typeface="Calibri"/>
              </a:rPr>
              <a:t>Jeremiah 1:9</a:t>
            </a:r>
          </a:p>
          <a:p>
            <a:pPr algn="l">
              <a:lnSpc>
                <a:spcPct val="110000"/>
              </a:lnSpc>
              <a:spcBef>
                <a:spcPts val="400"/>
              </a:spcBef>
              <a:spcAft>
                <a:spcPts val="0"/>
              </a:spcAft>
            </a:pPr>
            <a:r>
              <a:rPr sz="950" b="0" i="0" u="none">
                <a:solidFill>
                  <a:srgbClr val="4C566B"/>
                </a:solidFill>
                <a:latin typeface="Calibri"/>
              </a:rPr>
              <a:t>The doctrine was formulated against Gnostic docetism and reasserted in the Reformation against the Council of Trent's view.</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Inspiration is God's guarantee that the biblical authors wrote exactly what he intended them to write — human words that are divine words.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Authority of Scripture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authority of Scripture is its God-given right to command belief and obedience, resting ultimately on the authority of God himself, its Author. In the Reformed tradition this authority is self-authenticating: Scripture needs no external human authority to certify it, being attested internally by the Holy Spirit's witness to the believing heart (the internal witness of the Spirit). Its authority is comprehensive, extending to everything necessary for faith and life (2 Tim 3:16-17), and it is final in all matters of doctrine and conduct. The Church submits to Scripture, not the reverse; creed and tradition are subordinate witnesses.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Authority as God-given right to command belief and obedience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Self-authentication and the internal witness of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comprehensiveness of Scripture for faith and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Scripture's final authority over creed and tradition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Isaiah 8:20</a:t>
            </a:r>
          </a:p>
          <a:p>
            <a:pPr algn="l">
              <a:lnSpc>
                <a:spcPct val="108000"/>
              </a:lnSpc>
              <a:spcBef>
                <a:spcPts val="0"/>
              </a:spcBef>
              <a:spcAft>
                <a:spcPts val="250"/>
              </a:spcAft>
            </a:pPr>
            <a:r>
              <a:rPr sz="1000" b="0" i="1" u="none">
                <a:solidFill>
                  <a:srgbClr val="232A38"/>
                </a:solidFill>
                <a:latin typeface="Calibri"/>
              </a:rPr>
              <a:t>1 Corinthians 14:37</a:t>
            </a:r>
          </a:p>
          <a:p>
            <a:pPr algn="l">
              <a:lnSpc>
                <a:spcPct val="108000"/>
              </a:lnSpc>
              <a:spcBef>
                <a:spcPts val="0"/>
              </a:spcBef>
              <a:spcAft>
                <a:spcPts val="250"/>
              </a:spcAft>
            </a:pPr>
            <a:r>
              <a:rPr sz="1000" b="0" i="1" u="none">
                <a:solidFill>
                  <a:srgbClr val="232A38"/>
                </a:solidFill>
                <a:latin typeface="Calibri"/>
              </a:rPr>
              <a:t>2 John 9</a:t>
            </a:r>
          </a:p>
          <a:p>
            <a:pPr algn="l">
              <a:lnSpc>
                <a:spcPct val="110000"/>
              </a:lnSpc>
              <a:spcBef>
                <a:spcPts val="400"/>
              </a:spcBef>
              <a:spcAft>
                <a:spcPts val="0"/>
              </a:spcAft>
            </a:pPr>
            <a:r>
              <a:rPr sz="950" b="0" i="0" u="none">
                <a:solidFill>
                  <a:srgbClr val="4C566B"/>
                </a:solidFill>
                <a:latin typeface="Calibri"/>
              </a:rPr>
              <a:t>The Reformation's sola Scriptura was a recovery of Scripture's final authority against the magisterial claims of tradition.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authority of the Bible is the authority of God; it is self-authenticating, comprehensive in its scope, and final in all matters of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Inerrancy and Infallibility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019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Infallibility means that Scripture, in the original autographs, is without error in what it affirms; it will not lead the reader into error in matters of faith and life. Inerrancy is the more precise modern formulation: the autographs are without error in all that they state, including history, science and prophecy, each passage being judged in its own literary category. The distinction between the autographs and later manuscripts — which contain scribal errors — is essential. The practical effect of the doctrine is confidence: the Word of God can be trusted wholly, and its teaching is the secure foundation of the Church's confession.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Infallibility: no error in what Scripture affirms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Inerrancy: no error in the autographs, all statements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autograph-to-manuscript distinction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Literary categories and the interpretation of difficult texts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12:6-7</a:t>
            </a:r>
          </a:p>
          <a:p>
            <a:pPr algn="l">
              <a:lnSpc>
                <a:spcPct val="108000"/>
              </a:lnSpc>
              <a:spcBef>
                <a:spcPts val="0"/>
              </a:spcBef>
              <a:spcAft>
                <a:spcPts val="250"/>
              </a:spcAft>
            </a:pPr>
            <a:r>
              <a:rPr sz="1000" b="0" i="1" u="none">
                <a:solidFill>
                  <a:srgbClr val="232A38"/>
                </a:solidFill>
                <a:latin typeface="Calibri"/>
              </a:rPr>
              <a:t>Psalm 119:142, 160</a:t>
            </a:r>
          </a:p>
          <a:p>
            <a:pPr algn="l">
              <a:lnSpc>
                <a:spcPct val="108000"/>
              </a:lnSpc>
              <a:spcBef>
                <a:spcPts val="0"/>
              </a:spcBef>
              <a:spcAft>
                <a:spcPts val="250"/>
              </a:spcAft>
            </a:pPr>
            <a:r>
              <a:rPr sz="1000" b="0" i="1" u="none">
                <a:solidFill>
                  <a:srgbClr val="232A38"/>
                </a:solidFill>
                <a:latin typeface="Calibri"/>
              </a:rPr>
              <a:t>Isaiah 40:8</a:t>
            </a:r>
          </a:p>
          <a:p>
            <a:pPr algn="l">
              <a:lnSpc>
                <a:spcPct val="108000"/>
              </a:lnSpc>
              <a:spcBef>
                <a:spcPts val="0"/>
              </a:spcBef>
              <a:spcAft>
                <a:spcPts val="250"/>
              </a:spcAft>
            </a:pPr>
            <a:r>
              <a:rPr sz="1000" b="0" i="1" u="none">
                <a:solidFill>
                  <a:srgbClr val="232A38"/>
                </a:solidFill>
                <a:latin typeface="Calibri"/>
              </a:rPr>
              <a:t>Matthew 24:35</a:t>
            </a:r>
          </a:p>
          <a:p>
            <a:pPr algn="l">
              <a:lnSpc>
                <a:spcPct val="110000"/>
              </a:lnSpc>
              <a:spcBef>
                <a:spcPts val="400"/>
              </a:spcBef>
              <a:spcAft>
                <a:spcPts val="0"/>
              </a:spcAft>
            </a:pPr>
            <a:r>
              <a:rPr sz="950" b="0" i="0" u="none">
                <a:solidFill>
                  <a:srgbClr val="4C566B"/>
                </a:solidFill>
                <a:latin typeface="Calibri"/>
              </a:rPr>
              <a:t>The Chicago Statement on Biblical Inerrancy (1978) is the most widely subscribed modern affirmation of the doctrine.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Scripture God gave is without error in the originals; therefore the believer may trust the Bible wholly in faith and in fact.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Preservation and Transmission of the Text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Although the original autographs no longer exist, the biblical text has been preserved with extraordinary fidelity. The Old Testament's Masoretic Text, with its system of vocalisation and marginal notes, and the discovery of the Dead Sea Scrolls (1947) showed its accuracy to be remarkable. The New Testament is attested by some five thousand eight hundred Greek manuscripts and thousands more in other languages, so that its text can be reconstructed with a certainty unmatched in ancient literature. Copying errors occurred, but they are few, trivial, and none affects any doctrine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Masoretic Text and the Dead Sea Scrolls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sheer volume of New Testament manuscripts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Textual criticism: the task of the editor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preservation of doctrine amid textual variants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Deuteronomy 4:2</a:t>
            </a:r>
          </a:p>
          <a:p>
            <a:pPr algn="l">
              <a:lnSpc>
                <a:spcPct val="108000"/>
              </a:lnSpc>
              <a:spcBef>
                <a:spcPts val="0"/>
              </a:spcBef>
              <a:spcAft>
                <a:spcPts val="250"/>
              </a:spcAft>
            </a:pPr>
            <a:r>
              <a:rPr sz="1000" b="0" i="1" u="none">
                <a:solidFill>
                  <a:srgbClr val="232A38"/>
                </a:solidFill>
                <a:latin typeface="Calibri"/>
              </a:rPr>
              <a:t>Revelation 22:18-19</a:t>
            </a:r>
          </a:p>
          <a:p>
            <a:pPr algn="l">
              <a:lnSpc>
                <a:spcPct val="108000"/>
              </a:lnSpc>
              <a:spcBef>
                <a:spcPts val="0"/>
              </a:spcBef>
              <a:spcAft>
                <a:spcPts val="250"/>
              </a:spcAft>
            </a:pPr>
            <a:r>
              <a:rPr sz="1000" b="0" i="1" u="none">
                <a:solidFill>
                  <a:srgbClr val="232A38"/>
                </a:solidFill>
                <a:latin typeface="Calibri"/>
              </a:rPr>
              <a:t>Psalm 119:152</a:t>
            </a:r>
          </a:p>
          <a:p>
            <a:pPr algn="l">
              <a:lnSpc>
                <a:spcPct val="108000"/>
              </a:lnSpc>
              <a:spcBef>
                <a:spcPts val="0"/>
              </a:spcBef>
              <a:spcAft>
                <a:spcPts val="250"/>
              </a:spcAft>
            </a:pPr>
            <a:r>
              <a:rPr sz="1000" b="0" i="1" u="none">
                <a:solidFill>
                  <a:srgbClr val="232A38"/>
                </a:solidFill>
                <a:latin typeface="Calibri"/>
              </a:rPr>
              <a:t>2 Timothy 2:15</a:t>
            </a:r>
          </a:p>
          <a:p>
            <a:pPr algn="l">
              <a:lnSpc>
                <a:spcPct val="110000"/>
              </a:lnSpc>
              <a:spcBef>
                <a:spcPts val="400"/>
              </a:spcBef>
              <a:spcAft>
                <a:spcPts val="0"/>
              </a:spcAft>
            </a:pPr>
            <a:r>
              <a:rPr sz="950" b="0" i="0" u="none">
                <a:solidFill>
                  <a:srgbClr val="4C566B"/>
                </a:solidFill>
                <a:latin typeface="Calibri"/>
              </a:rPr>
              <a:t>The Qumran discovery (1947) confirmed the Masoretes' accuracy over a millennium of transmission.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biblical text has been transmitted with remarkable fidelity; the doctrine of the faith stands secure on the evidence of the manuscripts.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Translation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Bible has been given to the world in translation, beginning with the Septuagint, the Greek version made in Alexandria, and the Vulgate, Jerome's Latin translation that served the Western Church for a millennium. The Reformation produced vernacular versions — Luther's German, Tyndale's English — that were revolutions in language and in faith. Modern translation theory distinguishes formal (literal) from dynamic (thought-for-thought) equivalence, and the best versions aim at faithfulness to the original meaning in idiomatic modern speech. The history of translation is the history of the Word going forth to the nations.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Septuagint and the Vulgate as landmark versions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Reformation vernacular translations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Formal versus dynamic equivalence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Translation as the going forth of the Word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52:15</a:t>
            </a:r>
          </a:p>
          <a:p>
            <a:pPr algn="l">
              <a:lnSpc>
                <a:spcPct val="108000"/>
              </a:lnSpc>
              <a:spcBef>
                <a:spcPts val="0"/>
              </a:spcBef>
              <a:spcAft>
                <a:spcPts val="250"/>
              </a:spcAft>
            </a:pPr>
            <a:r>
              <a:rPr sz="1000" b="0" i="1" u="none">
                <a:solidFill>
                  <a:srgbClr val="232A38"/>
                </a:solidFill>
                <a:latin typeface="Calibri"/>
              </a:rPr>
              <a:t>Acts 8:26-31</a:t>
            </a:r>
          </a:p>
          <a:p>
            <a:pPr algn="l">
              <a:lnSpc>
                <a:spcPct val="108000"/>
              </a:lnSpc>
              <a:spcBef>
                <a:spcPts val="0"/>
              </a:spcBef>
              <a:spcAft>
                <a:spcPts val="250"/>
              </a:spcAft>
            </a:pPr>
            <a:r>
              <a:rPr sz="1000" b="0" i="1" u="none">
                <a:solidFill>
                  <a:srgbClr val="232A38"/>
                </a:solidFill>
                <a:latin typeface="Calibri"/>
              </a:rPr>
              <a:t>Psalm 56:12</a:t>
            </a:r>
          </a:p>
          <a:p>
            <a:pPr algn="l">
              <a:lnSpc>
                <a:spcPct val="108000"/>
              </a:lnSpc>
              <a:spcBef>
                <a:spcPts val="0"/>
              </a:spcBef>
              <a:spcAft>
                <a:spcPts val="250"/>
              </a:spcAft>
            </a:pPr>
            <a:r>
              <a:rPr sz="1000" b="0" i="1" u="none">
                <a:solidFill>
                  <a:srgbClr val="232A38"/>
                </a:solidFill>
                <a:latin typeface="Calibri"/>
              </a:rPr>
              <a:t>2 Timothy 3:16</a:t>
            </a:r>
          </a:p>
          <a:p>
            <a:pPr algn="l">
              <a:lnSpc>
                <a:spcPct val="110000"/>
              </a:lnSpc>
              <a:spcBef>
                <a:spcPts val="400"/>
              </a:spcBef>
              <a:spcAft>
                <a:spcPts val="0"/>
              </a:spcAft>
            </a:pPr>
            <a:r>
              <a:rPr sz="950" b="0" i="0" u="none">
                <a:solidFill>
                  <a:srgbClr val="4C566B"/>
                </a:solidFill>
                <a:latin typeface="Calibri"/>
              </a:rPr>
              <a:t>Luther translated by the principle of 'the mother in her house'; Tyndale's New Testament (1526) shaped the English Bible.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Bible was meant to be read by all God's people in their own tongues; faithful translation is a ministry of the Word.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Biblical Doctrine of Revelation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Revelation is God's self-communication to his creatures, making known what could not otherwise be known. The Bible presents a general revelation in creation and conscience, which shows that God exists and is powerful (Ps 19; Rom 1:20), and a special, saving revelation in the history of the covenant and, supremely, in the person and work of Jesus Christ (Heb 1:1-2). Special revelation is not a further disclosure of moral truth but the communication of the triune God himself for the purpose of salvation. The Word that is revealed becomes the Word that is written — Scripture is revelation committed to memory.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Revelation as God's self-communication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General and special revelation distinguished and related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 as the summit of revelation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Revelation committed to memory in Scripture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Hebrews 1:1-2</a:t>
            </a:r>
          </a:p>
          <a:p>
            <a:pPr algn="l">
              <a:lnSpc>
                <a:spcPct val="108000"/>
              </a:lnSpc>
              <a:spcBef>
                <a:spcPts val="0"/>
              </a:spcBef>
              <a:spcAft>
                <a:spcPts val="250"/>
              </a:spcAft>
            </a:pPr>
            <a:r>
              <a:rPr sz="1000" b="0" i="1" u="none">
                <a:solidFill>
                  <a:srgbClr val="232A38"/>
                </a:solidFill>
                <a:latin typeface="Calibri"/>
              </a:rPr>
              <a:t>John 1:18</a:t>
            </a:r>
          </a:p>
          <a:p>
            <a:pPr algn="l">
              <a:lnSpc>
                <a:spcPct val="108000"/>
              </a:lnSpc>
              <a:spcBef>
                <a:spcPts val="0"/>
              </a:spcBef>
              <a:spcAft>
                <a:spcPts val="250"/>
              </a:spcAft>
            </a:pPr>
            <a:r>
              <a:rPr sz="1000" b="0" i="1" u="none">
                <a:solidFill>
                  <a:srgbClr val="232A38"/>
                </a:solidFill>
                <a:latin typeface="Calibri"/>
              </a:rPr>
              <a:t>Isaiah 40:25-31</a:t>
            </a:r>
          </a:p>
          <a:p>
            <a:pPr algn="l">
              <a:lnSpc>
                <a:spcPct val="108000"/>
              </a:lnSpc>
              <a:spcBef>
                <a:spcPts val="0"/>
              </a:spcBef>
              <a:spcAft>
                <a:spcPts val="250"/>
              </a:spcAft>
            </a:pPr>
            <a:r>
              <a:rPr sz="1000" b="0" i="1" u="none">
                <a:solidFill>
                  <a:srgbClr val="232A38"/>
                </a:solidFill>
                <a:latin typeface="Calibri"/>
              </a:rPr>
              <a:t>Exodus 33:18-19</a:t>
            </a:r>
          </a:p>
          <a:p>
            <a:pPr algn="l">
              <a:lnSpc>
                <a:spcPct val="110000"/>
              </a:lnSpc>
              <a:spcBef>
                <a:spcPts val="400"/>
              </a:spcBef>
              <a:spcAft>
                <a:spcPts val="0"/>
              </a:spcAft>
            </a:pPr>
            <a:r>
              <a:rPr sz="950" b="0" i="0" u="none">
                <a:solidFill>
                  <a:srgbClr val="4C566B"/>
                </a:solidFill>
                <a:latin typeface="Calibri"/>
              </a:rPr>
              <a:t>The doctrine was shaped against natural philosophy and the Gnostic claim to a secret, superior revelation.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Revelation is God making himself known for salvation; Scripture is that revelation preserved in writing for all generations.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General and Special Revelation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General revelation is God's self-disclosure to all people in and through creation, providence and conscience; it is universal, sufficient to render all without excuse (Rom 1:19-20), but not sufficient for salvation. Special revelation is God's self-communication within the covenant, in the theophanies, the prophets, the Word made flesh, and finally in Scripture; it is particular, saving, and progressively culminating in Christ. The two are not rivals: general revelation prepares the mind and conscience, while special revelation brings the saving knowledge of God. Both point to the one true God, but only the special reveals him as Father, Son and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General revelation: universal, condemnatory, insufficient for salvation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Special revelation: particular, saving, culminating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relation of the two: preparation and fulfilment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triune self-communication as the goal of all revelation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19:1-4</a:t>
            </a:r>
          </a:p>
          <a:p>
            <a:pPr algn="l">
              <a:lnSpc>
                <a:spcPct val="108000"/>
              </a:lnSpc>
              <a:spcBef>
                <a:spcPts val="0"/>
              </a:spcBef>
              <a:spcAft>
                <a:spcPts val="250"/>
              </a:spcAft>
            </a:pPr>
            <a:r>
              <a:rPr sz="1000" b="0" i="1" u="none">
                <a:solidFill>
                  <a:srgbClr val="232A38"/>
                </a:solidFill>
                <a:latin typeface="Calibri"/>
              </a:rPr>
              <a:t>Romans 1:19-20</a:t>
            </a:r>
          </a:p>
          <a:p>
            <a:pPr algn="l">
              <a:lnSpc>
                <a:spcPct val="108000"/>
              </a:lnSpc>
              <a:spcBef>
                <a:spcPts val="0"/>
              </a:spcBef>
              <a:spcAft>
                <a:spcPts val="250"/>
              </a:spcAft>
            </a:pPr>
            <a:r>
              <a:rPr sz="1000" b="0" i="1" u="none">
                <a:solidFill>
                  <a:srgbClr val="232A38"/>
                </a:solidFill>
                <a:latin typeface="Calibri"/>
              </a:rPr>
              <a:t>Romans 2:14-15</a:t>
            </a:r>
          </a:p>
          <a:p>
            <a:pPr algn="l">
              <a:lnSpc>
                <a:spcPct val="108000"/>
              </a:lnSpc>
              <a:spcBef>
                <a:spcPts val="0"/>
              </a:spcBef>
              <a:spcAft>
                <a:spcPts val="250"/>
              </a:spcAft>
            </a:pPr>
            <a:r>
              <a:rPr sz="1000" b="0" i="1" u="none">
                <a:solidFill>
                  <a:srgbClr val="232A38"/>
                </a:solidFill>
                <a:latin typeface="Calibri"/>
              </a:rPr>
              <a:t>Hebrews 1:1-2</a:t>
            </a:r>
          </a:p>
          <a:p>
            <a:pPr algn="l">
              <a:lnSpc>
                <a:spcPct val="110000"/>
              </a:lnSpc>
              <a:spcBef>
                <a:spcPts val="400"/>
              </a:spcBef>
              <a:spcAft>
                <a:spcPts val="0"/>
              </a:spcAft>
            </a:pPr>
            <a:r>
              <a:rPr sz="950" b="0" i="0" u="none">
                <a:solidFill>
                  <a:srgbClr val="4C566B"/>
                </a:solidFill>
                <a:latin typeface="Calibri"/>
              </a:rPr>
              <a:t>The distinction was sharpened in the Reformation and in the debates over natural theology.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All people see God's glory in creation; only the special revelation in Christ makes known God as Saviour.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Interpretation of Scripture: Principles of Hermeneutics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Hermeneutics is the science of interpretation. The fundamental principle is that Scripture must be interpreted according to its plain, grammatical-historical sense: what the text meant to its original authors and readers, in its literary and historical context. The higher principle is that Scripture interprets Scripture (analogia fidei) — no passage may be taken as the standard of faith if it conflicts with the whole tenor of the Bible. The reader brings to the text the same spirit that produced it: faith, humility, and the guidance of the Holy Spirit. Grammar, history, literary form and context are the ordinary tools of the task.</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grammatical-historical sense as the starting point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Analogia fidei — Scripture interprets Scripture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Literary form and the rules of each genre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role of the Spirit in the interpretation of the Word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Peter 1:20</a:t>
            </a:r>
          </a:p>
          <a:p>
            <a:pPr algn="l">
              <a:lnSpc>
                <a:spcPct val="108000"/>
              </a:lnSpc>
              <a:spcBef>
                <a:spcPts val="0"/>
              </a:spcBef>
              <a:spcAft>
                <a:spcPts val="250"/>
              </a:spcAft>
            </a:pPr>
            <a:r>
              <a:rPr sz="1000" b="0" i="1" u="none">
                <a:solidFill>
                  <a:srgbClr val="232A38"/>
                </a:solidFill>
                <a:latin typeface="Calibri"/>
              </a:rPr>
              <a:t>Acts 8:30-31</a:t>
            </a:r>
          </a:p>
          <a:p>
            <a:pPr algn="l">
              <a:lnSpc>
                <a:spcPct val="108000"/>
              </a:lnSpc>
              <a:spcBef>
                <a:spcPts val="0"/>
              </a:spcBef>
              <a:spcAft>
                <a:spcPts val="250"/>
              </a:spcAft>
            </a:pPr>
            <a:r>
              <a:rPr sz="1000" b="0" i="1" u="none">
                <a:solidFill>
                  <a:srgbClr val="232A38"/>
                </a:solidFill>
                <a:latin typeface="Calibri"/>
              </a:rPr>
              <a:t>1 Timothy 3:16</a:t>
            </a:r>
          </a:p>
          <a:p>
            <a:pPr algn="l">
              <a:lnSpc>
                <a:spcPct val="108000"/>
              </a:lnSpc>
              <a:spcBef>
                <a:spcPts val="0"/>
              </a:spcBef>
              <a:spcAft>
                <a:spcPts val="250"/>
              </a:spcAft>
            </a:pPr>
            <a:r>
              <a:rPr sz="1000" b="0" i="1" u="none">
                <a:solidFill>
                  <a:srgbClr val="232A38"/>
                </a:solidFill>
                <a:latin typeface="Calibri"/>
              </a:rPr>
              <a:t>Isaiah 8:20</a:t>
            </a:r>
          </a:p>
          <a:p>
            <a:pPr algn="l">
              <a:lnSpc>
                <a:spcPct val="110000"/>
              </a:lnSpc>
              <a:spcBef>
                <a:spcPts val="400"/>
              </a:spcBef>
              <a:spcAft>
                <a:spcPts val="0"/>
              </a:spcAft>
            </a:pPr>
            <a:r>
              <a:rPr sz="950" b="0" i="0" u="none">
                <a:solidFill>
                  <a:srgbClr val="4C566B"/>
                </a:solidFill>
                <a:latin typeface="Calibri"/>
              </a:rPr>
              <a:t>The Reformed tradition developed the fourfold sense (literal, allegorical, moral, anagogical) into the primacy of the literal sense.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Bible is to be read as it was written: in its grammar, its history, its context, and under the rule of the whole of Scripture.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Literary Forms and Context of the Bible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Bible is not a single book but a library of literary forms: narrative, law, poetry, prophecy, apocalyptic, wisdom, gospel, epistle and apocalypse. Each form has its own conventions, and the responsible interpreter must read each text as the kind of literature it is. Reading a psalm as a scientific report, or a parable as history, produces absurdities. The historical and literary context — the author, the original audience, the situation, the purpose — is the first question the interpreter must answer. Only by respecting the literary forms can the theological meaning of each text be recovered and applied.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major biblical genres and their conventions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Context: author, audience, situation, purpose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danger of reading the wrong genre as the wrong form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From interpretation to application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119:97-105</a:t>
            </a:r>
          </a:p>
          <a:p>
            <a:pPr algn="l">
              <a:lnSpc>
                <a:spcPct val="108000"/>
              </a:lnSpc>
              <a:spcBef>
                <a:spcPts val="0"/>
              </a:spcBef>
              <a:spcAft>
                <a:spcPts val="250"/>
              </a:spcAft>
            </a:pPr>
            <a:r>
              <a:rPr sz="1000" b="0" i="1" u="none">
                <a:solidFill>
                  <a:srgbClr val="232A38"/>
                </a:solidFill>
                <a:latin typeface="Calibri"/>
              </a:rPr>
              <a:t>Proverbs 25:1-2</a:t>
            </a:r>
          </a:p>
          <a:p>
            <a:pPr algn="l">
              <a:lnSpc>
                <a:spcPct val="108000"/>
              </a:lnSpc>
              <a:spcBef>
                <a:spcPts val="0"/>
              </a:spcBef>
              <a:spcAft>
                <a:spcPts val="250"/>
              </a:spcAft>
            </a:pPr>
            <a:r>
              <a:rPr sz="1000" b="0" i="1" u="none">
                <a:solidFill>
                  <a:srgbClr val="232A38"/>
                </a:solidFill>
                <a:latin typeface="Calibri"/>
              </a:rPr>
              <a:t>Matthew 13:34-35</a:t>
            </a:r>
          </a:p>
          <a:p>
            <a:pPr algn="l">
              <a:lnSpc>
                <a:spcPct val="108000"/>
              </a:lnSpc>
              <a:spcBef>
                <a:spcPts val="0"/>
              </a:spcBef>
              <a:spcAft>
                <a:spcPts val="250"/>
              </a:spcAft>
            </a:pPr>
            <a:r>
              <a:rPr sz="1000" b="0" i="1" u="none">
                <a:solidFill>
                  <a:srgbClr val="232A38"/>
                </a:solidFill>
                <a:latin typeface="Calibri"/>
              </a:rPr>
              <a:t>Revelation 1:1</a:t>
            </a:r>
          </a:p>
          <a:p>
            <a:pPr algn="l">
              <a:lnSpc>
                <a:spcPct val="110000"/>
              </a:lnSpc>
              <a:spcBef>
                <a:spcPts val="400"/>
              </a:spcBef>
              <a:spcAft>
                <a:spcPts val="0"/>
              </a:spcAft>
            </a:pPr>
            <a:r>
              <a:rPr sz="950" b="0" i="0" u="none">
                <a:solidFill>
                  <a:srgbClr val="4C566B"/>
                </a:solidFill>
                <a:latin typeface="Calibri"/>
              </a:rPr>
              <a:t>The rise of literary criticism in the twentieth century enriched, though sometimes distorted, biblical interpretation.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To interpret the Bible well, one must first understand the kind of book one is reading — and the world in which it was written.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Bible as the Rule of Christian Doctrine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Because the Bible is the Word of God, it is the final rule (norma normans) of all Christian doctrine, worship and life. No creed, no church decision, no private experience may override or stand above the plain teaching of Scripture. This is the principle of sola Scriptura in its full force: the Scriptures are sufficient for everything necessary for faith and life, and they alone are the final court of appeal. The Church's creeds and confessions are valuable, but they are norma normata — norms that are themselves normed by Scripture. The student of theology who holds this principle has a secure foundation for the whole of the course.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Scripture as norma normans, the final court of appeal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sufficiency of Scripture for faith and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Creeds as norma normata — subordinate to Scripture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practical consequences for doctrine and conscience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Isaiah 8:20</a:t>
            </a:r>
          </a:p>
          <a:p>
            <a:pPr algn="l">
              <a:lnSpc>
                <a:spcPct val="108000"/>
              </a:lnSpc>
              <a:spcBef>
                <a:spcPts val="0"/>
              </a:spcBef>
              <a:spcAft>
                <a:spcPts val="250"/>
              </a:spcAft>
            </a:pPr>
            <a:r>
              <a:rPr sz="1000" b="0" i="1" u="none">
                <a:solidFill>
                  <a:srgbClr val="232A38"/>
                </a:solidFill>
                <a:latin typeface="Calibri"/>
              </a:rPr>
              <a:t>2 John 9</a:t>
            </a:r>
          </a:p>
          <a:p>
            <a:pPr algn="l">
              <a:lnSpc>
                <a:spcPct val="108000"/>
              </a:lnSpc>
              <a:spcBef>
                <a:spcPts val="0"/>
              </a:spcBef>
              <a:spcAft>
                <a:spcPts val="250"/>
              </a:spcAft>
            </a:pPr>
            <a:r>
              <a:rPr sz="1000" b="0" i="1" u="none">
                <a:solidFill>
                  <a:srgbClr val="232A38"/>
                </a:solidFill>
                <a:latin typeface="Calibri"/>
              </a:rPr>
              <a:t>1 Corinthians 4:6</a:t>
            </a:r>
          </a:p>
          <a:p>
            <a:pPr algn="l">
              <a:lnSpc>
                <a:spcPct val="110000"/>
              </a:lnSpc>
              <a:spcBef>
                <a:spcPts val="400"/>
              </a:spcBef>
              <a:spcAft>
                <a:spcPts val="0"/>
              </a:spcAft>
            </a:pPr>
            <a:r>
              <a:rPr sz="950" b="0" i="0" u="none">
                <a:solidFill>
                  <a:srgbClr val="4C566B"/>
                </a:solidFill>
                <a:latin typeface="Calibri"/>
              </a:rPr>
              <a:t>Sola Scriptura was the formal principle of the Reformation, recovered from the Church's own practice of appealing to Scripture.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Bible is the supreme and final rule of doctrine; all other witnesses are valued insofar as they agree with it.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02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 Bible: The Book of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Both Testaments are covenant libraries, recognised by the faithful community as the Word of God.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canon is closed: the apostolic witness is complete, and the Church guards what God has already spoken.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Inspiration and authority rest on God as Author; the text is inerrant in the originals and securely transmitted.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Interpretation follows the grammatical-historical sense, governed by the whole of Scripture (analogia fidei).</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questions of inspiration and authority answered here become the ground of the doctrine of revelation in the systematic modules; the method of interpretation is used in every biblical and doctrinal study that follows.</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With the formation, authority and interpretation of the Bible established, the programme ascends to the supreme subject of theology: the one true God.</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03 · Theology Proper: The Doctrine of God</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03</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THEOLOGY PROPER: THE DOCTRINE OF GOD</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With the formation, authority and interpretation of the Bible established, the programme ascends to the supreme subject of theology: the one true God.</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189719" y="3095244"/>
            <a:ext cx="1005840" cy="1005840"/>
          </a:xfrm>
          <a:prstGeom prst="ellipse">
            <a:avLst/>
          </a:prstGeom>
          <a:noFill/>
          <a:ln w="1905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64624" y="3470148"/>
            <a:ext cx="256032" cy="25603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0" y="2226564"/>
            <a:ext cx="2743200" cy="2743200"/>
          </a:xfrm>
          <a:prstGeom prst="ellipse">
            <a:avLst/>
          </a:prstGeom>
          <a:noFill/>
          <a:ln w="1016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328502" y="3855069"/>
            <a:ext cx="568038" cy="22950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1034099" y="4121075"/>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960603" y="4229446"/>
            <a:ext cx="239381" cy="563945"/>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39436" y="4929729"/>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9206232" y="4234026"/>
            <a:ext cx="229502" cy="568038"/>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105720" y="4939623"/>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497412" y="3866127"/>
            <a:ext cx="563945" cy="239381"/>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97066" y="4144960"/>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H="1" flipV="1">
            <a:off x="8488739" y="3111756"/>
            <a:ext cx="568038" cy="229502"/>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8287172" y="3011244"/>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flipV="1">
            <a:off x="9185295" y="2402936"/>
            <a:ext cx="239381" cy="563945"/>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081835" y="2202590"/>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949545" y="2394263"/>
            <a:ext cx="229502" cy="568038"/>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0215551" y="2192696"/>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flipV="1">
            <a:off x="10323922" y="3090819"/>
            <a:ext cx="563945" cy="239381"/>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024205" y="2987359"/>
            <a:ext cx="64008" cy="6400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03</a:t>
            </a:r>
          </a:p>
        </p:txBody>
      </p:sp>
      <p:sp>
        <p:nvSpPr>
          <p:cNvPr id="25" name="TextBox 24"/>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03</a:t>
            </a:r>
          </a:p>
        </p:txBody>
      </p:sp>
      <p:sp>
        <p:nvSpPr>
          <p:cNvPr id="26" name="TextBox 25"/>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THEOLOGY PROPER: THE DOCTRINE OF GOD</a:t>
            </a:r>
          </a:p>
        </p:txBody>
      </p:sp>
      <p:cxnSp>
        <p:nvCxnSpPr>
          <p:cNvPr id="27" name="Connector 2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being, attributes and triune life of the one true God — the centre of the whole theological edifice.</a:t>
            </a:r>
          </a:p>
        </p:txBody>
      </p:sp>
      <p:sp>
        <p:nvSpPr>
          <p:cNvPr id="29" name="Rectangle 2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41274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03</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THEOLOGY PROPER: THE DOCTRINE OF GOD</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Theology Proper: The Doctrine of God</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Theology proper is the doctrine of God: his existence, his attributes, his works, and the mystery of the trinity of persons in the unity of the Godhead. It is 'proper' in the technical sense that it treats God in himself, before treating his relation to the world.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God is the root and crown of the Christian faith. The creeds begin with God the Father, and the entire confession moves outward from the divine being to creation, redemption and glory. Whatever the Church says about Christ, the Spirit and salvation is controlled by what it says about God.</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Theology proper is the doctrinal centre of the programme: the attributes explained here become the grammar by which every later doctrine — incarnation, atonement, resurrection — is interpreted.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articulate the existence, attributes, sovereignty and triune personhood of God as Scripture and the creeds confess them.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Existence and Self-Revelation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theology confesses that the God of Israel exists, is one, and has spoken. The classical arguments — cosmological, teleological, moral — are offered by the Church as rational aids to belief, but the Christian conviction rests primarily on God's self-revelation: in creation, in the history of Israel, and supremely in Jesus Christ. The divine names of the Old Testament — YHWH, El Shaddai, El Elyon — are not abstract titles but the language of a God who makes himself known and is known. The first words of the Decalogue presuppose the existence of the one true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Revelation as God's self-disclosure, not bare information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classical arguments as aids to belief</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divine names: YHWH ('I AM'), El Shaddai, El Elyon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knowledge of God as the first article of faith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Exodus 3:14</a:t>
            </a:r>
          </a:p>
          <a:p>
            <a:pPr algn="l">
              <a:lnSpc>
                <a:spcPct val="108000"/>
              </a:lnSpc>
              <a:spcBef>
                <a:spcPts val="0"/>
              </a:spcBef>
              <a:spcAft>
                <a:spcPts val="250"/>
              </a:spcAft>
            </a:pPr>
            <a:r>
              <a:rPr sz="1000" b="0" i="1" u="none">
                <a:solidFill>
                  <a:srgbClr val="232A38"/>
                </a:solidFill>
                <a:latin typeface="Calibri"/>
              </a:rPr>
              <a:t>Psalm 19:1-4</a:t>
            </a:r>
          </a:p>
          <a:p>
            <a:pPr algn="l">
              <a:lnSpc>
                <a:spcPct val="108000"/>
              </a:lnSpc>
              <a:spcBef>
                <a:spcPts val="0"/>
              </a:spcBef>
              <a:spcAft>
                <a:spcPts val="250"/>
              </a:spcAft>
            </a:pPr>
            <a:r>
              <a:rPr sz="1000" b="0" i="1" u="none">
                <a:solidFill>
                  <a:srgbClr val="232A38"/>
                </a:solidFill>
                <a:latin typeface="Calibri"/>
              </a:rPr>
              <a:t>Isaiah 43:10</a:t>
            </a:r>
          </a:p>
          <a:p>
            <a:pPr algn="l">
              <a:lnSpc>
                <a:spcPct val="108000"/>
              </a:lnSpc>
              <a:spcBef>
                <a:spcPts val="0"/>
              </a:spcBef>
              <a:spcAft>
                <a:spcPts val="250"/>
              </a:spcAft>
            </a:pPr>
            <a:r>
              <a:rPr sz="1000" b="0" i="1" u="none">
                <a:solidFill>
                  <a:srgbClr val="232A38"/>
                </a:solidFill>
                <a:latin typeface="Calibri"/>
              </a:rPr>
              <a:t>John 1:18</a:t>
            </a:r>
          </a:p>
          <a:p>
            <a:pPr algn="l">
              <a:lnSpc>
                <a:spcPct val="110000"/>
              </a:lnSpc>
              <a:spcBef>
                <a:spcPts val="400"/>
              </a:spcBef>
              <a:spcAft>
                <a:spcPts val="0"/>
              </a:spcAft>
            </a:pPr>
            <a:r>
              <a:rPr sz="950" b="0" i="0" u="none">
                <a:solidFill>
                  <a:srgbClr val="4C566B"/>
                </a:solidFill>
                <a:latin typeface="Calibri"/>
              </a:rPr>
              <a:t>From Anselm to Plantinga, the status of the classical arguments has been debated; the historic position subordinates them to revelation.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God of Christian theology is not a hypothesis but a self-disclosing Person — known, named and approachable.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Incommunicable Attributes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incommunicable attributes distinguish God absolutely from all creatures. Aseity: God is self-existent, depending on nothing but his own nature (Ex 3:14). Eternity: God is without beginning or end (Ps 90:2). Immutability: God is not subject to change in his being, perfections or purposes (Mal 3:6). Omnipresence: God is present everywhere in his power, knowledge and care (Ps 139:7-12). These are not limitations upon the infinite God but the perfection of his freedom: he needs nothing, is independent of all, and is everywhere at home.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Aseity — self-existence (actus purus in the scholastic language)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Eternity — timelessness or endless duration, the major interpretations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Immutability — constancy of character, not emotional inactivity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Omnipresence — ubiquity of presence in creation and beyond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Exodus 3:14</a:t>
            </a:r>
          </a:p>
          <a:p>
            <a:pPr algn="l">
              <a:lnSpc>
                <a:spcPct val="108000"/>
              </a:lnSpc>
              <a:spcBef>
                <a:spcPts val="0"/>
              </a:spcBef>
              <a:spcAft>
                <a:spcPts val="250"/>
              </a:spcAft>
            </a:pPr>
            <a:r>
              <a:rPr sz="1000" b="0" i="1" u="none">
                <a:solidFill>
                  <a:srgbClr val="232A38"/>
                </a:solidFill>
                <a:latin typeface="Calibri"/>
              </a:rPr>
              <a:t>Psalm 90:2</a:t>
            </a:r>
          </a:p>
          <a:p>
            <a:pPr algn="l">
              <a:lnSpc>
                <a:spcPct val="108000"/>
              </a:lnSpc>
              <a:spcBef>
                <a:spcPts val="0"/>
              </a:spcBef>
              <a:spcAft>
                <a:spcPts val="250"/>
              </a:spcAft>
            </a:pPr>
            <a:r>
              <a:rPr sz="1000" b="0" i="1" u="none">
                <a:solidFill>
                  <a:srgbClr val="232A38"/>
                </a:solidFill>
                <a:latin typeface="Calibri"/>
              </a:rPr>
              <a:t>Malachi 3:6</a:t>
            </a:r>
          </a:p>
          <a:p>
            <a:pPr algn="l">
              <a:lnSpc>
                <a:spcPct val="108000"/>
              </a:lnSpc>
              <a:spcBef>
                <a:spcPts val="0"/>
              </a:spcBef>
              <a:spcAft>
                <a:spcPts val="250"/>
              </a:spcAft>
            </a:pPr>
            <a:r>
              <a:rPr sz="1000" b="0" i="1" u="none">
                <a:solidFill>
                  <a:srgbClr val="232A38"/>
                </a:solidFill>
                <a:latin typeface="Calibri"/>
              </a:rPr>
              <a:t>Psalm 139:7-12</a:t>
            </a:r>
          </a:p>
          <a:p>
            <a:pPr algn="l">
              <a:lnSpc>
                <a:spcPct val="110000"/>
              </a:lnSpc>
              <a:spcBef>
                <a:spcPts val="400"/>
              </a:spcBef>
              <a:spcAft>
                <a:spcPts val="0"/>
              </a:spcAft>
            </a:pPr>
            <a:r>
              <a:rPr sz="950" b="0" i="0" u="none">
                <a:solidFill>
                  <a:srgbClr val="4C566B"/>
                </a:solidFill>
                <a:latin typeface="Calibri"/>
              </a:rPr>
              <a:t>Aquinas's doctrine of pure act and the Reformed emphasis on divine simplicity both guard God's transcendence.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incommunicable attributes answer 'What is God like?' — a God who needs nothing, changes in nothing and is everywhere present.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Communicable Attributes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029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communicable attributes are those in which creatures bear a finite likeness to God. Omniscience: God knows all things, actual and possible (Ps 139:4). Omnipotence: God can do all that is consistent with his nature and purpose (Gen 18:14). Holiness: God is other than, and morally perfect above, all creatures (Isa 6:3). Love: God is love in the fullest biblical sense — self-giving, covenantal, the ground of redemption (1 John 4:8). Faithfulness, justice and truth complete the set, showing that God's character is not merely powerful but personally trustworthy.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Omniscience — including the range of divine foreknowledge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Omnipotence — power consistent with God's holy nature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Holiness — moral perfection and transcendent otherness (qadosh)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Love — agape as the self-giving ground of covenant and redemption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139:4</a:t>
            </a:r>
          </a:p>
          <a:p>
            <a:pPr algn="l">
              <a:lnSpc>
                <a:spcPct val="108000"/>
              </a:lnSpc>
              <a:spcBef>
                <a:spcPts val="0"/>
              </a:spcBef>
              <a:spcAft>
                <a:spcPts val="250"/>
              </a:spcAft>
            </a:pPr>
            <a:r>
              <a:rPr sz="1000" b="0" i="1" u="none">
                <a:solidFill>
                  <a:srgbClr val="232A38"/>
                </a:solidFill>
                <a:latin typeface="Calibri"/>
              </a:rPr>
              <a:t>Isaiah 46:9-10</a:t>
            </a:r>
          </a:p>
          <a:p>
            <a:pPr algn="l">
              <a:lnSpc>
                <a:spcPct val="108000"/>
              </a:lnSpc>
              <a:spcBef>
                <a:spcPts val="0"/>
              </a:spcBef>
              <a:spcAft>
                <a:spcPts val="250"/>
              </a:spcAft>
            </a:pPr>
            <a:r>
              <a:rPr sz="1000" b="0" i="1" u="none">
                <a:solidFill>
                  <a:srgbClr val="232A38"/>
                </a:solidFill>
                <a:latin typeface="Calibri"/>
              </a:rPr>
              <a:t>Isaiah 6:3</a:t>
            </a:r>
          </a:p>
          <a:p>
            <a:pPr algn="l">
              <a:lnSpc>
                <a:spcPct val="108000"/>
              </a:lnSpc>
              <a:spcBef>
                <a:spcPts val="0"/>
              </a:spcBef>
              <a:spcAft>
                <a:spcPts val="250"/>
              </a:spcAft>
            </a:pPr>
            <a:r>
              <a:rPr sz="1000" b="0" i="1" u="none">
                <a:solidFill>
                  <a:srgbClr val="232A38"/>
                </a:solidFill>
                <a:latin typeface="Calibri"/>
              </a:rPr>
              <a:t>1 John 4:8</a:t>
            </a:r>
          </a:p>
          <a:p>
            <a:pPr algn="l">
              <a:lnSpc>
                <a:spcPct val="110000"/>
              </a:lnSpc>
              <a:spcBef>
                <a:spcPts val="400"/>
              </a:spcBef>
              <a:spcAft>
                <a:spcPts val="0"/>
              </a:spcAft>
            </a:pPr>
            <a:r>
              <a:rPr sz="950" b="0" i="0" u="none">
                <a:solidFill>
                  <a:srgbClr val="4C566B"/>
                </a:solidFill>
                <a:latin typeface="Calibri"/>
              </a:rPr>
              <a:t>The image of God (imago Dei) is the creaturely reflection of these attributes — the foundation of the doctrine of man.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In the communicable attributes creation bears, in limited form, the signature of its Creator.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Sovereignty and Divine Decree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sovereignty of God means that he is the supreme ruler over all things, and that nothing happens except by his will or permission. The doctrine of the decree holds that God, from eternity, has ordained whatever comes to pass, not by blind fate but by the free, wise and holy counsel of his own will (Eph 1:11; Acts 4:27-28). The decree is the ground of God's providence over all events, including the fall and the redemption it made necessary. The doctrine safeguards the unity of history under God while he remains the only Author of sin.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Sovereignty: God as supreme ruler over all events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decree: ordination of all that comes to pass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decree and the permission of sin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and purpose of history under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1:11</a:t>
            </a:r>
          </a:p>
          <a:p>
            <a:pPr algn="l">
              <a:lnSpc>
                <a:spcPct val="108000"/>
              </a:lnSpc>
              <a:spcBef>
                <a:spcPts val="0"/>
              </a:spcBef>
              <a:spcAft>
                <a:spcPts val="250"/>
              </a:spcAft>
            </a:pPr>
            <a:r>
              <a:rPr sz="1000" b="0" i="1" u="none">
                <a:solidFill>
                  <a:srgbClr val="232A38"/>
                </a:solidFill>
                <a:latin typeface="Calibri"/>
              </a:rPr>
              <a:t>Acts 4:27-28</a:t>
            </a:r>
          </a:p>
          <a:p>
            <a:pPr algn="l">
              <a:lnSpc>
                <a:spcPct val="108000"/>
              </a:lnSpc>
              <a:spcBef>
                <a:spcPts val="0"/>
              </a:spcBef>
              <a:spcAft>
                <a:spcPts val="250"/>
              </a:spcAft>
            </a:pPr>
            <a:r>
              <a:rPr sz="1000" b="0" i="1" u="none">
                <a:solidFill>
                  <a:srgbClr val="232A38"/>
                </a:solidFill>
                <a:latin typeface="Calibri"/>
              </a:rPr>
              <a:t>Isaiah 46:10</a:t>
            </a:r>
          </a:p>
          <a:p>
            <a:pPr algn="l">
              <a:lnSpc>
                <a:spcPct val="108000"/>
              </a:lnSpc>
              <a:spcBef>
                <a:spcPts val="0"/>
              </a:spcBef>
              <a:spcAft>
                <a:spcPts val="250"/>
              </a:spcAft>
            </a:pPr>
            <a:r>
              <a:rPr sz="1000" b="0" i="1" u="none">
                <a:solidFill>
                  <a:srgbClr val="232A38"/>
                </a:solidFill>
                <a:latin typeface="Calibri"/>
              </a:rPr>
              <a:t>Proverbs 16:33</a:t>
            </a:r>
          </a:p>
          <a:p>
            <a:pPr algn="l">
              <a:lnSpc>
                <a:spcPct val="110000"/>
              </a:lnSpc>
              <a:spcBef>
                <a:spcPts val="400"/>
              </a:spcBef>
              <a:spcAft>
                <a:spcPts val="0"/>
              </a:spcAft>
            </a:pPr>
            <a:r>
              <a:rPr sz="950" b="0" i="0" u="none">
                <a:solidFill>
                  <a:srgbClr val="4C566B"/>
                </a:solidFill>
                <a:latin typeface="Calibri"/>
              </a:rPr>
              <a:t>The decree was the centre of the Reformed confessions (Westminster, Canons of Dort) and of the Arminian controversy.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All history unfolds under the wise, holy and free decree of the sovereign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Omniscience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God's omniscience means that he knows all things: the past, the present and the future; all facts, all possibilities, and the inward thoughts of the heart (Ps 139:1-4). The doctrine raises the classic questions of the extent of divine foreknowledge, the relation of foreknowledge to human freedom, and the so-called 'middle knowledge' of some scholastics. The biblical witness is plain that nothing is hidden from the Lord's eye, and that his knowledge of the future is certain. Christian doctrine affirms that God's foreknowledge does not destroy human responsibility but is exercised within his sovereign decree.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Omniscience: all actual and possible things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Divine foreknowledge and its certainty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relation of foreknowledge to human freedom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scholastic doctrine of middle knowledge (scientia media)</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139:1-4</a:t>
            </a:r>
          </a:p>
          <a:p>
            <a:pPr algn="l">
              <a:lnSpc>
                <a:spcPct val="108000"/>
              </a:lnSpc>
              <a:spcBef>
                <a:spcPts val="0"/>
              </a:spcBef>
              <a:spcAft>
                <a:spcPts val="250"/>
              </a:spcAft>
            </a:pPr>
            <a:r>
              <a:rPr sz="1000" b="0" i="1" u="none">
                <a:solidFill>
                  <a:srgbClr val="232A38"/>
                </a:solidFill>
                <a:latin typeface="Calibri"/>
              </a:rPr>
              <a:t>Isaiah 46:9-10</a:t>
            </a:r>
          </a:p>
          <a:p>
            <a:pPr algn="l">
              <a:lnSpc>
                <a:spcPct val="108000"/>
              </a:lnSpc>
              <a:spcBef>
                <a:spcPts val="0"/>
              </a:spcBef>
              <a:spcAft>
                <a:spcPts val="250"/>
              </a:spcAft>
            </a:pPr>
            <a:r>
              <a:rPr sz="1000" b="0" i="1" u="none">
                <a:solidFill>
                  <a:srgbClr val="232A38"/>
                </a:solidFill>
                <a:latin typeface="Calibri"/>
              </a:rPr>
              <a:t>Hebrews 4:13</a:t>
            </a:r>
          </a:p>
          <a:p>
            <a:pPr algn="l">
              <a:lnSpc>
                <a:spcPct val="108000"/>
              </a:lnSpc>
              <a:spcBef>
                <a:spcPts val="0"/>
              </a:spcBef>
              <a:spcAft>
                <a:spcPts val="250"/>
              </a:spcAft>
            </a:pPr>
            <a:r>
              <a:rPr sz="1000" b="0" i="1" u="none">
                <a:solidFill>
                  <a:srgbClr val="232A38"/>
                </a:solidFill>
                <a:latin typeface="Calibri"/>
              </a:rPr>
              <a:t>Proverbs 5:21</a:t>
            </a:r>
          </a:p>
          <a:p>
            <a:pPr algn="l">
              <a:lnSpc>
                <a:spcPct val="110000"/>
              </a:lnSpc>
              <a:spcBef>
                <a:spcPts val="400"/>
              </a:spcBef>
              <a:spcAft>
                <a:spcPts val="0"/>
              </a:spcAft>
            </a:pPr>
            <a:r>
              <a:rPr sz="950" b="0" i="0" u="none">
                <a:solidFill>
                  <a:srgbClr val="4C566B"/>
                </a:solidFill>
                <a:latin typeface="Calibri"/>
              </a:rPr>
              <a:t>Molinism (Luis de Molina, 1580) sought to reconcile foreknowledge and freedom via middle knowledge.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knows all things certainly; his foreknowledge is the foundation of his sure guidance of all events.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Omnipotence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God's omnipotence means that he is able to do all that he wills, and all that is consistent with his nature. The omnipotence of God is not the power to do what is logically absurd or what is contrary to his own holy character (he cannot lie, Acts 1:9; he cannot sin, Jam 1:13). Rather, it is the power to accomplish everything his wise and good purposes require. The Scripture sets the bounds: 'Is anything too hard for the Lord?' (Gen 18:14). Creation, preservation, redemption and the final consummation are the great displays of a power that is infinite, unhindered, and exercised in freedom and wisdom.</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Omnipotence as power consistent with God's nature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impossibility of logical absurdity and moral evil in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Creation, preservation and redemption as displays of power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freedom and wisdom that qualify the exercise of power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18:14</a:t>
            </a:r>
          </a:p>
          <a:p>
            <a:pPr algn="l">
              <a:lnSpc>
                <a:spcPct val="108000"/>
              </a:lnSpc>
              <a:spcBef>
                <a:spcPts val="0"/>
              </a:spcBef>
              <a:spcAft>
                <a:spcPts val="250"/>
              </a:spcAft>
            </a:pPr>
            <a:r>
              <a:rPr sz="1000" b="0" i="1" u="none">
                <a:solidFill>
                  <a:srgbClr val="232A38"/>
                </a:solidFill>
                <a:latin typeface="Calibri"/>
              </a:rPr>
              <a:t>Jeremiah 32:17</a:t>
            </a:r>
          </a:p>
          <a:p>
            <a:pPr algn="l">
              <a:lnSpc>
                <a:spcPct val="108000"/>
              </a:lnSpc>
              <a:spcBef>
                <a:spcPts val="0"/>
              </a:spcBef>
              <a:spcAft>
                <a:spcPts val="250"/>
              </a:spcAft>
            </a:pPr>
            <a:r>
              <a:rPr sz="1000" b="0" i="1" u="none">
                <a:solidFill>
                  <a:srgbClr val="232A38"/>
                </a:solidFill>
                <a:latin typeface="Calibri"/>
              </a:rPr>
              <a:t>Revelation 19:1</a:t>
            </a:r>
          </a:p>
          <a:p>
            <a:pPr algn="l">
              <a:lnSpc>
                <a:spcPct val="108000"/>
              </a:lnSpc>
              <a:spcBef>
                <a:spcPts val="0"/>
              </a:spcBef>
              <a:spcAft>
                <a:spcPts val="250"/>
              </a:spcAft>
            </a:pPr>
            <a:r>
              <a:rPr sz="1000" b="0" i="1" u="none">
                <a:solidFill>
                  <a:srgbClr val="232A38"/>
                </a:solidFill>
                <a:latin typeface="Calibri"/>
              </a:rPr>
              <a:t>Hebrews 11:3</a:t>
            </a:r>
          </a:p>
          <a:p>
            <a:pPr algn="l">
              <a:lnSpc>
                <a:spcPct val="110000"/>
              </a:lnSpc>
              <a:spcBef>
                <a:spcPts val="400"/>
              </a:spcBef>
              <a:spcAft>
                <a:spcPts val="0"/>
              </a:spcAft>
            </a:pPr>
            <a:r>
              <a:rPr sz="950" b="0" i="0" u="none">
                <a:solidFill>
                  <a:srgbClr val="4C566B"/>
                </a:solidFill>
                <a:latin typeface="Calibri"/>
              </a:rPr>
              <a:t>The 'omnipotence paradox' (can God make a stone he cannot lift?) is a linguistic confusion, not a real limit on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is able to do all that his holy, wise purposes require; his power is infinite and unhindered.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Omnipresence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God's omnipresence means that he is present in all places at all times. This is not a pantheistic diffusion of God into nature, but the presence of the personal God everywhere by his knowledge, power and care (Ps 139:7-12; Jer 23:23-24). The doctrine has three aspects: God's essence fills all things, his knowledge observes all things, and his power acts upon all things. Yet Scripture also speaks of God's special, indwelling presence with his people — in the tabernacle, in the temple, and in the believer by the Spirit — which is a presence of favour distinct from mere ubiquity.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Omnipresence: essence, knowledge and power in all places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from pantheistic immanence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special presence of God with his covenant people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presence of the Spirit in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139:7-12</a:t>
            </a:r>
          </a:p>
          <a:p>
            <a:pPr algn="l">
              <a:lnSpc>
                <a:spcPct val="108000"/>
              </a:lnSpc>
              <a:spcBef>
                <a:spcPts val="0"/>
              </a:spcBef>
              <a:spcAft>
                <a:spcPts val="250"/>
              </a:spcAft>
            </a:pPr>
            <a:r>
              <a:rPr sz="1000" b="0" i="1" u="none">
                <a:solidFill>
                  <a:srgbClr val="232A38"/>
                </a:solidFill>
                <a:latin typeface="Calibri"/>
              </a:rPr>
              <a:t>Jeremiah 23:23-24</a:t>
            </a:r>
          </a:p>
          <a:p>
            <a:pPr algn="l">
              <a:lnSpc>
                <a:spcPct val="108000"/>
              </a:lnSpc>
              <a:spcBef>
                <a:spcPts val="0"/>
              </a:spcBef>
              <a:spcAft>
                <a:spcPts val="250"/>
              </a:spcAft>
            </a:pPr>
            <a:r>
              <a:rPr sz="1000" b="0" i="1" u="none">
                <a:solidFill>
                  <a:srgbClr val="232A38"/>
                </a:solidFill>
                <a:latin typeface="Calibri"/>
              </a:rPr>
              <a:t>Acts 17:27-28</a:t>
            </a:r>
          </a:p>
          <a:p>
            <a:pPr algn="l">
              <a:lnSpc>
                <a:spcPct val="108000"/>
              </a:lnSpc>
              <a:spcBef>
                <a:spcPts val="0"/>
              </a:spcBef>
              <a:spcAft>
                <a:spcPts val="250"/>
              </a:spcAft>
            </a:pPr>
            <a:r>
              <a:rPr sz="1000" b="0" i="1" u="none">
                <a:solidFill>
                  <a:srgbClr val="232A38"/>
                </a:solidFill>
                <a:latin typeface="Calibri"/>
              </a:rPr>
              <a:t>1 Kings 8:27</a:t>
            </a:r>
          </a:p>
          <a:p>
            <a:pPr algn="l">
              <a:lnSpc>
                <a:spcPct val="110000"/>
              </a:lnSpc>
              <a:spcBef>
                <a:spcPts val="400"/>
              </a:spcBef>
              <a:spcAft>
                <a:spcPts val="0"/>
              </a:spcAft>
            </a:pPr>
            <a:r>
              <a:rPr sz="950" b="0" i="0" u="none">
                <a:solidFill>
                  <a:srgbClr val="4C566B"/>
                </a:solidFill>
                <a:latin typeface="Calibri"/>
              </a:rPr>
              <a:t>The debate over the relation of God's presence to the material world shaped the doctrines of transubstantiation and of the Lord's Supper.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is everywhere by his presence, yet specially present to his people in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Eternity and Immutability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God's eternity means that he exists without beginning, end or succession; he is 'the Amen, the faithful and true Witness' (Rev 21:5) and his is 'the life that was with the Father' (John 1:2). Whether eternity is best understood as timelessness (the Boethian 'whole and perfect possession of endless life') or as endless duration is a live question, but both affirm that God is not subject to time as creatures are. God's immutability means that he does not change in his being, perfections, purposes or promises (Mal 3:6; Num 23:19). This does not make him a frozen abstraction; the unchangeable God acts, responds and loves with perfect constancy.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Eternity: without beginning, end or succession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Boethian definition: whole and perfect possession of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Immutability: constancy in being, perfections and purposes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relation of immutability to divine action and response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90:2</a:t>
            </a:r>
          </a:p>
          <a:p>
            <a:pPr algn="l">
              <a:lnSpc>
                <a:spcPct val="108000"/>
              </a:lnSpc>
              <a:spcBef>
                <a:spcPts val="0"/>
              </a:spcBef>
              <a:spcAft>
                <a:spcPts val="250"/>
              </a:spcAft>
            </a:pPr>
            <a:r>
              <a:rPr sz="1000" b="0" i="1" u="none">
                <a:solidFill>
                  <a:srgbClr val="232A38"/>
                </a:solidFill>
                <a:latin typeface="Calibri"/>
              </a:rPr>
              <a:t>Malachi 3:6</a:t>
            </a:r>
          </a:p>
          <a:p>
            <a:pPr algn="l">
              <a:lnSpc>
                <a:spcPct val="108000"/>
              </a:lnSpc>
              <a:spcBef>
                <a:spcPts val="0"/>
              </a:spcBef>
              <a:spcAft>
                <a:spcPts val="250"/>
              </a:spcAft>
            </a:pPr>
            <a:r>
              <a:rPr sz="1000" b="0" i="1" u="none">
                <a:solidFill>
                  <a:srgbClr val="232A38"/>
                </a:solidFill>
                <a:latin typeface="Calibri"/>
              </a:rPr>
              <a:t>Numbers 23:19</a:t>
            </a:r>
          </a:p>
          <a:p>
            <a:pPr algn="l">
              <a:lnSpc>
                <a:spcPct val="108000"/>
              </a:lnSpc>
              <a:spcBef>
                <a:spcPts val="0"/>
              </a:spcBef>
              <a:spcAft>
                <a:spcPts val="250"/>
              </a:spcAft>
            </a:pPr>
            <a:r>
              <a:rPr sz="1000" b="0" i="1" u="none">
                <a:solidFill>
                  <a:srgbClr val="232A38"/>
                </a:solidFill>
                <a:latin typeface="Calibri"/>
              </a:rPr>
              <a:t>Revelation 21:5</a:t>
            </a:r>
          </a:p>
          <a:p>
            <a:pPr algn="l">
              <a:lnSpc>
                <a:spcPct val="110000"/>
              </a:lnSpc>
              <a:spcBef>
                <a:spcPts val="400"/>
              </a:spcBef>
              <a:spcAft>
                <a:spcPts val="0"/>
              </a:spcAft>
            </a:pPr>
            <a:r>
              <a:rPr sz="950" b="0" i="0" u="none">
                <a:solidFill>
                  <a:srgbClr val="4C566B"/>
                </a:solidFill>
                <a:latin typeface="Calibri"/>
              </a:rPr>
              <a:t>Boethius's Consolation of Philosophy gave the classic definition of eternity; Aquinas developed it in the Summa.</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eternal, immutable God is the sure foundation of every promise and the unshakable ground of the believer's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Holiness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Holiness (qadosh) is the attribute that sets God above all else and marks him as wholly other. It has two aspects: in itself, God's separation from all creatures and from all sin; and in relation, his transcendent purity and moral perfection. The seraphim cry 'Holy, holy, holy' (Isa 6:3), and Isaiah's encounter with the holy God is the root of his own sense of sin. Holiness is the ground of the moral law and the standard of all ethics: 'Be holy, for I am holy' (1 Pet 1:16). It is also the attribute that most clearly distinguishes the triune God from the many gods of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Qadosh: separateness and moral purity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twofold aspect: in itself and in relation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Holiness as the ground of the moral law</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call to holiness in the people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6:3</a:t>
            </a:r>
          </a:p>
          <a:p>
            <a:pPr algn="l">
              <a:lnSpc>
                <a:spcPct val="108000"/>
              </a:lnSpc>
              <a:spcBef>
                <a:spcPts val="0"/>
              </a:spcBef>
              <a:spcAft>
                <a:spcPts val="250"/>
              </a:spcAft>
            </a:pPr>
            <a:r>
              <a:rPr sz="1000" b="0" i="1" u="none">
                <a:solidFill>
                  <a:srgbClr val="232A38"/>
                </a:solidFill>
                <a:latin typeface="Calibri"/>
              </a:rPr>
              <a:t>1 Peter 1:15-16</a:t>
            </a:r>
          </a:p>
          <a:p>
            <a:pPr algn="l">
              <a:lnSpc>
                <a:spcPct val="108000"/>
              </a:lnSpc>
              <a:spcBef>
                <a:spcPts val="0"/>
              </a:spcBef>
              <a:spcAft>
                <a:spcPts val="250"/>
              </a:spcAft>
            </a:pPr>
            <a:r>
              <a:rPr sz="1000" b="0" i="1" u="none">
                <a:solidFill>
                  <a:srgbClr val="232A38"/>
                </a:solidFill>
                <a:latin typeface="Calibri"/>
              </a:rPr>
              <a:t>Leviticus 19:2</a:t>
            </a:r>
          </a:p>
          <a:p>
            <a:pPr algn="l">
              <a:lnSpc>
                <a:spcPct val="108000"/>
              </a:lnSpc>
              <a:spcBef>
                <a:spcPts val="0"/>
              </a:spcBef>
              <a:spcAft>
                <a:spcPts val="250"/>
              </a:spcAft>
            </a:pPr>
            <a:r>
              <a:rPr sz="1000" b="0" i="1" u="none">
                <a:solidFill>
                  <a:srgbClr val="232A38"/>
                </a:solidFill>
                <a:latin typeface="Calibri"/>
              </a:rPr>
              <a:t>Habakkuk 1:12</a:t>
            </a:r>
          </a:p>
          <a:p>
            <a:pPr algn="l">
              <a:lnSpc>
                <a:spcPct val="110000"/>
              </a:lnSpc>
              <a:spcBef>
                <a:spcPts val="400"/>
              </a:spcBef>
              <a:spcAft>
                <a:spcPts val="0"/>
              </a:spcAft>
            </a:pPr>
            <a:r>
              <a:rPr sz="950" b="0" i="0" u="none">
                <a:solidFill>
                  <a:srgbClr val="4C566B"/>
                </a:solidFill>
                <a:latin typeface="Calibri"/>
              </a:rPr>
              <a:t>The holiness movement of the nineteenth century and the modern emphasis on holiness in evangelism trace directly to this attribute.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God's holiness sets him above all, is the standard of all morality, and is the ground of the call to be holy.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Love and Goodness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God is love (1 John 4:8) — not merely loving, but love itself in the fullest biblical sense. His love is self-giving (agape), the ground of the covenant, the motive of creation and the cause of redemption. It is demonstrated in the sending of the Son (John 3:16) and in the gift of the Spirit. God's goodness is his love expressed in all his dealings: he is good to all, the source of every good gift (Jam 1:17), and his goodness is the ground of both the natural order and the moral life. The two attributes are the positive side of the same reality: a God who is personal, near, and for his creatures.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Agape: self-giving, covenantal love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Love as the ground of creation and redemption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Goodness: the source of every good gift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demonstration of love in the sending of the Son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John 4:8-10</a:t>
            </a:r>
          </a:p>
          <a:p>
            <a:pPr algn="l">
              <a:lnSpc>
                <a:spcPct val="108000"/>
              </a:lnSpc>
              <a:spcBef>
                <a:spcPts val="0"/>
              </a:spcBef>
              <a:spcAft>
                <a:spcPts val="250"/>
              </a:spcAft>
            </a:pPr>
            <a:r>
              <a:rPr sz="1000" b="0" i="1" u="none">
                <a:solidFill>
                  <a:srgbClr val="232A38"/>
                </a:solidFill>
                <a:latin typeface="Calibri"/>
              </a:rPr>
              <a:t>John 3:16</a:t>
            </a:r>
          </a:p>
          <a:p>
            <a:pPr algn="l">
              <a:lnSpc>
                <a:spcPct val="108000"/>
              </a:lnSpc>
              <a:spcBef>
                <a:spcPts val="0"/>
              </a:spcBef>
              <a:spcAft>
                <a:spcPts val="250"/>
              </a:spcAft>
            </a:pPr>
            <a:r>
              <a:rPr sz="1000" b="0" i="1" u="none">
                <a:solidFill>
                  <a:srgbClr val="232A38"/>
                </a:solidFill>
                <a:latin typeface="Calibri"/>
              </a:rPr>
              <a:t>Romans 5:8</a:t>
            </a:r>
          </a:p>
          <a:p>
            <a:pPr algn="l">
              <a:lnSpc>
                <a:spcPct val="108000"/>
              </a:lnSpc>
              <a:spcBef>
                <a:spcPts val="0"/>
              </a:spcBef>
              <a:spcAft>
                <a:spcPts val="250"/>
              </a:spcAft>
            </a:pPr>
            <a:r>
              <a:rPr sz="1000" b="0" i="1" u="none">
                <a:solidFill>
                  <a:srgbClr val="232A38"/>
                </a:solidFill>
                <a:latin typeface="Calibri"/>
              </a:rPr>
              <a:t>James 1:17</a:t>
            </a:r>
          </a:p>
          <a:p>
            <a:pPr algn="l">
              <a:lnSpc>
                <a:spcPct val="110000"/>
              </a:lnSpc>
              <a:spcBef>
                <a:spcPts val="400"/>
              </a:spcBef>
              <a:spcAft>
                <a:spcPts val="0"/>
              </a:spcAft>
            </a:pPr>
            <a:r>
              <a:rPr sz="950" b="0" i="0" u="none">
                <a:solidFill>
                  <a:srgbClr val="4C566B"/>
                </a:solidFill>
                <a:latin typeface="Calibri"/>
              </a:rPr>
              <a:t>The Johannine 'God is love' and the Pauline 'love of God in Christ' are the scriptural anchors of the doctrine.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is love itself; his self-giving love is the motive of all his works and the ground of all blessing.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Justice, Truth and Faithfulness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God's justice means that he is perfectly right in all his dealings, rewarding good and punishing evil with exacting fairness. His truth means that he is the standard of all reality and that his word is reliable — 'God is not a man, that he should lie' (Num 23:19). His faithfulness means that he keeps his covenant promises and remains constant to his people across the generations (Lam 3:22-23; 1 Cor 1:9). These three attributes together guarantee that the moral order is secure, that Scripture can be trusted, and that the believer's hope is certain. They are the attributes on which the law, the gospel and the eschatological hope all depend.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Justice: perfect rightness in all dealings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Truth: God as the standard of reality and of his word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Faithfulness: constancy to the covenant promises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three together as the ground of law, gospel and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Numbers 23:19</a:t>
            </a:r>
          </a:p>
          <a:p>
            <a:pPr algn="l">
              <a:lnSpc>
                <a:spcPct val="108000"/>
              </a:lnSpc>
              <a:spcBef>
                <a:spcPts val="0"/>
              </a:spcBef>
              <a:spcAft>
                <a:spcPts val="250"/>
              </a:spcAft>
            </a:pPr>
            <a:r>
              <a:rPr sz="1000" b="0" i="1" u="none">
                <a:solidFill>
                  <a:srgbClr val="232A38"/>
                </a:solidFill>
                <a:latin typeface="Calibri"/>
              </a:rPr>
              <a:t>Lamentations 3:22-23</a:t>
            </a:r>
          </a:p>
          <a:p>
            <a:pPr algn="l">
              <a:lnSpc>
                <a:spcPct val="108000"/>
              </a:lnSpc>
              <a:spcBef>
                <a:spcPts val="0"/>
              </a:spcBef>
              <a:spcAft>
                <a:spcPts val="250"/>
              </a:spcAft>
            </a:pPr>
            <a:r>
              <a:rPr sz="1000" b="0" i="1" u="none">
                <a:solidFill>
                  <a:srgbClr val="232A38"/>
                </a:solidFill>
                <a:latin typeface="Calibri"/>
              </a:rPr>
              <a:t>1 Corinthians 1:9</a:t>
            </a:r>
          </a:p>
          <a:p>
            <a:pPr algn="l">
              <a:lnSpc>
                <a:spcPct val="108000"/>
              </a:lnSpc>
              <a:spcBef>
                <a:spcPts val="0"/>
              </a:spcBef>
              <a:spcAft>
                <a:spcPts val="250"/>
              </a:spcAft>
            </a:pPr>
            <a:r>
              <a:rPr sz="1000" b="0" i="1" u="none">
                <a:solidFill>
                  <a:srgbClr val="232A38"/>
                </a:solidFill>
                <a:latin typeface="Calibri"/>
              </a:rPr>
              <a:t>Psalm 89:8</a:t>
            </a:r>
          </a:p>
          <a:p>
            <a:pPr algn="l">
              <a:lnSpc>
                <a:spcPct val="110000"/>
              </a:lnSpc>
              <a:spcBef>
                <a:spcPts val="400"/>
              </a:spcBef>
              <a:spcAft>
                <a:spcPts val="0"/>
              </a:spcAft>
            </a:pPr>
            <a:r>
              <a:rPr sz="950" b="0" i="0" u="none">
                <a:solidFill>
                  <a:srgbClr val="4C566B"/>
                </a:solidFill>
                <a:latin typeface="Calibri"/>
              </a:rPr>
              <a:t>The Reformed confessions stress divine faithfulness as the ground of the assurance of the covenant.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God's justice, truth and faithfulness make the moral order secure and the believer's hope certain.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the Trinity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the Trinity confesses that there is one God in three co-equal, co-eternal persons: Father, Son and Holy Spirit. The unity of the Godhead is absolute — there is one divine essence, not three gods — and the distinction of the persons is real, not merely modal. The persons are distinct in their relations of origin (the Father begets the Son, the Spirit proceeds) but equal in essence, power and glory. The doctrine is not a speculative addition but the Church's confession of what Scripture reveals: the one God who acts as Father, Son and Spirit. It is the great mystery of the Christian faith, guarded by the creeds.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One essence (ousia), three persons (hypostases)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relations of origin: begotten and proceeding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from modalism, sabellianism and tritheism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Trinity as the confession of the one acting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28:19</a:t>
            </a:r>
          </a:p>
          <a:p>
            <a:pPr algn="l">
              <a:lnSpc>
                <a:spcPct val="108000"/>
              </a:lnSpc>
              <a:spcBef>
                <a:spcPts val="0"/>
              </a:spcBef>
              <a:spcAft>
                <a:spcPts val="250"/>
              </a:spcAft>
            </a:pPr>
            <a:r>
              <a:rPr sz="1000" b="0" i="1" u="none">
                <a:solidFill>
                  <a:srgbClr val="232A38"/>
                </a:solidFill>
                <a:latin typeface="Calibri"/>
              </a:rPr>
              <a:t>2 Corinthians 13:14</a:t>
            </a:r>
          </a:p>
          <a:p>
            <a:pPr algn="l">
              <a:lnSpc>
                <a:spcPct val="108000"/>
              </a:lnSpc>
              <a:spcBef>
                <a:spcPts val="0"/>
              </a:spcBef>
              <a:spcAft>
                <a:spcPts val="250"/>
              </a:spcAft>
            </a:pPr>
            <a:r>
              <a:rPr sz="1000" b="0" i="1" u="none">
                <a:solidFill>
                  <a:srgbClr val="232A38"/>
                </a:solidFill>
                <a:latin typeface="Calibri"/>
              </a:rPr>
              <a:t>John 1:1-2</a:t>
            </a:r>
          </a:p>
          <a:p>
            <a:pPr algn="l">
              <a:lnSpc>
                <a:spcPct val="108000"/>
              </a:lnSpc>
              <a:spcBef>
                <a:spcPts val="0"/>
              </a:spcBef>
              <a:spcAft>
                <a:spcPts val="250"/>
              </a:spcAft>
            </a:pPr>
            <a:r>
              <a:rPr sz="1000" b="0" i="1" u="none">
                <a:solidFill>
                  <a:srgbClr val="232A38"/>
                </a:solidFill>
                <a:latin typeface="Calibri"/>
              </a:rPr>
              <a:t>Matthew 3:16-17</a:t>
            </a:r>
          </a:p>
          <a:p>
            <a:pPr algn="l">
              <a:lnSpc>
                <a:spcPct val="110000"/>
              </a:lnSpc>
              <a:spcBef>
                <a:spcPts val="400"/>
              </a:spcBef>
              <a:spcAft>
                <a:spcPts val="0"/>
              </a:spcAft>
            </a:pPr>
            <a:r>
              <a:rPr sz="950" b="0" i="0" u="none">
                <a:solidFill>
                  <a:srgbClr val="4C566B"/>
                </a:solidFill>
                <a:latin typeface="Calibri"/>
              </a:rPr>
              <a:t>The doctrine was defined at Nicaea (325) and Constantinople (381) against Arianism and other heresies.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Trinity is the one God — Father, Son and Spirit — confessed as the ground of all Christian doctrine and worship.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Biblical Basis of the Doctrine of the Trinity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039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the Trinity is not found in a single proof-text but is the necessary interpretation of the whole of Scripture. The Old Testament affirms the one God while speaking in ways that anticipate the persons (the plural 'let us make,' Gen 1:26; the Angel of the LORD; the Spirit as a distinct agent). The New Testament is explicit: the Father sends the Son, the Son is worshipped as God, the Spirit is called Lord and God, and the three are named together in the baptismal formula and the benedictions. The Church's task was not to invent the Trinity but to give doctrinal form to what the apostles confessed. The doctrine is thus biblical, not merely creational.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Old Testament one-God with anticipations of the persons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New Testament explicitness: Father, Son, Spirit named together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divine titles of the Son and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creed as the confession of what Scripture reveals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1:26</a:t>
            </a:r>
          </a:p>
          <a:p>
            <a:pPr algn="l">
              <a:lnSpc>
                <a:spcPct val="108000"/>
              </a:lnSpc>
              <a:spcBef>
                <a:spcPts val="0"/>
              </a:spcBef>
              <a:spcAft>
                <a:spcPts val="250"/>
              </a:spcAft>
            </a:pPr>
            <a:r>
              <a:rPr sz="1000" b="0" i="1" u="none">
                <a:solidFill>
                  <a:srgbClr val="232A38"/>
                </a:solidFill>
                <a:latin typeface="Calibri"/>
              </a:rPr>
              <a:t>Matthew 3:16-17</a:t>
            </a:r>
          </a:p>
          <a:p>
            <a:pPr algn="l">
              <a:lnSpc>
                <a:spcPct val="108000"/>
              </a:lnSpc>
              <a:spcBef>
                <a:spcPts val="0"/>
              </a:spcBef>
              <a:spcAft>
                <a:spcPts val="250"/>
              </a:spcAft>
            </a:pPr>
            <a:r>
              <a:rPr sz="1000" b="0" i="1" u="none">
                <a:solidFill>
                  <a:srgbClr val="232A38"/>
                </a:solidFill>
                <a:latin typeface="Calibri"/>
              </a:rPr>
              <a:t>John 1:1</a:t>
            </a:r>
          </a:p>
          <a:p>
            <a:pPr algn="l">
              <a:lnSpc>
                <a:spcPct val="108000"/>
              </a:lnSpc>
              <a:spcBef>
                <a:spcPts val="0"/>
              </a:spcBef>
              <a:spcAft>
                <a:spcPts val="250"/>
              </a:spcAft>
            </a:pPr>
            <a:r>
              <a:rPr sz="1000" b="0" i="1" u="none">
                <a:solidFill>
                  <a:srgbClr val="232A38"/>
                </a:solidFill>
                <a:latin typeface="Calibri"/>
              </a:rPr>
              <a:t>Acts 5:3-4</a:t>
            </a:r>
          </a:p>
          <a:p>
            <a:pPr algn="l">
              <a:lnSpc>
                <a:spcPct val="110000"/>
              </a:lnSpc>
              <a:spcBef>
                <a:spcPts val="400"/>
              </a:spcBef>
              <a:spcAft>
                <a:spcPts val="0"/>
              </a:spcAft>
            </a:pPr>
            <a:r>
              <a:rPr sz="950" b="0" i="0" u="none">
                <a:solidFill>
                  <a:srgbClr val="4C566B"/>
                </a:solidFill>
                <a:latin typeface="Calibri"/>
              </a:rPr>
              <a:t>The Trinitarian formula of the Great Commission and the Johannine prologue are the classic New Testament anchors.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Trinity is the doctrine forced upon the Church by the totality of Scripture's witness to the one God in three persons.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God the Father: The First Person of the Trinity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Father is the first person of the Trinity, the unbegotten source from whom the Son is eternally begotten and the Spirit proceeds. He is 'Father' not in the sense of a mere originator but as the personal, loving source of all — the Father of Jesus Christ and, in Christ, of all believers. The Old Testament presents him as Creator, Covenant-God, Judge and King; the New Testament reveals him as the Father who gives the Son and the Spirit to those who believe. To know the Father is the goal of all theology and the privilege of the child of God (John 14:7-9; Eph 1:3-6).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Father as unbegotten source of the Godhead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Father as personal, loving source, not mere originator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Father as Creator, Covenant-God, Judge and King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Knowing the Father as the goal of theology and the privilege of the child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14:7-9</a:t>
            </a:r>
          </a:p>
          <a:p>
            <a:pPr algn="l">
              <a:lnSpc>
                <a:spcPct val="108000"/>
              </a:lnSpc>
              <a:spcBef>
                <a:spcPts val="0"/>
              </a:spcBef>
              <a:spcAft>
                <a:spcPts val="250"/>
              </a:spcAft>
            </a:pPr>
            <a:r>
              <a:rPr sz="1000" b="0" i="1" u="none">
                <a:solidFill>
                  <a:srgbClr val="232A38"/>
                </a:solidFill>
                <a:latin typeface="Calibri"/>
              </a:rPr>
              <a:t>Ephesians 1:3-6</a:t>
            </a:r>
          </a:p>
          <a:p>
            <a:pPr algn="l">
              <a:lnSpc>
                <a:spcPct val="108000"/>
              </a:lnSpc>
              <a:spcBef>
                <a:spcPts val="0"/>
              </a:spcBef>
              <a:spcAft>
                <a:spcPts val="250"/>
              </a:spcAft>
            </a:pPr>
            <a:r>
              <a:rPr sz="1000" b="0" i="1" u="none">
                <a:solidFill>
                  <a:srgbClr val="232A38"/>
                </a:solidFill>
                <a:latin typeface="Calibri"/>
              </a:rPr>
              <a:t>Malachi 1:6</a:t>
            </a:r>
          </a:p>
          <a:p>
            <a:pPr algn="l">
              <a:lnSpc>
                <a:spcPct val="108000"/>
              </a:lnSpc>
              <a:spcBef>
                <a:spcPts val="0"/>
              </a:spcBef>
              <a:spcAft>
                <a:spcPts val="250"/>
              </a:spcAft>
            </a:pPr>
            <a:r>
              <a:rPr sz="1000" b="0" i="1" u="none">
                <a:solidFill>
                  <a:srgbClr val="232A38"/>
                </a:solidFill>
                <a:latin typeface="Calibri"/>
              </a:rPr>
              <a:t>1 John 3:1</a:t>
            </a:r>
          </a:p>
          <a:p>
            <a:pPr algn="l">
              <a:lnSpc>
                <a:spcPct val="110000"/>
              </a:lnSpc>
              <a:spcBef>
                <a:spcPts val="400"/>
              </a:spcBef>
              <a:spcAft>
                <a:spcPts val="0"/>
              </a:spcAft>
            </a:pPr>
            <a:r>
              <a:rPr sz="950" b="0" i="0" u="none">
                <a:solidFill>
                  <a:srgbClr val="4C566B"/>
                </a:solidFill>
                <a:latin typeface="Calibri"/>
              </a:rPr>
              <a:t>The Father is named first in the baptismal formula and in the benedictions, reflecting the order of the persons.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Father is the source and goal of all: the one who gives the Son and the Spirit and to whom all things are reconciled.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03  ·  THEOLOGY PROPER: THE DOCTRINE OF GOD</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The Attributes of God: One Nature, Two Classes</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43000" y="1847088"/>
            <a:ext cx="4206240" cy="420624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28799" y="2532888"/>
            <a:ext cx="2834640" cy="283464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77439" y="3081528"/>
            <a:ext cx="1737360" cy="1737360"/>
          </a:xfrm>
          <a:prstGeom prst="ellipse">
            <a:avLst/>
          </a:prstGeom>
          <a:noFill/>
          <a:ln w="2032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587752" y="3291840"/>
            <a:ext cx="1316736" cy="1316736"/>
          </a:xfrm>
          <a:prstGeom prst="ellipse">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3447288"/>
            <a:ext cx="1828800" cy="1005840"/>
          </a:xfrm>
          <a:prstGeom prst="rect">
            <a:avLst/>
          </a:prstGeom>
          <a:noFill/>
        </p:spPr>
        <p:txBody>
          <a:bodyPr wrap="square" anchor="ctr" lIns="0" rIns="0" tIns="0" bIns="0">
            <a:spAutoFit/>
          </a:bodyPr>
          <a:lstStyle/>
          <a:p>
            <a:pPr algn="ctr">
              <a:lnSpc>
                <a:spcPct val="100000"/>
              </a:lnSpc>
              <a:spcBef>
                <a:spcPts val="0"/>
              </a:spcBef>
              <a:spcAft>
                <a:spcPts val="100"/>
              </a:spcAft>
            </a:pPr>
            <a:r>
              <a:rPr sz="850" b="1" i="0" u="none" spc="150">
                <a:solidFill>
                  <a:srgbClr val="E6D3A3"/>
                </a:solidFill>
                <a:latin typeface="Calibri Light"/>
              </a:rPr>
              <a:t>THE</a:t>
            </a:r>
          </a:p>
          <a:p>
            <a:pPr algn="ctr">
              <a:lnSpc>
                <a:spcPct val="100000"/>
              </a:lnSpc>
              <a:spcBef>
                <a:spcPts val="0"/>
              </a:spcBef>
              <a:spcAft>
                <a:spcPts val="100"/>
              </a:spcAft>
            </a:pPr>
            <a:r>
              <a:rPr sz="1300" b="1" i="0" u="none">
                <a:solidFill>
                  <a:srgbClr val="FFFFFF"/>
                </a:solidFill>
                <a:latin typeface="Palatino Linotype"/>
              </a:rPr>
              <a:t>DIVINE</a:t>
            </a:r>
          </a:p>
          <a:p>
            <a:pPr algn="ctr">
              <a:lnSpc>
                <a:spcPct val="100000"/>
              </a:lnSpc>
              <a:spcBef>
                <a:spcPts val="0"/>
              </a:spcBef>
              <a:spcAft>
                <a:spcPts val="0"/>
              </a:spcAft>
            </a:pPr>
            <a:r>
              <a:rPr sz="1300" b="1" i="0" u="none">
                <a:solidFill>
                  <a:srgbClr val="FFFFFF"/>
                </a:solidFill>
                <a:latin typeface="Palatino Linotype"/>
              </a:rPr>
              <a:t>NATURE</a:t>
            </a:r>
          </a:p>
        </p:txBody>
      </p:sp>
      <p:cxnSp>
        <p:nvCxnSpPr>
          <p:cNvPr id="12" name="Connector 11"/>
          <p:cNvCxnSpPr/>
          <p:nvPr/>
        </p:nvCxnSpPr>
        <p:spPr>
          <a:xfrm flipV="1">
            <a:off x="3246120" y="2651760"/>
            <a:ext cx="0" cy="38404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195827" y="248259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196596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Omniscience</a:t>
            </a:r>
          </a:p>
        </p:txBody>
      </p:sp>
      <p:cxnSp>
        <p:nvCxnSpPr>
          <p:cNvPr id="15" name="Connector 14"/>
          <p:cNvCxnSpPr/>
          <p:nvPr/>
        </p:nvCxnSpPr>
        <p:spPr>
          <a:xfrm flipV="1">
            <a:off x="4038013" y="3300984"/>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423263" y="319125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87755" y="267462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Omnipotence</a:t>
            </a:r>
          </a:p>
        </p:txBody>
      </p:sp>
      <p:cxnSp>
        <p:nvCxnSpPr>
          <p:cNvPr id="18" name="Connector 17"/>
          <p:cNvCxnSpPr/>
          <p:nvPr/>
        </p:nvCxnSpPr>
        <p:spPr>
          <a:xfrm>
            <a:off x="4038013" y="4407408"/>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423263" y="460857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7755" y="491490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Holiness</a:t>
            </a:r>
          </a:p>
        </p:txBody>
      </p:sp>
      <p:cxnSp>
        <p:nvCxnSpPr>
          <p:cNvPr id="21" name="Connector 20"/>
          <p:cNvCxnSpPr/>
          <p:nvPr/>
        </p:nvCxnSpPr>
        <p:spPr>
          <a:xfrm>
            <a:off x="3246120" y="4864608"/>
            <a:ext cx="0" cy="384048"/>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195827" y="531723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60320" y="562356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Love</a:t>
            </a:r>
          </a:p>
        </p:txBody>
      </p:sp>
      <p:cxnSp>
        <p:nvCxnSpPr>
          <p:cNvPr id="24" name="Connector 23"/>
          <p:cNvCxnSpPr/>
          <p:nvPr/>
        </p:nvCxnSpPr>
        <p:spPr>
          <a:xfrm flipH="1">
            <a:off x="2121631" y="4407408"/>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968392" y="460857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32884" y="491490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Faithfulness</a:t>
            </a:r>
          </a:p>
        </p:txBody>
      </p:sp>
      <p:cxnSp>
        <p:nvCxnSpPr>
          <p:cNvPr id="27" name="Connector 26"/>
          <p:cNvCxnSpPr/>
          <p:nvPr/>
        </p:nvCxnSpPr>
        <p:spPr>
          <a:xfrm flipH="1" flipV="1">
            <a:off x="2121631" y="3300984"/>
            <a:ext cx="332595" cy="192024"/>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968392" y="3191256"/>
            <a:ext cx="100584" cy="100584"/>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32884" y="2674620"/>
            <a:ext cx="137160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E6D3A3"/>
                </a:solidFill>
                <a:latin typeface="Calibri Light"/>
              </a:rPr>
              <a:t>Justice</a:t>
            </a:r>
          </a:p>
        </p:txBody>
      </p:sp>
      <p:sp>
        <p:nvSpPr>
          <p:cNvPr id="30" name="Oval 29"/>
          <p:cNvSpPr/>
          <p:nvPr/>
        </p:nvSpPr>
        <p:spPr>
          <a:xfrm>
            <a:off x="4682958" y="2412785"/>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56010" y="1859573"/>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Aseity</a:t>
            </a:r>
          </a:p>
        </p:txBody>
      </p:sp>
      <p:sp>
        <p:nvSpPr>
          <p:cNvPr id="32" name="Oval 31"/>
          <p:cNvSpPr/>
          <p:nvPr/>
        </p:nvSpPr>
        <p:spPr>
          <a:xfrm>
            <a:off x="1708697" y="2412785"/>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1749" y="1859573"/>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Eternity</a:t>
            </a:r>
          </a:p>
        </p:txBody>
      </p:sp>
      <p:sp>
        <p:nvSpPr>
          <p:cNvPr id="34" name="Oval 33"/>
          <p:cNvSpPr/>
          <p:nvPr/>
        </p:nvSpPr>
        <p:spPr>
          <a:xfrm>
            <a:off x="1708697" y="538704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749" y="5729946"/>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Immutability</a:t>
            </a:r>
          </a:p>
        </p:txBody>
      </p:sp>
      <p:sp>
        <p:nvSpPr>
          <p:cNvPr id="36" name="Oval 35"/>
          <p:cNvSpPr/>
          <p:nvPr/>
        </p:nvSpPr>
        <p:spPr>
          <a:xfrm>
            <a:off x="4682958" y="5387046"/>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56010" y="5729946"/>
            <a:ext cx="1554480" cy="274320"/>
          </a:xfrm>
          <a:prstGeom prst="rect">
            <a:avLst/>
          </a:prstGeom>
          <a:noFill/>
        </p:spPr>
        <p:txBody>
          <a:bodyPr wrap="square" anchor="t" lIns="0" rIns="0" tIns="0" bIns="0">
            <a:spAutoFit/>
          </a:bodyPr>
          <a:lstStyle/>
          <a:p>
            <a:pPr algn="ctr">
              <a:lnSpc>
                <a:spcPct val="100000"/>
              </a:lnSpc>
              <a:spcBef>
                <a:spcPts val="0"/>
              </a:spcBef>
              <a:spcAft>
                <a:spcPts val="0"/>
              </a:spcAft>
            </a:pPr>
            <a:r>
              <a:rPr sz="880" b="1" i="0" u="none" spc="50">
                <a:solidFill>
                  <a:srgbClr val="C9CDD6"/>
                </a:solidFill>
                <a:latin typeface="Calibri Light"/>
              </a:rPr>
              <a:t>Omnipresence</a:t>
            </a:r>
          </a:p>
        </p:txBody>
      </p:sp>
      <p:sp>
        <p:nvSpPr>
          <p:cNvPr id="38" name="TextBox 37"/>
          <p:cNvSpPr txBox="1"/>
          <p:nvPr/>
        </p:nvSpPr>
        <p:spPr>
          <a:xfrm>
            <a:off x="868680" y="5989320"/>
            <a:ext cx="4846320" cy="274320"/>
          </a:xfrm>
          <a:prstGeom prst="rect">
            <a:avLst/>
          </a:prstGeom>
          <a:noFill/>
        </p:spPr>
        <p:txBody>
          <a:bodyPr wrap="square" anchor="t" lIns="0" rIns="0" tIns="0" bIns="0">
            <a:spAutoFit/>
          </a:bodyPr>
          <a:lstStyle/>
          <a:p>
            <a:pPr algn="l">
              <a:lnSpc>
                <a:spcPct val="100000"/>
              </a:lnSpc>
              <a:spcBef>
                <a:spcPts val="0"/>
              </a:spcBef>
              <a:spcAft>
                <a:spcPts val="0"/>
              </a:spcAft>
            </a:pPr>
            <a:r>
              <a:rPr sz="880" b="0" i="0" u="none" spc="80">
                <a:solidFill>
                  <a:srgbClr val="9AA5BC"/>
                </a:solidFill>
                <a:latin typeface="Calibri Light"/>
              </a:rPr>
              <a:t>Inner ring — communicable    ·    Outer ring — incommunicable</a:t>
            </a:r>
          </a:p>
        </p:txBody>
      </p:sp>
      <p:sp>
        <p:nvSpPr>
          <p:cNvPr id="39" name="Rectangle 38"/>
          <p:cNvSpPr/>
          <p:nvPr/>
        </p:nvSpPr>
        <p:spPr>
          <a:xfrm>
            <a:off x="6400800" y="2057400"/>
            <a:ext cx="4967935" cy="196596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400800" y="2057400"/>
            <a:ext cx="496793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620256" y="2231136"/>
            <a:ext cx="4529023"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40">
                <a:solidFill>
                  <a:srgbClr val="E6D3A3"/>
                </a:solidFill>
                <a:latin typeface="Calibri Light"/>
              </a:rPr>
              <a:t>INCOMMUNICABLE ATTRIBUTES</a:t>
            </a:r>
          </a:p>
        </p:txBody>
      </p:sp>
      <p:sp>
        <p:nvSpPr>
          <p:cNvPr id="42" name="TextBox 41"/>
          <p:cNvSpPr txBox="1"/>
          <p:nvPr/>
        </p:nvSpPr>
        <p:spPr>
          <a:xfrm>
            <a:off x="6620256" y="2578608"/>
            <a:ext cx="4529023" cy="1371600"/>
          </a:xfrm>
          <a:prstGeom prst="rect">
            <a:avLst/>
          </a:prstGeom>
          <a:noFill/>
        </p:spPr>
        <p:txBody>
          <a:bodyPr wrap="square" anchor="t" lIns="0" rIns="0" tIns="0" bIns="0">
            <a:spAutoFit/>
          </a:bodyPr>
          <a:lstStyle/>
          <a:p>
            <a:pPr algn="l">
              <a:lnSpc>
                <a:spcPct val="130000"/>
              </a:lnSpc>
              <a:spcBef>
                <a:spcPts val="0"/>
              </a:spcBef>
              <a:spcAft>
                <a:spcPts val="0"/>
              </a:spcAft>
            </a:pPr>
            <a:r>
              <a:rPr sz="1050" b="0" i="0" u="none">
                <a:solidFill>
                  <a:srgbClr val="C9CDD6"/>
                </a:solidFill>
                <a:latin typeface="Calibri"/>
              </a:rPr>
              <a:t>Shared with no creature — they distinguish God absolutely: aseity (self-existence), eternity, immutability, omnipresence.</a:t>
            </a:r>
          </a:p>
          <a:p>
            <a:pPr algn="l">
              <a:lnSpc>
                <a:spcPct val="100000"/>
              </a:lnSpc>
              <a:spcBef>
                <a:spcPts val="600"/>
              </a:spcBef>
              <a:spcAft>
                <a:spcPts val="0"/>
              </a:spcAft>
            </a:pPr>
            <a:r>
              <a:rPr sz="950" b="0" i="1" u="none">
                <a:solidFill>
                  <a:srgbClr val="9AA5BC"/>
                </a:solidFill>
                <a:latin typeface="Calibri"/>
              </a:rPr>
              <a:t>Psalm 90:2 · 1 Timothy 6:16 · James 1:17</a:t>
            </a:r>
          </a:p>
        </p:txBody>
      </p:sp>
      <p:sp>
        <p:nvSpPr>
          <p:cNvPr id="43" name="Rectangle 42"/>
          <p:cNvSpPr/>
          <p:nvPr/>
        </p:nvSpPr>
        <p:spPr>
          <a:xfrm>
            <a:off x="6400800" y="4224528"/>
            <a:ext cx="4967935" cy="196596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6400800" y="4224528"/>
            <a:ext cx="4967935"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620256" y="4398264"/>
            <a:ext cx="4529023"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40">
                <a:solidFill>
                  <a:srgbClr val="E6D3A3"/>
                </a:solidFill>
                <a:latin typeface="Calibri Light"/>
              </a:rPr>
              <a:t>COMMUNICABLE ATTRIBUTES</a:t>
            </a:r>
          </a:p>
        </p:txBody>
      </p:sp>
      <p:sp>
        <p:nvSpPr>
          <p:cNvPr id="46" name="TextBox 45"/>
          <p:cNvSpPr txBox="1"/>
          <p:nvPr/>
        </p:nvSpPr>
        <p:spPr>
          <a:xfrm>
            <a:off x="6620256" y="4745736"/>
            <a:ext cx="4529023" cy="1371600"/>
          </a:xfrm>
          <a:prstGeom prst="rect">
            <a:avLst/>
          </a:prstGeom>
          <a:noFill/>
        </p:spPr>
        <p:txBody>
          <a:bodyPr wrap="square" anchor="t" lIns="0" rIns="0" tIns="0" bIns="0">
            <a:spAutoFit/>
          </a:bodyPr>
          <a:lstStyle/>
          <a:p>
            <a:pPr algn="l">
              <a:lnSpc>
                <a:spcPct val="130000"/>
              </a:lnSpc>
              <a:spcBef>
                <a:spcPts val="0"/>
              </a:spcBef>
              <a:spcAft>
                <a:spcPts val="0"/>
              </a:spcAft>
            </a:pPr>
            <a:r>
              <a:rPr sz="1050" b="0" i="0" u="none">
                <a:solidFill>
                  <a:srgbClr val="C9CDD6"/>
                </a:solidFill>
                <a:latin typeface="Calibri"/>
              </a:rPr>
              <a:t>Manifest in creation and redemption, and reflected in creatures in a limited degree: omniscience, omnipotence, holiness, love, faithfulness, justice.</a:t>
            </a:r>
          </a:p>
          <a:p>
            <a:pPr algn="l">
              <a:lnSpc>
                <a:spcPct val="100000"/>
              </a:lnSpc>
              <a:spcBef>
                <a:spcPts val="600"/>
              </a:spcBef>
              <a:spcAft>
                <a:spcPts val="0"/>
              </a:spcAft>
            </a:pPr>
            <a:r>
              <a:rPr sz="950" b="0" i="1" u="none">
                <a:solidFill>
                  <a:srgbClr val="9AA5BC"/>
                </a:solidFill>
                <a:latin typeface="Calibri"/>
              </a:rPr>
              <a:t>Isaiah 6:3 · 1 John 4:8 · Psalm 8:5-8</a:t>
            </a:r>
          </a:p>
        </p:txBody>
      </p:sp>
      <p:sp>
        <p:nvSpPr>
          <p:cNvPr id="47" name="Rectangle 46"/>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41274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160934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180594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200253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219913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2985515"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3575303"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03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Theology Proper: The Doctrine of God</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God exists, is one, and has spoken — the starting point of all doctrine.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incommunicable attributes define God's transcendence; the communicable attributes his similarity to creation.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God is sovereign, holy, loving, just and true — the ground of law, gospel and hope.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one God is confessed as three co-equal persons: Father, Son and Spirit.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attributes explained here are the grammar of every later module: the incarnation is read by them, salvation is measured by them, and the Church's worship confesses them. The Trinity is the root from which the doctrines of Christ and of the Spirit grow.</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one God in himself, the programme descends to his works in the world: creation, providence and the angelic order.</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04 · Creation, Providence and Angels</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04</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CREATION, PROVIDENCE AND ANGELS</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one God in himself, the programme descends to his works in the world: creation, providence and the angelic order.</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641080" y="3031236"/>
            <a:ext cx="2103120" cy="1133856"/>
          </a:xfrm>
          <a:prstGeom prst="rect">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558784" y="3515868"/>
            <a:ext cx="164592" cy="164592"/>
          </a:xfrm>
          <a:prstGeom prst="ellipse">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661904" y="3515868"/>
            <a:ext cx="164592" cy="164592"/>
          </a:xfrm>
          <a:prstGeom prst="ellipse">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641080" y="3031236"/>
            <a:ext cx="0" cy="113385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744200" y="3031236"/>
            <a:ext cx="0" cy="113385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006840" y="3323844"/>
            <a:ext cx="13716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06840" y="3598164"/>
            <a:ext cx="13716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06840" y="3872484"/>
            <a:ext cx="13716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138160" y="2116836"/>
            <a:ext cx="3108960" cy="2962656"/>
          </a:xfrm>
          <a:prstGeom prst="ellipse">
            <a:avLst/>
          </a:prstGeom>
          <a:noFill/>
          <a:ln w="1016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04</a:t>
            </a:r>
          </a:p>
        </p:txBody>
      </p:sp>
      <p:sp>
        <p:nvSpPr>
          <p:cNvPr id="15" name="TextBox 14"/>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04</a:t>
            </a:r>
          </a:p>
        </p:txBody>
      </p:sp>
      <p:sp>
        <p:nvSpPr>
          <p:cNvPr id="16" name="TextBox 15"/>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CREATION, PROVIDENCE AND ANGELS</a:t>
            </a:r>
          </a:p>
        </p:txBody>
      </p:sp>
      <p:cxnSp>
        <p:nvCxnSpPr>
          <p:cNvPr id="17" name="Connector 1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God's work in making, sustaining and ruling the world, and the unseen order of angels and spirits.</a:t>
            </a:r>
          </a:p>
        </p:txBody>
      </p:sp>
      <p:sp>
        <p:nvSpPr>
          <p:cNvPr id="19" name="Rectangle 1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60934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04</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CREATION, PROVIDENCE AND ANGELS</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Creation, Providence and Angels</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treats God's relation to the world he has made: the doctrine of creation, its good purpose, the doctrine of providence by which God rules all events, the problem of evil, and the doctrine of the unseen order — angels, Satan and the evil spirits.</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Creation theology is the answer to every worldview that reduces the world to matter, chance or self-cause. From Genesis through the Psalms and the New Testament creation and providence are the framework within which redemption is understood: the world is God's, and its history is his story.</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creation grounds the dignity of the natural order and of the human being; the doctrine of providence grounds the Christian's confidence in suffering and in history; the angelic doctrine completes the picture of God's world as a whole.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creation as God's good work, providence as his ruling hand, and the angelic order as part of the created world under God's sovereignty.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Creation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creation confesses that the one true God, by the word of his power, brought the whole universe into being, and that the world derives everything it has — existence, being and good — from him. Creation is both creatio ex nihilo (out of nothing, without pre-existing matter) and creatio continua (the continuous preservation of what has been made). The world is not self-existent, nor is it an emanation of the divine essence, but a free act of God's will and love. The doctrine stands against atheism, pantheism, deism and every form of dualism that places a power beside or above the Creator.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Creatio ex nihilo — creation out of nothing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Creatio continua — the continuous preservation of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world as a free act of God's will and love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doctrine against atheism, pantheism and dualism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1:1</a:t>
            </a:r>
          </a:p>
          <a:p>
            <a:pPr algn="l">
              <a:lnSpc>
                <a:spcPct val="108000"/>
              </a:lnSpc>
              <a:spcBef>
                <a:spcPts val="0"/>
              </a:spcBef>
              <a:spcAft>
                <a:spcPts val="250"/>
              </a:spcAft>
            </a:pPr>
            <a:r>
              <a:rPr sz="1000" b="0" i="1" u="none">
                <a:solidFill>
                  <a:srgbClr val="232A38"/>
                </a:solidFill>
                <a:latin typeface="Calibri"/>
              </a:rPr>
              <a:t>Hebrews 11:3</a:t>
            </a:r>
          </a:p>
          <a:p>
            <a:pPr algn="l">
              <a:lnSpc>
                <a:spcPct val="108000"/>
              </a:lnSpc>
              <a:spcBef>
                <a:spcPts val="0"/>
              </a:spcBef>
              <a:spcAft>
                <a:spcPts val="250"/>
              </a:spcAft>
            </a:pPr>
            <a:r>
              <a:rPr sz="1000" b="0" i="1" u="none">
                <a:solidFill>
                  <a:srgbClr val="232A38"/>
                </a:solidFill>
                <a:latin typeface="Calibri"/>
              </a:rPr>
              <a:t>John 1:3</a:t>
            </a:r>
          </a:p>
          <a:p>
            <a:pPr algn="l">
              <a:lnSpc>
                <a:spcPct val="108000"/>
              </a:lnSpc>
              <a:spcBef>
                <a:spcPts val="0"/>
              </a:spcBef>
              <a:spcAft>
                <a:spcPts val="250"/>
              </a:spcAft>
            </a:pPr>
            <a:r>
              <a:rPr sz="1000" b="0" i="1" u="none">
                <a:solidFill>
                  <a:srgbClr val="232A38"/>
                </a:solidFill>
                <a:latin typeface="Calibri"/>
              </a:rPr>
              <a:t>Colossians 1:16</a:t>
            </a:r>
          </a:p>
          <a:p>
            <a:pPr algn="l">
              <a:lnSpc>
                <a:spcPct val="110000"/>
              </a:lnSpc>
              <a:spcBef>
                <a:spcPts val="400"/>
              </a:spcBef>
              <a:spcAft>
                <a:spcPts val="0"/>
              </a:spcAft>
            </a:pPr>
            <a:r>
              <a:rPr sz="950" b="0" i="0" u="none">
                <a:solidFill>
                  <a:srgbClr val="4C566B"/>
                </a:solidFill>
                <a:latin typeface="Calibri"/>
              </a:rPr>
              <a:t>The doctrine was defined against Gnostic and Manichaean dualisms in the early Church and reaffirmed at the early councils.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world is God's free creation, sustained by his power; it owes its whole being to the Creator.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Days and Modes of Creation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Genesis 1 presents the work of creation in six days, with a seventh day of rest. The 'days' have been understood in several responsible ways: as literal twenty-four-hour days (day-age and framework views offer alternative readings), or as a literary structure that reveals the order and purpose of creation. The modes of creation include the formation of the heavens and earth, the separation and filling of the world, and the crowning work of the creation of man. Whatever the interpretation of the days, the text's primary purpose is theological: to show that the one God, by his word, made an orderly, good world in which man holds a place of honour.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six-day structure and its literary framework</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Literal, day-age and framework interpretations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order: formation and filling of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theological purpose of the creation account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1:1-31</a:t>
            </a:r>
          </a:p>
          <a:p>
            <a:pPr algn="l">
              <a:lnSpc>
                <a:spcPct val="108000"/>
              </a:lnSpc>
              <a:spcBef>
                <a:spcPts val="0"/>
              </a:spcBef>
              <a:spcAft>
                <a:spcPts val="250"/>
              </a:spcAft>
            </a:pPr>
            <a:r>
              <a:rPr sz="1000" b="0" i="1" u="none">
                <a:solidFill>
                  <a:srgbClr val="232A38"/>
                </a:solidFill>
                <a:latin typeface="Calibri"/>
              </a:rPr>
              <a:t>Psalm 33:6-9</a:t>
            </a:r>
          </a:p>
          <a:p>
            <a:pPr algn="l">
              <a:lnSpc>
                <a:spcPct val="108000"/>
              </a:lnSpc>
              <a:spcBef>
                <a:spcPts val="0"/>
              </a:spcBef>
              <a:spcAft>
                <a:spcPts val="250"/>
              </a:spcAft>
            </a:pPr>
            <a:r>
              <a:rPr sz="1000" b="0" i="1" u="none">
                <a:solidFill>
                  <a:srgbClr val="232A38"/>
                </a:solidFill>
                <a:latin typeface="Calibri"/>
              </a:rPr>
              <a:t>Psalm 104</a:t>
            </a:r>
          </a:p>
          <a:p>
            <a:pPr algn="l">
              <a:lnSpc>
                <a:spcPct val="108000"/>
              </a:lnSpc>
              <a:spcBef>
                <a:spcPts val="0"/>
              </a:spcBef>
              <a:spcAft>
                <a:spcPts val="250"/>
              </a:spcAft>
            </a:pPr>
            <a:r>
              <a:rPr sz="1000" b="0" i="1" u="none">
                <a:solidFill>
                  <a:srgbClr val="232A38"/>
                </a:solidFill>
                <a:latin typeface="Calibri"/>
              </a:rPr>
              <a:t>John 1:3</a:t>
            </a:r>
          </a:p>
          <a:p>
            <a:pPr algn="l">
              <a:lnSpc>
                <a:spcPct val="110000"/>
              </a:lnSpc>
              <a:spcBef>
                <a:spcPts val="400"/>
              </a:spcBef>
              <a:spcAft>
                <a:spcPts val="0"/>
              </a:spcAft>
            </a:pPr>
            <a:r>
              <a:rPr sz="950" b="0" i="0" u="none">
                <a:solidFill>
                  <a:srgbClr val="4C566B"/>
                </a:solidFill>
                <a:latin typeface="Calibri"/>
              </a:rPr>
              <a:t>The days of Genesis 1 have been debated from the early Church (Augustine) to the modern debate over evolution.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creation account's chief aim is theological: to reveal the one God who made an orderly, good world and crowned it with man.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Creation, Evolution and the Interpretation of Genesis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relation of the doctrine of creation to the scientific theory of evolution is one of the great questions of modern theology. The responsible Christian position affirms that God is the Creator of all things and that the details of the creative process are not fully revealed. Some Christians accept an old-earth or evolutionary account of the development of nature as the means God used; others hold to a younger earth and a more literal reading of the days. What all confessing Christians affirm is that the soul of man is the direct work of God, and that the world, whatever its developmental history, is God's good creation under his providence.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God as Creator: the non-negotiable confession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open question of the creative process and time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Old-earth, young-earth and evolutionary positions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special creation of the human soul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a:t>
            </a:r>
          </a:p>
          <a:p>
            <a:pPr algn="l">
              <a:lnSpc>
                <a:spcPct val="108000"/>
              </a:lnSpc>
              <a:spcBef>
                <a:spcPts val="0"/>
              </a:spcBef>
              <a:spcAft>
                <a:spcPts val="250"/>
              </a:spcAft>
            </a:pPr>
            <a:r>
              <a:rPr sz="1000" b="0" i="1" u="none">
                <a:solidFill>
                  <a:srgbClr val="232A38"/>
                </a:solidFill>
                <a:latin typeface="Calibri"/>
              </a:rPr>
              <a:t>Psalm 139:13-16</a:t>
            </a:r>
          </a:p>
          <a:p>
            <a:pPr algn="l">
              <a:lnSpc>
                <a:spcPct val="108000"/>
              </a:lnSpc>
              <a:spcBef>
                <a:spcPts val="0"/>
              </a:spcBef>
              <a:spcAft>
                <a:spcPts val="250"/>
              </a:spcAft>
            </a:pPr>
            <a:r>
              <a:rPr sz="1000" b="0" i="1" u="none">
                <a:solidFill>
                  <a:srgbClr val="232A38"/>
                </a:solidFill>
                <a:latin typeface="Calibri"/>
              </a:rPr>
              <a:t>Job 38-41</a:t>
            </a:r>
          </a:p>
          <a:p>
            <a:pPr algn="l">
              <a:lnSpc>
                <a:spcPct val="108000"/>
              </a:lnSpc>
              <a:spcBef>
                <a:spcPts val="0"/>
              </a:spcBef>
              <a:spcAft>
                <a:spcPts val="250"/>
              </a:spcAft>
            </a:pPr>
            <a:r>
              <a:rPr sz="1000" b="0" i="1" u="none">
                <a:solidFill>
                  <a:srgbClr val="232A38"/>
                </a:solidFill>
                <a:latin typeface="Calibri"/>
              </a:rPr>
              <a:t>Acts 17:22-31</a:t>
            </a:r>
          </a:p>
          <a:p>
            <a:pPr algn="l">
              <a:lnSpc>
                <a:spcPct val="110000"/>
              </a:lnSpc>
              <a:spcBef>
                <a:spcPts val="400"/>
              </a:spcBef>
              <a:spcAft>
                <a:spcPts val="0"/>
              </a:spcAft>
            </a:pPr>
            <a:r>
              <a:rPr sz="950" b="0" i="0" u="none">
                <a:solidFill>
                  <a:srgbClr val="4C566B"/>
                </a:solidFill>
                <a:latin typeface="Calibri"/>
              </a:rPr>
              <a:t>The debate intensified after Darwin (1859); the Young Earth Creationist and Old Earth Evangelical responses remain in tension.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All Christians confess God as Creator; they differ on the means and timing, but agree that man's soul is God's special work.</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Goodness and Purpose of Creation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creation account is marked by repeated affirmations that creation is good — 'it was good,' and finally 'it was very good' (Gen 1:31). The world is not a prison, a mistake, or an illusion, but the good work of a good God. Creation has a purpose: it is made for the glory of God and for the dwelling of man, who is set over it in stewardship. The goodness of creation is the ground of the Christian's responsible care for the natural world and of the joy with which the believer receives God's gifts. The doctrine stands against every asceticism that despises the body and every materialism that worships the creature.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Creation as 'very good' — the repeated affirmation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world made for God's glory and man's stewardship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responsible care for the natural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balance against asceticism and materialism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1:31</a:t>
            </a:r>
          </a:p>
          <a:p>
            <a:pPr algn="l">
              <a:lnSpc>
                <a:spcPct val="108000"/>
              </a:lnSpc>
              <a:spcBef>
                <a:spcPts val="0"/>
              </a:spcBef>
              <a:spcAft>
                <a:spcPts val="250"/>
              </a:spcAft>
            </a:pPr>
            <a:r>
              <a:rPr sz="1000" b="0" i="1" u="none">
                <a:solidFill>
                  <a:srgbClr val="232A38"/>
                </a:solidFill>
                <a:latin typeface="Calibri"/>
              </a:rPr>
              <a:t>Psalm 104</a:t>
            </a:r>
          </a:p>
          <a:p>
            <a:pPr algn="l">
              <a:lnSpc>
                <a:spcPct val="108000"/>
              </a:lnSpc>
              <a:spcBef>
                <a:spcPts val="0"/>
              </a:spcBef>
              <a:spcAft>
                <a:spcPts val="250"/>
              </a:spcAft>
            </a:pPr>
            <a:r>
              <a:rPr sz="1000" b="0" i="1" u="none">
                <a:solidFill>
                  <a:srgbClr val="232A38"/>
                </a:solidFill>
                <a:latin typeface="Calibri"/>
              </a:rPr>
              <a:t>Psalm 24:1</a:t>
            </a:r>
          </a:p>
          <a:p>
            <a:pPr algn="l">
              <a:lnSpc>
                <a:spcPct val="108000"/>
              </a:lnSpc>
              <a:spcBef>
                <a:spcPts val="0"/>
              </a:spcBef>
              <a:spcAft>
                <a:spcPts val="250"/>
              </a:spcAft>
            </a:pPr>
            <a:r>
              <a:rPr sz="1000" b="0" i="1" u="none">
                <a:solidFill>
                  <a:srgbClr val="232A38"/>
                </a:solidFill>
                <a:latin typeface="Calibri"/>
              </a:rPr>
              <a:t>1 Timothy 4:4-5</a:t>
            </a:r>
          </a:p>
          <a:p>
            <a:pPr algn="l">
              <a:lnSpc>
                <a:spcPct val="110000"/>
              </a:lnSpc>
              <a:spcBef>
                <a:spcPts val="400"/>
              </a:spcBef>
              <a:spcAft>
                <a:spcPts val="0"/>
              </a:spcAft>
            </a:pPr>
            <a:r>
              <a:rPr sz="950" b="0" i="0" u="none">
                <a:solidFill>
                  <a:srgbClr val="4C566B"/>
                </a:solidFill>
                <a:latin typeface="Calibri"/>
              </a:rPr>
              <a:t>The doctrine of creation's goodness underlies the modern environmental ethics and the theology of stewardship.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Creation is good, purposeful, and entrusted to man; the believer receives it with joy and stewards it with responsibility.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Divine Providence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Providence is the doctrine that God, after creating the world, continuously preserves it, governs it, and directs all things to the end he has purposed (Eph 1:11; Ps 103:19). It is the 'government of God' — not a distant first cause but a present, personal ruler. Providence extends to all events, from the falling of a sparrow to the rise and fall of nations. It is the ground of the Christian's confidence that history is not random but is under God's rule, and that in the end his purposes will be accomplished. The doctrine is the continuing aspect of creation: God does not merely make the world but keeps it in being and orders it to his good end.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Preservation: God keeps the world in being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Government: God directs all events to his purpose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extent of providence over all events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Providence as the ground of confidence in history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1:11</a:t>
            </a:r>
          </a:p>
          <a:p>
            <a:pPr algn="l">
              <a:lnSpc>
                <a:spcPct val="108000"/>
              </a:lnSpc>
              <a:spcBef>
                <a:spcPts val="0"/>
              </a:spcBef>
              <a:spcAft>
                <a:spcPts val="250"/>
              </a:spcAft>
            </a:pPr>
            <a:r>
              <a:rPr sz="1000" b="0" i="1" u="none">
                <a:solidFill>
                  <a:srgbClr val="232A38"/>
                </a:solidFill>
                <a:latin typeface="Calibri"/>
              </a:rPr>
              <a:t>Psalm 103:19</a:t>
            </a:r>
          </a:p>
          <a:p>
            <a:pPr algn="l">
              <a:lnSpc>
                <a:spcPct val="108000"/>
              </a:lnSpc>
              <a:spcBef>
                <a:spcPts val="0"/>
              </a:spcBef>
              <a:spcAft>
                <a:spcPts val="250"/>
              </a:spcAft>
            </a:pPr>
            <a:r>
              <a:rPr sz="1000" b="0" i="1" u="none">
                <a:solidFill>
                  <a:srgbClr val="232A38"/>
                </a:solidFill>
                <a:latin typeface="Calibri"/>
              </a:rPr>
              <a:t>Proverbs 16:33</a:t>
            </a:r>
          </a:p>
          <a:p>
            <a:pPr algn="l">
              <a:lnSpc>
                <a:spcPct val="108000"/>
              </a:lnSpc>
              <a:spcBef>
                <a:spcPts val="0"/>
              </a:spcBef>
              <a:spcAft>
                <a:spcPts val="250"/>
              </a:spcAft>
            </a:pPr>
            <a:r>
              <a:rPr sz="1000" b="0" i="1" u="none">
                <a:solidFill>
                  <a:srgbClr val="232A38"/>
                </a:solidFill>
                <a:latin typeface="Calibri"/>
              </a:rPr>
              <a:t>Acts 17:25-28</a:t>
            </a:r>
          </a:p>
          <a:p>
            <a:pPr algn="l">
              <a:lnSpc>
                <a:spcPct val="110000"/>
              </a:lnSpc>
              <a:spcBef>
                <a:spcPts val="400"/>
              </a:spcBef>
              <a:spcAft>
                <a:spcPts val="0"/>
              </a:spcAft>
            </a:pPr>
            <a:r>
              <a:rPr sz="950" b="0" i="0" u="none">
                <a:solidFill>
                  <a:srgbClr val="4C566B"/>
                </a:solidFill>
                <a:latin typeface="Calibri"/>
              </a:rPr>
              <a:t>The Reformed confessions give the most developed statements of providence, distinguishing God's permitting from his ordering.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does not merely create but continually preserves and governs the world, ordering all things to his good purpose.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Providence, Prayer and Human Responsibility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providence raises the question of the relation of God's rule to human action and prayer. Providence does not abolish human responsibility; rather, God works through the free actions of his creatures. Prayer is not a means of informing or changing God but a means by which God ordains to accomplish what he has purposed. The Reformed doctrine holds that God ordains both the end and the means, and that prayer is one of the means he has appointed. Human responsibility is real — men are the authors of their own acts — yet all events, including human acts, are under God's sovereign governance. The two are held together without either being absorbed into the other.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God works through the free actions of creatures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Prayer as an ordained means, not a change in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Human responsibility as real authorship of acts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holding together of sovereignty and responsibility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Jeremiah 1:5</a:t>
            </a:r>
          </a:p>
          <a:p>
            <a:pPr algn="l">
              <a:lnSpc>
                <a:spcPct val="108000"/>
              </a:lnSpc>
              <a:spcBef>
                <a:spcPts val="0"/>
              </a:spcBef>
              <a:spcAft>
                <a:spcPts val="250"/>
              </a:spcAft>
            </a:pPr>
            <a:r>
              <a:rPr sz="1000" b="0" i="1" u="none">
                <a:solidFill>
                  <a:srgbClr val="232A38"/>
                </a:solidFill>
                <a:latin typeface="Calibri"/>
              </a:rPr>
              <a:t>Philippians 2:12-13</a:t>
            </a:r>
          </a:p>
          <a:p>
            <a:pPr algn="l">
              <a:lnSpc>
                <a:spcPct val="108000"/>
              </a:lnSpc>
              <a:spcBef>
                <a:spcPts val="0"/>
              </a:spcBef>
              <a:spcAft>
                <a:spcPts val="250"/>
              </a:spcAft>
            </a:pPr>
            <a:r>
              <a:rPr sz="1000" b="0" i="1" u="none">
                <a:solidFill>
                  <a:srgbClr val="232A38"/>
                </a:solidFill>
                <a:latin typeface="Calibri"/>
              </a:rPr>
              <a:t>Acts 2:23</a:t>
            </a:r>
          </a:p>
          <a:p>
            <a:pPr algn="l">
              <a:lnSpc>
                <a:spcPct val="108000"/>
              </a:lnSpc>
              <a:spcBef>
                <a:spcPts val="0"/>
              </a:spcBef>
              <a:spcAft>
                <a:spcPts val="250"/>
              </a:spcAft>
            </a:pPr>
            <a:r>
              <a:rPr sz="1000" b="0" i="1" u="none">
                <a:solidFill>
                  <a:srgbClr val="232A38"/>
                </a:solidFill>
                <a:latin typeface="Calibri"/>
              </a:rPr>
              <a:t>Matthew 6:9-13</a:t>
            </a:r>
          </a:p>
          <a:p>
            <a:pPr algn="l">
              <a:lnSpc>
                <a:spcPct val="110000"/>
              </a:lnSpc>
              <a:spcBef>
                <a:spcPts val="400"/>
              </a:spcBef>
              <a:spcAft>
                <a:spcPts val="0"/>
              </a:spcAft>
            </a:pPr>
            <a:r>
              <a:rPr sz="950" b="0" i="0" u="none">
                <a:solidFill>
                  <a:srgbClr val="4C566B"/>
                </a:solidFill>
                <a:latin typeface="Calibri"/>
              </a:rPr>
              <a:t>The debate over secondary causes and divine concurrence runs from the medieval philosophers to the Reformed confessions.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rules all events, yet works through the free, responsible actions of his creatures, prayer among them.</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Problem of Evil and Suffering</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problem of evil asks how a good, almighty God can permit evil and suffering. The Christian answer has several parts. Evil entered the world through the free revolt of the angels and of man, not from God, who is the only Author of sin. God permits evil to serve his wise and holy purposes, and he limits it, redeems it, and will finally overcome it in the work of Christ. The suffering of the righteous is not a sign of God's absence but the means by which he sanctifies his people and displays the glory of the cross. The answer is ultimately eschatological: evil is real and serious, but it is not the last word, for God will make all things new.</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origin of evil in the free revolt of creatures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God as not the author of sin but its governor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redemptive purpose in suffering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eschatological defeat of evil in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3</a:t>
            </a:r>
          </a:p>
          <a:p>
            <a:pPr algn="l">
              <a:lnSpc>
                <a:spcPct val="108000"/>
              </a:lnSpc>
              <a:spcBef>
                <a:spcPts val="0"/>
              </a:spcBef>
              <a:spcAft>
                <a:spcPts val="250"/>
              </a:spcAft>
            </a:pPr>
            <a:r>
              <a:rPr sz="1000" b="0" i="1" u="none">
                <a:solidFill>
                  <a:srgbClr val="232A38"/>
                </a:solidFill>
                <a:latin typeface="Calibri"/>
              </a:rPr>
              <a:t>Job 1-2, 38-42</a:t>
            </a:r>
          </a:p>
          <a:p>
            <a:pPr algn="l">
              <a:lnSpc>
                <a:spcPct val="108000"/>
              </a:lnSpc>
              <a:spcBef>
                <a:spcPts val="0"/>
              </a:spcBef>
              <a:spcAft>
                <a:spcPts val="250"/>
              </a:spcAft>
            </a:pPr>
            <a:r>
              <a:rPr sz="1000" b="0" i="1" u="none">
                <a:solidFill>
                  <a:srgbClr val="232A38"/>
                </a:solidFill>
                <a:latin typeface="Calibri"/>
              </a:rPr>
              <a:t>Romans 8:18-28</a:t>
            </a:r>
          </a:p>
          <a:p>
            <a:pPr algn="l">
              <a:lnSpc>
                <a:spcPct val="108000"/>
              </a:lnSpc>
              <a:spcBef>
                <a:spcPts val="0"/>
              </a:spcBef>
              <a:spcAft>
                <a:spcPts val="250"/>
              </a:spcAft>
            </a:pPr>
            <a:r>
              <a:rPr sz="1000" b="0" i="1" u="none">
                <a:solidFill>
                  <a:srgbClr val="232A38"/>
                </a:solidFill>
                <a:latin typeface="Calibri"/>
              </a:rPr>
              <a:t>2 Corinthians 4:17-18</a:t>
            </a:r>
          </a:p>
          <a:p>
            <a:pPr algn="l">
              <a:lnSpc>
                <a:spcPct val="110000"/>
              </a:lnSpc>
              <a:spcBef>
                <a:spcPts val="400"/>
              </a:spcBef>
              <a:spcAft>
                <a:spcPts val="0"/>
              </a:spcAft>
            </a:pPr>
            <a:r>
              <a:rPr sz="950" b="0" i="0" u="none">
                <a:solidFill>
                  <a:srgbClr val="4C566B"/>
                </a:solidFill>
                <a:latin typeface="Calibri"/>
              </a:rPr>
              <a:t>The book of Job and the theodicies of Augustine, Leibniz and the Reformed fathers form the classic treatments.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Evil is real but not ultimate; God permits it to serve his holy purposes and will finally overthrow it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the Angelic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Bible teaches that God has created an order of spiritual, intelligent beings — the angels — who serve him and minister to his people. They are personal, incorporeal beings, superior to men in power and knowledge but still creatures, made by God and subject to him. The Scripture speaks of the heavenly host, of the angels who worshipped at the giving of the law, and of the many thousands of angels who attend the throne. The doctrine of the angelic world completes the picture of God's creation as including both the visible and the invisible order, all under the sovereignty of the Creator.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Angels as personal, incorporeal creatures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Their superiority to men in power and knowledge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heavenly host and the worship of the angels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angelic order as part of creation under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103:20</a:t>
            </a:r>
          </a:p>
          <a:p>
            <a:pPr algn="l">
              <a:lnSpc>
                <a:spcPct val="108000"/>
              </a:lnSpc>
              <a:spcBef>
                <a:spcPts val="0"/>
              </a:spcBef>
              <a:spcAft>
                <a:spcPts val="250"/>
              </a:spcAft>
            </a:pPr>
            <a:r>
              <a:rPr sz="1000" b="0" i="1" u="none">
                <a:solidFill>
                  <a:srgbClr val="232A38"/>
                </a:solidFill>
                <a:latin typeface="Calibri"/>
              </a:rPr>
              <a:t>Hebrews 1:14</a:t>
            </a:r>
          </a:p>
          <a:p>
            <a:pPr algn="l">
              <a:lnSpc>
                <a:spcPct val="108000"/>
              </a:lnSpc>
              <a:spcBef>
                <a:spcPts val="0"/>
              </a:spcBef>
              <a:spcAft>
                <a:spcPts val="250"/>
              </a:spcAft>
            </a:pPr>
            <a:r>
              <a:rPr sz="1000" b="0" i="1" u="none">
                <a:solidFill>
                  <a:srgbClr val="232A38"/>
                </a:solidFill>
                <a:latin typeface="Calibri"/>
              </a:rPr>
              <a:t>Colossians 1:16</a:t>
            </a:r>
          </a:p>
          <a:p>
            <a:pPr algn="l">
              <a:lnSpc>
                <a:spcPct val="108000"/>
              </a:lnSpc>
              <a:spcBef>
                <a:spcPts val="0"/>
              </a:spcBef>
              <a:spcAft>
                <a:spcPts val="250"/>
              </a:spcAft>
            </a:pPr>
            <a:r>
              <a:rPr sz="1000" b="0" i="1" u="none">
                <a:solidFill>
                  <a:srgbClr val="232A38"/>
                </a:solidFill>
                <a:latin typeface="Calibri"/>
              </a:rPr>
              <a:t>Daniel 7:9-10</a:t>
            </a:r>
          </a:p>
          <a:p>
            <a:pPr algn="l">
              <a:lnSpc>
                <a:spcPct val="110000"/>
              </a:lnSpc>
              <a:spcBef>
                <a:spcPts val="400"/>
              </a:spcBef>
              <a:spcAft>
                <a:spcPts val="0"/>
              </a:spcAft>
            </a:pPr>
            <a:r>
              <a:rPr sz="950" b="0" i="0" u="none">
                <a:solidFill>
                  <a:srgbClr val="4C566B"/>
                </a:solidFill>
                <a:latin typeface="Calibri"/>
              </a:rPr>
              <a:t>The doctrine of the angels was defined against the Gnostic and Manichaean exaltation of the spiritual powers.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angels are God's spiritual creatures, superior to men yet subject to him, who serve him and minister to his people.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Order of the Angels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049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tradition of the Church, drawing on the Scripture and on the ancient classifications, has spoken of a hierarchy or order of the angels — the seraphim, cherubim, thrones, dominions, virtues, powers, principalities, archangels and angels. The Scripture names the seraphim and cherubim of Isaiah and Ezekiel, and speaks of principalities and powers (Eph 1:21; Col 2:15). The exact structure of the hierarchy is not a matter of dogma, and the responsible theologian treats the nine-order scheme as a useful summary rather than a precise doctrine. What is certain is that the angels are numerous, powerful, and arranged in an order under God, all performing their assigned ministries.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named angels: seraphim, cherubim, archangels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principalities and powers of the epistles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nine-order scheme as summary, not dogma</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number and power of the heavenly host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6:2</a:t>
            </a:r>
          </a:p>
          <a:p>
            <a:pPr algn="l">
              <a:lnSpc>
                <a:spcPct val="108000"/>
              </a:lnSpc>
              <a:spcBef>
                <a:spcPts val="0"/>
              </a:spcBef>
              <a:spcAft>
                <a:spcPts val="250"/>
              </a:spcAft>
            </a:pPr>
            <a:r>
              <a:rPr sz="1000" b="0" i="1" u="none">
                <a:solidFill>
                  <a:srgbClr val="232A38"/>
                </a:solidFill>
                <a:latin typeface="Calibri"/>
              </a:rPr>
              <a:t>Ezekiel 1</a:t>
            </a:r>
          </a:p>
          <a:p>
            <a:pPr algn="l">
              <a:lnSpc>
                <a:spcPct val="108000"/>
              </a:lnSpc>
              <a:spcBef>
                <a:spcPts val="0"/>
              </a:spcBef>
              <a:spcAft>
                <a:spcPts val="250"/>
              </a:spcAft>
            </a:pPr>
            <a:r>
              <a:rPr sz="1000" b="0" i="1" u="none">
                <a:solidFill>
                  <a:srgbClr val="232A38"/>
                </a:solidFill>
                <a:latin typeface="Calibri"/>
              </a:rPr>
              <a:t>Ephesians 1:21</a:t>
            </a:r>
          </a:p>
          <a:p>
            <a:pPr algn="l">
              <a:lnSpc>
                <a:spcPct val="108000"/>
              </a:lnSpc>
              <a:spcBef>
                <a:spcPts val="0"/>
              </a:spcBef>
              <a:spcAft>
                <a:spcPts val="250"/>
              </a:spcAft>
            </a:pPr>
            <a:r>
              <a:rPr sz="1000" b="0" i="1" u="none">
                <a:solidFill>
                  <a:srgbClr val="232A38"/>
                </a:solidFill>
                <a:latin typeface="Calibri"/>
              </a:rPr>
              <a:t>Colossians 2:15</a:t>
            </a:r>
          </a:p>
          <a:p>
            <a:pPr algn="l">
              <a:lnSpc>
                <a:spcPct val="110000"/>
              </a:lnSpc>
              <a:spcBef>
                <a:spcPts val="400"/>
              </a:spcBef>
              <a:spcAft>
                <a:spcPts val="0"/>
              </a:spcAft>
            </a:pPr>
            <a:r>
              <a:rPr sz="950" b="0" i="0" u="none">
                <a:solidFill>
                  <a:srgbClr val="4C566B"/>
                </a:solidFill>
                <a:latin typeface="Calibri"/>
              </a:rPr>
              <a:t>Pseudo-Dionysius's Celestial Hierarchy (c. 500) is the classic source of the nine-order classification.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angels are numerous and powerful, arranged in an order under God, each performing his assigned ministry.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Fall of Satan and the Devil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Bible teaches that Satan, originally a created angel of high rank, rebelled against God and became the chief of the evil spirits. His fall was a free revolt, rooted in pride — 'I will be exalted above the heads of the other stars of God, I will sit upon the mountain of the congregation, I will be like the Most High' (Isa 14:13-14). From that time he has been the adversary of God and his people, the tempter of man and the author of evil in the world. He is a real personal being, not a mere symbol, yet he is a creature, finite and under God's sovereignty, whose power is limited and whose end is certain.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Satan as a created angel who rebelled in pride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His fall as a free, moral revolt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His role as adversary, tempter and author of evil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His finitude and ultimate defeat under God's sovereignty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14:12-15</a:t>
            </a:r>
          </a:p>
          <a:p>
            <a:pPr algn="l">
              <a:lnSpc>
                <a:spcPct val="108000"/>
              </a:lnSpc>
              <a:spcBef>
                <a:spcPts val="0"/>
              </a:spcBef>
              <a:spcAft>
                <a:spcPts val="250"/>
              </a:spcAft>
            </a:pPr>
            <a:r>
              <a:rPr sz="1000" b="0" i="1" u="none">
                <a:solidFill>
                  <a:srgbClr val="232A38"/>
                </a:solidFill>
                <a:latin typeface="Calibri"/>
              </a:rPr>
              <a:t>Ezekiel 28:12-17</a:t>
            </a:r>
          </a:p>
          <a:p>
            <a:pPr algn="l">
              <a:lnSpc>
                <a:spcPct val="108000"/>
              </a:lnSpc>
              <a:spcBef>
                <a:spcPts val="0"/>
              </a:spcBef>
              <a:spcAft>
                <a:spcPts val="250"/>
              </a:spcAft>
            </a:pPr>
            <a:r>
              <a:rPr sz="1000" b="0" i="1" u="none">
                <a:solidFill>
                  <a:srgbClr val="232A38"/>
                </a:solidFill>
                <a:latin typeface="Calibri"/>
              </a:rPr>
              <a:t>Revelation 12:9</a:t>
            </a:r>
          </a:p>
          <a:p>
            <a:pPr algn="l">
              <a:lnSpc>
                <a:spcPct val="108000"/>
              </a:lnSpc>
              <a:spcBef>
                <a:spcPts val="0"/>
              </a:spcBef>
              <a:spcAft>
                <a:spcPts val="250"/>
              </a:spcAft>
            </a:pPr>
            <a:r>
              <a:rPr sz="1000" b="0" i="1" u="none">
                <a:solidFill>
                  <a:srgbClr val="232A38"/>
                </a:solidFill>
                <a:latin typeface="Calibri"/>
              </a:rPr>
              <a:t>1 Timothy 3:6</a:t>
            </a:r>
          </a:p>
          <a:p>
            <a:pPr algn="l">
              <a:lnSpc>
                <a:spcPct val="110000"/>
              </a:lnSpc>
              <a:spcBef>
                <a:spcPts val="400"/>
              </a:spcBef>
              <a:spcAft>
                <a:spcPts val="0"/>
              </a:spcAft>
            </a:pPr>
            <a:r>
              <a:rPr sz="950" b="0" i="0" u="none">
                <a:solidFill>
                  <a:srgbClr val="4C566B"/>
                </a:solidFill>
                <a:latin typeface="Calibri"/>
              </a:rPr>
              <a:t>The identification of the 'Lucifer' of Isaiah 14 with Satan is the traditional, though debated, interpretation.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Satan is a real, fallen angel, the chief of evil spirits, who is finite, under God's sovereignty, and certain to be defeated.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Activity of Evil Spirits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Scripture teaches that the evil spirits, under Satan, are active in the world, tempting men, oppressing the ungodly, and seeking to hinder the work of God. Yet their power is limited: they are subject to God's sovereignty, and their ultimate end is the lake of fire. The believer is not without defence: the armour of God, the authority of the name of Christ, and the power of the Spirit guard him against the wiles of the devil. The doctrine is to be held in balance — the reality of evil spirits is not to be denied, nor is it to be exaggerated into a kind of demonic dualism. The Christian lives under the sovereignty of God, in whom all powers are finally subject.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activity of evil spirits: temptation, oppression, hindrance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Their limited power under God's sovereignty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believer's defence: armour, name, and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balance against denial and against demonic dualism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6:10-18</a:t>
            </a:r>
          </a:p>
          <a:p>
            <a:pPr algn="l">
              <a:lnSpc>
                <a:spcPct val="108000"/>
              </a:lnSpc>
              <a:spcBef>
                <a:spcPts val="0"/>
              </a:spcBef>
              <a:spcAft>
                <a:spcPts val="250"/>
              </a:spcAft>
            </a:pPr>
            <a:r>
              <a:rPr sz="1000" b="0" i="1" u="none">
                <a:solidFill>
                  <a:srgbClr val="232A38"/>
                </a:solidFill>
                <a:latin typeface="Calibri"/>
              </a:rPr>
              <a:t>1 Peter 5:8-9</a:t>
            </a:r>
          </a:p>
          <a:p>
            <a:pPr algn="l">
              <a:lnSpc>
                <a:spcPct val="108000"/>
              </a:lnSpc>
              <a:spcBef>
                <a:spcPts val="0"/>
              </a:spcBef>
              <a:spcAft>
                <a:spcPts val="250"/>
              </a:spcAft>
            </a:pPr>
            <a:r>
              <a:rPr sz="1000" b="0" i="1" u="none">
                <a:solidFill>
                  <a:srgbClr val="232A38"/>
                </a:solidFill>
                <a:latin typeface="Calibri"/>
              </a:rPr>
              <a:t>Job 1-2</a:t>
            </a:r>
          </a:p>
          <a:p>
            <a:pPr algn="l">
              <a:lnSpc>
                <a:spcPct val="108000"/>
              </a:lnSpc>
              <a:spcBef>
                <a:spcPts val="0"/>
              </a:spcBef>
              <a:spcAft>
                <a:spcPts val="250"/>
              </a:spcAft>
            </a:pPr>
            <a:r>
              <a:rPr sz="1000" b="0" i="1" u="none">
                <a:solidFill>
                  <a:srgbClr val="232A38"/>
                </a:solidFill>
                <a:latin typeface="Calibri"/>
              </a:rPr>
              <a:t>Luke 4:1-13</a:t>
            </a:r>
          </a:p>
          <a:p>
            <a:pPr algn="l">
              <a:lnSpc>
                <a:spcPct val="110000"/>
              </a:lnSpc>
              <a:spcBef>
                <a:spcPts val="400"/>
              </a:spcBef>
              <a:spcAft>
                <a:spcPts val="0"/>
              </a:spcAft>
            </a:pPr>
            <a:r>
              <a:rPr sz="950" b="0" i="0" u="none">
                <a:solidFill>
                  <a:srgbClr val="4C566B"/>
                </a:solidFill>
                <a:latin typeface="Calibri"/>
              </a:rPr>
              <a:t>The doctrine of evil spirits is to be held against both rationalist denial and an excessive demonological emphasis.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evil spirits are real but limited; the believer is guarded by God and certain of the final victory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Creation in Relation to the Doctrine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creation brings the doctrine of God to bear upon the world. Creation is the first great work of God, and it reveals his attributes — his power, wisdom, goodness and providential care. The world is the theatre in which God displays his glory and accomplishes his purposes. The doctrine of creation thus grounds the Christian's view of the natural world, of history, and of his own place in it: man is the crown of creation, made in the image of God and set to steward his world. Creation is the context within which the redemptive work of Christ is understood — the reconciliation of all things to God (Col 1:20).</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Creation as the first work revealing God's attributes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world as the theatre of God's glory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as the crown of creation and steward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Creation as the context of redemption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19:1</a:t>
            </a:r>
          </a:p>
          <a:p>
            <a:pPr algn="l">
              <a:lnSpc>
                <a:spcPct val="108000"/>
              </a:lnSpc>
              <a:spcBef>
                <a:spcPts val="0"/>
              </a:spcBef>
              <a:spcAft>
                <a:spcPts val="250"/>
              </a:spcAft>
            </a:pPr>
            <a:r>
              <a:rPr sz="1000" b="0" i="1" u="none">
                <a:solidFill>
                  <a:srgbClr val="232A38"/>
                </a:solidFill>
                <a:latin typeface="Calibri"/>
              </a:rPr>
              <a:t>Psalm 104</a:t>
            </a:r>
          </a:p>
          <a:p>
            <a:pPr algn="l">
              <a:lnSpc>
                <a:spcPct val="108000"/>
              </a:lnSpc>
              <a:spcBef>
                <a:spcPts val="0"/>
              </a:spcBef>
              <a:spcAft>
                <a:spcPts val="250"/>
              </a:spcAft>
            </a:pPr>
            <a:r>
              <a:rPr sz="1000" b="0" i="1" u="none">
                <a:solidFill>
                  <a:srgbClr val="232A38"/>
                </a:solidFill>
                <a:latin typeface="Calibri"/>
              </a:rPr>
              <a:t>Colossians 1:16-20</a:t>
            </a:r>
          </a:p>
          <a:p>
            <a:pPr algn="l">
              <a:lnSpc>
                <a:spcPct val="108000"/>
              </a:lnSpc>
              <a:spcBef>
                <a:spcPts val="0"/>
              </a:spcBef>
              <a:spcAft>
                <a:spcPts val="250"/>
              </a:spcAft>
            </a:pPr>
            <a:r>
              <a:rPr sz="1000" b="0" i="1" u="none">
                <a:solidFill>
                  <a:srgbClr val="232A38"/>
                </a:solidFill>
                <a:latin typeface="Calibri"/>
              </a:rPr>
              <a:t>Genesis 1:26-28</a:t>
            </a:r>
          </a:p>
          <a:p>
            <a:pPr algn="l">
              <a:lnSpc>
                <a:spcPct val="110000"/>
              </a:lnSpc>
              <a:spcBef>
                <a:spcPts val="400"/>
              </a:spcBef>
              <a:spcAft>
                <a:spcPts val="0"/>
              </a:spcAft>
            </a:pPr>
            <a:r>
              <a:rPr sz="950" b="0" i="0" u="none">
                <a:solidFill>
                  <a:srgbClr val="4C566B"/>
                </a:solidFill>
                <a:latin typeface="Calibri"/>
              </a:rPr>
              <a:t>The doctrine of creation is the bridge from theology proper to the doctrines of man and of redemption.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Creation is God's first work, revealing his glory and setting the stage for the redemption accomplished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04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Creation, Providence and Angels</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God created the world freely out of nothing and continues to preserve it.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Creation is good, purposeful, and entrusted to man as steward.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God governs all events by his providence, working through the free, responsible actions of creatures.</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angelic order, including the fallen Satan, is part of creation under God's sovereignty.</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Creation and providence are the context for the doctrines of man and of redemption; the goodness of creation grounds the dignity of the human being, and providence grounds the Christian's confidence in history and in suffering.</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God's work in creation and providence, the programme turns to the crown of creation: the doctrine of man, his image, his fall and his estate.</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05 · The Doctrine of Man</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05</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 DOCTRINE OF MAN</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God's work in creation and providence, the programme turns to the crown of creation: the doctrine of man, his image, his fall and his estate.</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8229600" y="2675534"/>
            <a:ext cx="2926080"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1000" y="2465222"/>
            <a:ext cx="338328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092440" y="4595774"/>
            <a:ext cx="3200400"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909560" y="4824374"/>
            <a:ext cx="3566159"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641080" y="2858414"/>
            <a:ext cx="0" cy="1554480"/>
          </a:xfrm>
          <a:prstGeom prst="line">
            <a:avLst/>
          </a:prstGeom>
          <a:ln w="1524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494776" y="2693822"/>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494776" y="4412894"/>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1" name="Connector 10"/>
          <p:cNvCxnSpPr/>
          <p:nvPr/>
        </p:nvCxnSpPr>
        <p:spPr>
          <a:xfrm>
            <a:off x="9692640" y="2858414"/>
            <a:ext cx="0" cy="1554480"/>
          </a:xfrm>
          <a:prstGeom prst="line">
            <a:avLst/>
          </a:prstGeom>
          <a:ln w="1524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546336" y="2693822"/>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9546336" y="4412894"/>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4" name="Connector 13"/>
          <p:cNvCxnSpPr/>
          <p:nvPr/>
        </p:nvCxnSpPr>
        <p:spPr>
          <a:xfrm>
            <a:off x="10744200" y="2858414"/>
            <a:ext cx="0" cy="1554480"/>
          </a:xfrm>
          <a:prstGeom prst="line">
            <a:avLst/>
          </a:prstGeom>
          <a:ln w="1524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0597896" y="2693822"/>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10597896" y="4412894"/>
            <a:ext cx="292608" cy="182880"/>
          </a:xfrm>
          <a:prstGeom prst="rect">
            <a:avLst/>
          </a:prstGeom>
          <a:noFill/>
          <a:ln w="1143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17" name="Connector 16"/>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05</a:t>
            </a:r>
          </a:p>
        </p:txBody>
      </p:sp>
      <p:sp>
        <p:nvSpPr>
          <p:cNvPr id="19" name="TextBox 18"/>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05</a:t>
            </a:r>
          </a:p>
        </p:txBody>
      </p:sp>
      <p:sp>
        <p:nvSpPr>
          <p:cNvPr id="20" name="TextBox 19"/>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 DOCTRINE OF MAN</a:t>
            </a:r>
          </a:p>
        </p:txBody>
      </p:sp>
      <p:cxnSp>
        <p:nvCxnSpPr>
          <p:cNvPr id="21" name="Connector 20"/>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image of God, the constitution of the human being, the fall, and the estate of sin in which mankind now stands.</a:t>
            </a:r>
          </a:p>
        </p:txBody>
      </p:sp>
      <p:sp>
        <p:nvSpPr>
          <p:cNvPr id="23" name="Rectangle 22"/>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80594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05</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 DOCTRINE OF MAN</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 Doctrine of Man</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man (theological anthropology) treats the nature, origin, constitution, and estate of the human being: his creation in the image of God, his fall into sin, and the condition of the race as a result. It answers the question, 'What is man?' from the standpoint of revelation.</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Anthropology is the pivot between the doctrine of creation and the doctrine of salvation. The dignity of man rests on the image of God; his misery rests on the fall; and both together explain why redemption was needed and why it was given.</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man is the ground of the Christian view of the person, of human dignity, of moral responsibility, and of the need for grace. Every ethic, psychology and social theory ultimately stands or falls on its anthropology.</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man as God made him, as he fell, and as he now is — and so to see the need for the redemption that the later modules will unfold.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Biblical Doctrine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biblical doctrine of man begins with the confession that man is the creature of the one true God, made by his direct act and not by a process of nature. Genesis presents the creation of man as distinct from that of the animals: 'Then the LORD God formed man of the dust of the ground, and breathed into his nostrils the breath of life; and man became a living being' (Gen 2:7). Man is at once a physical being, made of the dust, and a spiritual being, given the breath of God. The Scripture presents man as a unity of body and soul, made in the image of God, set over the world in stewardship, and brought into a covenant relation with his Creator.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as the direct creature of God, distinct from the animals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twofold origin: dust of the ground and breath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as the unity of body and soul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made in the image of God and set as steward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2:7</a:t>
            </a:r>
          </a:p>
          <a:p>
            <a:pPr algn="l">
              <a:lnSpc>
                <a:spcPct val="108000"/>
              </a:lnSpc>
              <a:spcBef>
                <a:spcPts val="0"/>
              </a:spcBef>
              <a:spcAft>
                <a:spcPts val="250"/>
              </a:spcAft>
            </a:pPr>
            <a:r>
              <a:rPr sz="1000" b="0" i="1" u="none">
                <a:solidFill>
                  <a:srgbClr val="232A38"/>
                </a:solidFill>
                <a:latin typeface="Calibri"/>
              </a:rPr>
              <a:t>Genesis 1:26-28</a:t>
            </a:r>
          </a:p>
          <a:p>
            <a:pPr algn="l">
              <a:lnSpc>
                <a:spcPct val="108000"/>
              </a:lnSpc>
              <a:spcBef>
                <a:spcPts val="0"/>
              </a:spcBef>
              <a:spcAft>
                <a:spcPts val="250"/>
              </a:spcAft>
            </a:pPr>
            <a:r>
              <a:rPr sz="1000" b="0" i="1" u="none">
                <a:solidFill>
                  <a:srgbClr val="232A38"/>
                </a:solidFill>
                <a:latin typeface="Calibri"/>
              </a:rPr>
              <a:t>Psalm 8:4-8</a:t>
            </a:r>
          </a:p>
          <a:p>
            <a:pPr algn="l">
              <a:lnSpc>
                <a:spcPct val="108000"/>
              </a:lnSpc>
              <a:spcBef>
                <a:spcPts val="0"/>
              </a:spcBef>
              <a:spcAft>
                <a:spcPts val="250"/>
              </a:spcAft>
            </a:pPr>
            <a:r>
              <a:rPr sz="1000" b="0" i="1" u="none">
                <a:solidFill>
                  <a:srgbClr val="232A38"/>
                </a:solidFill>
                <a:latin typeface="Calibri"/>
              </a:rPr>
              <a:t>Job 31:15</a:t>
            </a:r>
          </a:p>
          <a:p>
            <a:pPr algn="l">
              <a:lnSpc>
                <a:spcPct val="110000"/>
              </a:lnSpc>
              <a:spcBef>
                <a:spcPts val="400"/>
              </a:spcBef>
              <a:spcAft>
                <a:spcPts val="0"/>
              </a:spcAft>
            </a:pPr>
            <a:r>
              <a:rPr sz="950" b="0" i="0" u="none">
                <a:solidFill>
                  <a:srgbClr val="4C566B"/>
                </a:solidFill>
                <a:latin typeface="Calibri"/>
              </a:rPr>
              <a:t>The doctrine of man was defined against the Gnostic devaluation of the body and the Platonic devaluation of matter.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Man is God's special creation, a unity of body and soul, made in his image and set to steward his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Image of God in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image of God (imago Dei) is the distinguishing mark of man among the creatures, and the ground of his dignity. It has been understood in several complementary ways. Substantively, it refers to those attributes in which man resembles God — knowledge, righteousness and holiness (Eph 4:24). Relationally, it refers to man's being made for communion with God and for rule over the world. Functionally, it refers to man's vocation as God's representative and steward on the earth. The image is not a quality that can be fully recovered by human effort; it was marred by the fall and is being restored by the work of Christ (Col 3:10; 2 Cor 3:18).</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Substantive: knowledge, righteousness and holiness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Relational: made for communion with God and rule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Functional: man as God's representative and steward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image marred by the fall and restored by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1:26-27</a:t>
            </a:r>
          </a:p>
          <a:p>
            <a:pPr algn="l">
              <a:lnSpc>
                <a:spcPct val="108000"/>
              </a:lnSpc>
              <a:spcBef>
                <a:spcPts val="0"/>
              </a:spcBef>
              <a:spcAft>
                <a:spcPts val="250"/>
              </a:spcAft>
            </a:pPr>
            <a:r>
              <a:rPr sz="1000" b="0" i="1" u="none">
                <a:solidFill>
                  <a:srgbClr val="232A38"/>
                </a:solidFill>
                <a:latin typeface="Calibri"/>
              </a:rPr>
              <a:t>Genesis 5:1</a:t>
            </a:r>
          </a:p>
          <a:p>
            <a:pPr algn="l">
              <a:lnSpc>
                <a:spcPct val="108000"/>
              </a:lnSpc>
              <a:spcBef>
                <a:spcPts val="0"/>
              </a:spcBef>
              <a:spcAft>
                <a:spcPts val="250"/>
              </a:spcAft>
            </a:pPr>
            <a:r>
              <a:rPr sz="1000" b="0" i="1" u="none">
                <a:solidFill>
                  <a:srgbClr val="232A38"/>
                </a:solidFill>
                <a:latin typeface="Calibri"/>
              </a:rPr>
              <a:t>Ephesians 4:24</a:t>
            </a:r>
          </a:p>
          <a:p>
            <a:pPr algn="l">
              <a:lnSpc>
                <a:spcPct val="108000"/>
              </a:lnSpc>
              <a:spcBef>
                <a:spcPts val="0"/>
              </a:spcBef>
              <a:spcAft>
                <a:spcPts val="250"/>
              </a:spcAft>
            </a:pPr>
            <a:r>
              <a:rPr sz="1000" b="0" i="1" u="none">
                <a:solidFill>
                  <a:srgbClr val="232A38"/>
                </a:solidFill>
                <a:latin typeface="Calibri"/>
              </a:rPr>
              <a:t>Colossians 3:10</a:t>
            </a:r>
          </a:p>
          <a:p>
            <a:pPr algn="l">
              <a:lnSpc>
                <a:spcPct val="110000"/>
              </a:lnSpc>
              <a:spcBef>
                <a:spcPts val="400"/>
              </a:spcBef>
              <a:spcAft>
                <a:spcPts val="0"/>
              </a:spcAft>
            </a:pPr>
            <a:r>
              <a:rPr sz="950" b="0" i="0" u="none">
                <a:solidFill>
                  <a:srgbClr val="4C566B"/>
                </a:solidFill>
                <a:latin typeface="Calibri"/>
              </a:rPr>
              <a:t>The imago Dei is the scriptural foundation of the doctrine of human dignity and of the sanctity of human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image of God is the ground of man's dignity; it was marred by the fall and is being renewed by the work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Composition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Scripture presents man as a unity of body and soul, not as two separate substances joined together. The terms used — body, soul, spirit, heart, mind — describe the one person from different aspects. The traditional views are trichotomism (body, soul, spirit) and dichotomism (body and soul, with 'soul' and 'spirit' used interchangeably for the inner man). The responsible position is that man is one person, physically constituted by the body and spiritually constituted by the soul or spirit, the two being inseparably united in this life and separated only at death. The doctrine guards against both the materialism that reduces man to body and the idealism that reduces him to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as one person, not two substances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terms: body, soul, spirit, heart, mind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Trichotomism and dichotomism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inseparable union of body and soul in this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2:7</a:t>
            </a:r>
          </a:p>
          <a:p>
            <a:pPr algn="l">
              <a:lnSpc>
                <a:spcPct val="108000"/>
              </a:lnSpc>
              <a:spcBef>
                <a:spcPts val="0"/>
              </a:spcBef>
              <a:spcAft>
                <a:spcPts val="250"/>
              </a:spcAft>
            </a:pPr>
            <a:r>
              <a:rPr sz="1000" b="0" i="1" u="none">
                <a:solidFill>
                  <a:srgbClr val="232A38"/>
                </a:solidFill>
                <a:latin typeface="Calibri"/>
              </a:rPr>
              <a:t>1 Thessalonians 5:23</a:t>
            </a:r>
          </a:p>
          <a:p>
            <a:pPr algn="l">
              <a:lnSpc>
                <a:spcPct val="108000"/>
              </a:lnSpc>
              <a:spcBef>
                <a:spcPts val="0"/>
              </a:spcBef>
              <a:spcAft>
                <a:spcPts val="250"/>
              </a:spcAft>
            </a:pPr>
            <a:r>
              <a:rPr sz="1000" b="0" i="1" u="none">
                <a:solidFill>
                  <a:srgbClr val="232A38"/>
                </a:solidFill>
                <a:latin typeface="Calibri"/>
              </a:rPr>
              <a:t>Matthew 10:28</a:t>
            </a:r>
          </a:p>
          <a:p>
            <a:pPr algn="l">
              <a:lnSpc>
                <a:spcPct val="108000"/>
              </a:lnSpc>
              <a:spcBef>
                <a:spcPts val="0"/>
              </a:spcBef>
              <a:spcAft>
                <a:spcPts val="250"/>
              </a:spcAft>
            </a:pPr>
            <a:r>
              <a:rPr sz="1000" b="0" i="1" u="none">
                <a:solidFill>
                  <a:srgbClr val="232A38"/>
                </a:solidFill>
                <a:latin typeface="Calibri"/>
              </a:rPr>
              <a:t>1 Corinthians 7:34</a:t>
            </a:r>
          </a:p>
          <a:p>
            <a:pPr algn="l">
              <a:lnSpc>
                <a:spcPct val="110000"/>
              </a:lnSpc>
              <a:spcBef>
                <a:spcPts val="400"/>
              </a:spcBef>
              <a:spcAft>
                <a:spcPts val="0"/>
              </a:spcAft>
            </a:pPr>
            <a:r>
              <a:rPr sz="950" b="0" i="0" u="none">
                <a:solidFill>
                  <a:srgbClr val="4C566B"/>
                </a:solidFill>
                <a:latin typeface="Calibri"/>
              </a:rPr>
              <a:t>The debate over trichotomism and dichotomism has run through the Church from the early fathers to modern psychology.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Man is one person, a unity of body and soul, the two being inseparably joined in this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Man in the Garden of Eden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Garden of Eden presents man in his original, unfallen estate. Adam was created in the image of God, placed in a perfect environment, and given a vocation and a command. He was set to work the garden and to keep it (Gen 2:15), and he was given the command not to eat of the tree of the knowledge of good and evil (Gen 2:16-17). Adam and Eve were in a state of innocence, in communion with God, and in harmony with one another and with the world. The Eden narrative establishes the original righteousness of man, the reality of the moral law, and the possibility of a genuine fall — for the command presupposes the freedom to obey or to disobey.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created in innocence and in communion with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vocation to work the garden and keep 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command and the tree of the knowledge of good and evil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original righteousness and the possibility of the fall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2:15-17</a:t>
            </a:r>
          </a:p>
          <a:p>
            <a:pPr algn="l">
              <a:lnSpc>
                <a:spcPct val="108000"/>
              </a:lnSpc>
              <a:spcBef>
                <a:spcPts val="0"/>
              </a:spcBef>
              <a:spcAft>
                <a:spcPts val="250"/>
              </a:spcAft>
            </a:pPr>
            <a:r>
              <a:rPr sz="1000" b="0" i="1" u="none">
                <a:solidFill>
                  <a:srgbClr val="232A38"/>
                </a:solidFill>
                <a:latin typeface="Calibri"/>
              </a:rPr>
              <a:t>Genesis 1:28</a:t>
            </a:r>
          </a:p>
          <a:p>
            <a:pPr algn="l">
              <a:lnSpc>
                <a:spcPct val="108000"/>
              </a:lnSpc>
              <a:spcBef>
                <a:spcPts val="0"/>
              </a:spcBef>
              <a:spcAft>
                <a:spcPts val="250"/>
              </a:spcAft>
            </a:pPr>
            <a:r>
              <a:rPr sz="1000" b="0" i="1" u="none">
                <a:solidFill>
                  <a:srgbClr val="232A38"/>
                </a:solidFill>
                <a:latin typeface="Calibri"/>
              </a:rPr>
              <a:t>Genesis 2:24-25</a:t>
            </a:r>
          </a:p>
          <a:p>
            <a:pPr algn="l">
              <a:lnSpc>
                <a:spcPct val="108000"/>
              </a:lnSpc>
              <a:spcBef>
                <a:spcPts val="0"/>
              </a:spcBef>
              <a:spcAft>
                <a:spcPts val="250"/>
              </a:spcAft>
            </a:pPr>
            <a:r>
              <a:rPr sz="1000" b="0" i="1" u="none">
                <a:solidFill>
                  <a:srgbClr val="232A38"/>
                </a:solidFill>
                <a:latin typeface="Calibri"/>
              </a:rPr>
              <a:t>Ecclesiastes 7:29</a:t>
            </a:r>
          </a:p>
          <a:p>
            <a:pPr algn="l">
              <a:lnSpc>
                <a:spcPct val="110000"/>
              </a:lnSpc>
              <a:spcBef>
                <a:spcPts val="400"/>
              </a:spcBef>
              <a:spcAft>
                <a:spcPts val="0"/>
              </a:spcAft>
            </a:pPr>
            <a:r>
              <a:rPr sz="950" b="0" i="0" u="none">
                <a:solidFill>
                  <a:srgbClr val="4C566B"/>
                </a:solidFill>
                <a:latin typeface="Calibri"/>
              </a:rPr>
              <a:t>The Eden narrative is the framework for the doctrine of the covenant of works and of original righteousness.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Adam was created in innocence, in communion with God, and given a vocation and a command that made the fall possible.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Covenant of Works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covenant of works is the name given to the arrangement under which Adam stood in the Garden of Eden. God made a covenant with man, promising life upon obedience and threatening death upon disobedience. Adam was the federal head of the race, and his obedience or disobedience would have affected all his descendants. The covenant of works is not explicitly named in the Scripture but is inferred from the Eden narrative and from the Pauline doctrine of Adam as the head of the old order (Rom 5:12-21; 1 Cor 15:21-22). It establishes the principle of federal headship and explains how the fall of one man could bring sin and death to all.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covenant of works: life for obedience, death for disobedience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Adam as federal head of the 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inference from the Eden narrative and Paul's doctrine of Adam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principle of federal headship</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2:16-17</a:t>
            </a:r>
          </a:p>
          <a:p>
            <a:pPr algn="l">
              <a:lnSpc>
                <a:spcPct val="108000"/>
              </a:lnSpc>
              <a:spcBef>
                <a:spcPts val="0"/>
              </a:spcBef>
              <a:spcAft>
                <a:spcPts val="250"/>
              </a:spcAft>
            </a:pPr>
            <a:r>
              <a:rPr sz="1000" b="0" i="1" u="none">
                <a:solidFill>
                  <a:srgbClr val="232A38"/>
                </a:solidFill>
                <a:latin typeface="Calibri"/>
              </a:rPr>
              <a:t>Genesis 3</a:t>
            </a:r>
          </a:p>
          <a:p>
            <a:pPr algn="l">
              <a:lnSpc>
                <a:spcPct val="108000"/>
              </a:lnSpc>
              <a:spcBef>
                <a:spcPts val="0"/>
              </a:spcBef>
              <a:spcAft>
                <a:spcPts val="250"/>
              </a:spcAft>
            </a:pPr>
            <a:r>
              <a:rPr sz="1000" b="0" i="1" u="none">
                <a:solidFill>
                  <a:srgbClr val="232A38"/>
                </a:solidFill>
                <a:latin typeface="Calibri"/>
              </a:rPr>
              <a:t>Romans 5:12-21</a:t>
            </a:r>
          </a:p>
          <a:p>
            <a:pPr algn="l">
              <a:lnSpc>
                <a:spcPct val="108000"/>
              </a:lnSpc>
              <a:spcBef>
                <a:spcPts val="0"/>
              </a:spcBef>
              <a:spcAft>
                <a:spcPts val="250"/>
              </a:spcAft>
            </a:pPr>
            <a:r>
              <a:rPr sz="1000" b="0" i="1" u="none">
                <a:solidFill>
                  <a:srgbClr val="232A38"/>
                </a:solidFill>
                <a:latin typeface="Calibri"/>
              </a:rPr>
              <a:t>1 Corinthians 15:21-22</a:t>
            </a:r>
          </a:p>
          <a:p>
            <a:pPr algn="l">
              <a:lnSpc>
                <a:spcPct val="110000"/>
              </a:lnSpc>
              <a:spcBef>
                <a:spcPts val="400"/>
              </a:spcBef>
              <a:spcAft>
                <a:spcPts val="0"/>
              </a:spcAft>
            </a:pPr>
            <a:r>
              <a:rPr sz="950" b="0" i="0" u="none">
                <a:solidFill>
                  <a:srgbClr val="4C566B"/>
                </a:solidFill>
                <a:latin typeface="Calibri"/>
              </a:rPr>
              <a:t>The doctrine of the covenant of works was developed in the Reformed scholastics and is a key to the Pauline doctrine of Adam.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covenant of works established Adam as federal head, so that his fall brought sin and death to all his descendants.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Fall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fall of man is the event in which Adam and Eve, under the temptation of the serpent, disobeyed God's command and ate of the forbidden fruit. The serpent's strategy was to cast doubt on God's word and to exalt self — 'You will not surely die' and 'you will be like God' (Gen 3:4-5). Adam and Eve chose to trust themselves rather than God, and in doing so they sinned, were cast out of the garden, and brought upon themselves and their posterity the penalties of the curse. The fall is the origin of the sinful condition of the race, and it is the event that explains the universal reign of sin and death. It is the turning point of human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temptation and the strategy of the serpent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choice to trust self rather than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penalties of the curse upon Adam, Eve and their posterity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fall as the origin of the sinful condition of the race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3</a:t>
            </a:r>
          </a:p>
          <a:p>
            <a:pPr algn="l">
              <a:lnSpc>
                <a:spcPct val="108000"/>
              </a:lnSpc>
              <a:spcBef>
                <a:spcPts val="0"/>
              </a:spcBef>
              <a:spcAft>
                <a:spcPts val="250"/>
              </a:spcAft>
            </a:pPr>
            <a:r>
              <a:rPr sz="1000" b="0" i="1" u="none">
                <a:solidFill>
                  <a:srgbClr val="232A38"/>
                </a:solidFill>
                <a:latin typeface="Calibri"/>
              </a:rPr>
              <a:t>Romans 5:12-14</a:t>
            </a:r>
          </a:p>
          <a:p>
            <a:pPr algn="l">
              <a:lnSpc>
                <a:spcPct val="108000"/>
              </a:lnSpc>
              <a:spcBef>
                <a:spcPts val="0"/>
              </a:spcBef>
              <a:spcAft>
                <a:spcPts val="250"/>
              </a:spcAft>
            </a:pPr>
            <a:r>
              <a:rPr sz="1000" b="0" i="1" u="none">
                <a:solidFill>
                  <a:srgbClr val="232A38"/>
                </a:solidFill>
                <a:latin typeface="Calibri"/>
              </a:rPr>
              <a:t>Romans 3:23</a:t>
            </a:r>
          </a:p>
          <a:p>
            <a:pPr algn="l">
              <a:lnSpc>
                <a:spcPct val="108000"/>
              </a:lnSpc>
              <a:spcBef>
                <a:spcPts val="0"/>
              </a:spcBef>
              <a:spcAft>
                <a:spcPts val="250"/>
              </a:spcAft>
            </a:pPr>
            <a:r>
              <a:rPr sz="1000" b="0" i="1" u="none">
                <a:solidFill>
                  <a:srgbClr val="232A38"/>
                </a:solidFill>
                <a:latin typeface="Calibri"/>
              </a:rPr>
              <a:t>1 Corinthians 15:21-22</a:t>
            </a:r>
          </a:p>
          <a:p>
            <a:pPr algn="l">
              <a:lnSpc>
                <a:spcPct val="110000"/>
              </a:lnSpc>
              <a:spcBef>
                <a:spcPts val="400"/>
              </a:spcBef>
              <a:spcAft>
                <a:spcPts val="0"/>
              </a:spcAft>
            </a:pPr>
            <a:r>
              <a:rPr sz="950" b="0" i="0" u="none">
                <a:solidFill>
                  <a:srgbClr val="4C566B"/>
                </a:solidFill>
                <a:latin typeface="Calibri"/>
              </a:rPr>
              <a:t>The fall is the event that explains the universal reign of sin and death and the need for redemption.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fall was the choice to trust self rather than God; it brought sin and death upon the whole race and explains the need for redemption.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of Sin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059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Sin is the transgression of the law of God (1 John 3:4) — every act, thought or disposition that falls short of or violates the holy will of God. Sin has an object, which is God, and its essence is a turning of the will from God to self. It is at once a personal act and a state of alienation from God. The Scripture describes sin in many ways: as missing the mark (hamartia), as iniquity or crookedness (avedia), as lawlessness (anomia), and as unbelief. Sin is not merely a violation of an external rule but a rebellion against God himself, and it is the root of all the misery and evil in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Sin as the transgression of the law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object of sin is God; its essence is self-turning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Sin as personal act and as state of alienation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biblical vocabulary: hamartia, avedia, anomia</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John 3:4</a:t>
            </a:r>
          </a:p>
          <a:p>
            <a:pPr algn="l">
              <a:lnSpc>
                <a:spcPct val="108000"/>
              </a:lnSpc>
              <a:spcBef>
                <a:spcPts val="0"/>
              </a:spcBef>
              <a:spcAft>
                <a:spcPts val="250"/>
              </a:spcAft>
            </a:pPr>
            <a:r>
              <a:rPr sz="1000" b="0" i="1" u="none">
                <a:solidFill>
                  <a:srgbClr val="232A38"/>
                </a:solidFill>
                <a:latin typeface="Calibri"/>
              </a:rPr>
              <a:t>Romans 3:23</a:t>
            </a:r>
          </a:p>
          <a:p>
            <a:pPr algn="l">
              <a:lnSpc>
                <a:spcPct val="108000"/>
              </a:lnSpc>
              <a:spcBef>
                <a:spcPts val="0"/>
              </a:spcBef>
              <a:spcAft>
                <a:spcPts val="250"/>
              </a:spcAft>
            </a:pPr>
            <a:r>
              <a:rPr sz="1000" b="0" i="1" u="none">
                <a:solidFill>
                  <a:srgbClr val="232A38"/>
                </a:solidFill>
                <a:latin typeface="Calibri"/>
              </a:rPr>
              <a:t>Proverbs 24:9</a:t>
            </a:r>
          </a:p>
          <a:p>
            <a:pPr algn="l">
              <a:lnSpc>
                <a:spcPct val="108000"/>
              </a:lnSpc>
              <a:spcBef>
                <a:spcPts val="0"/>
              </a:spcBef>
              <a:spcAft>
                <a:spcPts val="250"/>
              </a:spcAft>
            </a:pPr>
            <a:r>
              <a:rPr sz="1000" b="0" i="1" u="none">
                <a:solidFill>
                  <a:srgbClr val="232A38"/>
                </a:solidFill>
                <a:latin typeface="Calibri"/>
              </a:rPr>
              <a:t>Isaiah 59:2</a:t>
            </a:r>
          </a:p>
          <a:p>
            <a:pPr algn="l">
              <a:lnSpc>
                <a:spcPct val="110000"/>
              </a:lnSpc>
              <a:spcBef>
                <a:spcPts val="400"/>
              </a:spcBef>
              <a:spcAft>
                <a:spcPts val="0"/>
              </a:spcAft>
            </a:pPr>
            <a:r>
              <a:rPr sz="950" b="0" i="0" u="none">
                <a:solidFill>
                  <a:srgbClr val="4C566B"/>
                </a:solidFill>
                <a:latin typeface="Calibri"/>
              </a:rPr>
              <a:t>The doctrine of sin is the ground of the doctrine of holiness and of the need for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Sin is rebellion against God — a turning of the will from him to self — and it is the root of all the world's misery.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Original Sin and Actual Sin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original sin holds that all men, as descendants of Adam, are born in a state of sin and under the guilt of the fall. Original sin has two aspects: the guilt of Adam's first sin, imputed to his posterity by virtue of federal headship, and the corruption of nature inherited from him. Actual sin is the personal transgression of the individual, the outward expression of the inward corruption. The Reformed doctrine holds that original sin is not merely the tendency to sin but a real state of alienation from God, so that 'the heart is deceitful above all things' (Jer 17:9). The doctrine explains the universality and the power of sin, and it stands against every Pelagian or semi-Pelagian optimism about the natural capacity of the will.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Original sin: the guilt of Adam imputed to posterity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corruption of nature inherited from Adam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Actual sin as the personal expression of the corruption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state of alienation that original sin denotes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51:5</a:t>
            </a:r>
          </a:p>
          <a:p>
            <a:pPr algn="l">
              <a:lnSpc>
                <a:spcPct val="108000"/>
              </a:lnSpc>
              <a:spcBef>
                <a:spcPts val="0"/>
              </a:spcBef>
              <a:spcAft>
                <a:spcPts val="250"/>
              </a:spcAft>
            </a:pPr>
            <a:r>
              <a:rPr sz="1000" b="0" i="1" u="none">
                <a:solidFill>
                  <a:srgbClr val="232A38"/>
                </a:solidFill>
                <a:latin typeface="Calibri"/>
              </a:rPr>
              <a:t>Psalm 58:3</a:t>
            </a:r>
          </a:p>
          <a:p>
            <a:pPr algn="l">
              <a:lnSpc>
                <a:spcPct val="108000"/>
              </a:lnSpc>
              <a:spcBef>
                <a:spcPts val="0"/>
              </a:spcBef>
              <a:spcAft>
                <a:spcPts val="250"/>
              </a:spcAft>
            </a:pPr>
            <a:r>
              <a:rPr sz="1000" b="0" i="1" u="none">
                <a:solidFill>
                  <a:srgbClr val="232A38"/>
                </a:solidFill>
                <a:latin typeface="Calibri"/>
              </a:rPr>
              <a:t>Jeremiah 17:9</a:t>
            </a:r>
          </a:p>
          <a:p>
            <a:pPr algn="l">
              <a:lnSpc>
                <a:spcPct val="108000"/>
              </a:lnSpc>
              <a:spcBef>
                <a:spcPts val="0"/>
              </a:spcBef>
              <a:spcAft>
                <a:spcPts val="250"/>
              </a:spcAft>
            </a:pPr>
            <a:r>
              <a:rPr sz="1000" b="0" i="1" u="none">
                <a:solidFill>
                  <a:srgbClr val="232A38"/>
                </a:solidFill>
                <a:latin typeface="Calibri"/>
              </a:rPr>
              <a:t>Romans 5:12</a:t>
            </a:r>
          </a:p>
          <a:p>
            <a:pPr algn="l">
              <a:lnSpc>
                <a:spcPct val="110000"/>
              </a:lnSpc>
              <a:spcBef>
                <a:spcPts val="400"/>
              </a:spcBef>
              <a:spcAft>
                <a:spcPts val="0"/>
              </a:spcAft>
            </a:pPr>
            <a:r>
              <a:rPr sz="950" b="0" i="0" u="none">
                <a:solidFill>
                  <a:srgbClr val="4C566B"/>
                </a:solidFill>
                <a:latin typeface="Calibri"/>
              </a:rPr>
              <a:t>The doctrine of original sin was defined against Pelagius and Semipelagianism at the Councils of Carthage and Orange.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All men are born under the guilt and the corruption of the fall, so that the will is unable of itself to turn to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Consequences of the Fall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fall brought upon the race a manifold curse. Spiritually, man was cut off from communion with God and became alienated from him. Morally, he became corrupt in all his faculties — mind, will and affections. Physically, he was subject to decay and death. Existentially, he was cast out of the garden and became a stranger in a world that was cursed. The fall affected the whole of man and the whole of the world, so that 'the whole world lies under the power of the evil one' (1 John 5:19). The consequences of the fall are the ground of the Christian's view of the human condition and of the need for the redemption that alone can undo the work of the fall.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spiritual consequence: alienation from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moral consequence: corruption of all the faculties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physical consequence: decay and death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universal extent of the fall's effects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3:16-19</a:t>
            </a:r>
          </a:p>
          <a:p>
            <a:pPr algn="l">
              <a:lnSpc>
                <a:spcPct val="108000"/>
              </a:lnSpc>
              <a:spcBef>
                <a:spcPts val="0"/>
              </a:spcBef>
              <a:spcAft>
                <a:spcPts val="250"/>
              </a:spcAft>
            </a:pPr>
            <a:r>
              <a:rPr sz="1000" b="0" i="1" u="none">
                <a:solidFill>
                  <a:srgbClr val="232A38"/>
                </a:solidFill>
                <a:latin typeface="Calibri"/>
              </a:rPr>
              <a:t>Romans 5:12</a:t>
            </a:r>
          </a:p>
          <a:p>
            <a:pPr algn="l">
              <a:lnSpc>
                <a:spcPct val="108000"/>
              </a:lnSpc>
              <a:spcBef>
                <a:spcPts val="0"/>
              </a:spcBef>
              <a:spcAft>
                <a:spcPts val="250"/>
              </a:spcAft>
            </a:pPr>
            <a:r>
              <a:rPr sz="1000" b="0" i="1" u="none">
                <a:solidFill>
                  <a:srgbClr val="232A38"/>
                </a:solidFill>
                <a:latin typeface="Calibri"/>
              </a:rPr>
              <a:t>Romans 8:20-22</a:t>
            </a:r>
          </a:p>
          <a:p>
            <a:pPr algn="l">
              <a:lnSpc>
                <a:spcPct val="108000"/>
              </a:lnSpc>
              <a:spcBef>
                <a:spcPts val="0"/>
              </a:spcBef>
              <a:spcAft>
                <a:spcPts val="250"/>
              </a:spcAft>
            </a:pPr>
            <a:r>
              <a:rPr sz="1000" b="0" i="1" u="none">
                <a:solidFill>
                  <a:srgbClr val="232A38"/>
                </a:solidFill>
                <a:latin typeface="Calibri"/>
              </a:rPr>
              <a:t>1 John 5:19</a:t>
            </a:r>
          </a:p>
          <a:p>
            <a:pPr algn="l">
              <a:lnSpc>
                <a:spcPct val="110000"/>
              </a:lnSpc>
              <a:spcBef>
                <a:spcPts val="400"/>
              </a:spcBef>
              <a:spcAft>
                <a:spcPts val="0"/>
              </a:spcAft>
            </a:pPr>
            <a:r>
              <a:rPr sz="950" b="0" i="0" u="none">
                <a:solidFill>
                  <a:srgbClr val="4C566B"/>
                </a:solidFill>
                <a:latin typeface="Calibri"/>
              </a:rPr>
              <a:t>The doctrine of the consequences of the fall is the ground of the Christian view of the human condition.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fall cut man off from God, corrupted his nature, and subjected him to death — affecting the whole of man and the whole of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Human Depravity and the Will of Man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total depravity holds that the fall affected all the faculties of man, so that he is unable, of himself, to do anything that pleases God. This does not mean that man is as wicked as possible, but that the sin has reached every part of him — mind, will, affections. The will of the fallen man is not destroyed but bound: it freely chooses what it desires, but what it desires is always self, not God. The doctrine stands against the Pelagian and Arminian claim that the natural will can, of itself, choose the good and turn to God. Only the grace of the Spirit can liberate the will and turn it to God (John 6:44; 1 Cor 2:14).</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Total depravity: the fall affected all the faculties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will as bound, not destroyed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free choice of self, not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need of grace to liberate the will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3:10-12</a:t>
            </a:r>
          </a:p>
          <a:p>
            <a:pPr algn="l">
              <a:lnSpc>
                <a:spcPct val="108000"/>
              </a:lnSpc>
              <a:spcBef>
                <a:spcPts val="0"/>
              </a:spcBef>
              <a:spcAft>
                <a:spcPts val="250"/>
              </a:spcAft>
            </a:pPr>
            <a:r>
              <a:rPr sz="1000" b="0" i="1" u="none">
                <a:solidFill>
                  <a:srgbClr val="232A38"/>
                </a:solidFill>
                <a:latin typeface="Calibri"/>
              </a:rPr>
              <a:t>Romans 8:7-8</a:t>
            </a:r>
          </a:p>
          <a:p>
            <a:pPr algn="l">
              <a:lnSpc>
                <a:spcPct val="108000"/>
              </a:lnSpc>
              <a:spcBef>
                <a:spcPts val="0"/>
              </a:spcBef>
              <a:spcAft>
                <a:spcPts val="250"/>
              </a:spcAft>
            </a:pPr>
            <a:r>
              <a:rPr sz="1000" b="0" i="1" u="none">
                <a:solidFill>
                  <a:srgbClr val="232A38"/>
                </a:solidFill>
                <a:latin typeface="Calibri"/>
              </a:rPr>
              <a:t>John 6:44</a:t>
            </a:r>
          </a:p>
          <a:p>
            <a:pPr algn="l">
              <a:lnSpc>
                <a:spcPct val="108000"/>
              </a:lnSpc>
              <a:spcBef>
                <a:spcPts val="0"/>
              </a:spcBef>
              <a:spcAft>
                <a:spcPts val="250"/>
              </a:spcAft>
            </a:pPr>
            <a:r>
              <a:rPr sz="1000" b="0" i="1" u="none">
                <a:solidFill>
                  <a:srgbClr val="232A38"/>
                </a:solidFill>
                <a:latin typeface="Calibri"/>
              </a:rPr>
              <a:t>1 Corinthians 2:14</a:t>
            </a:r>
          </a:p>
          <a:p>
            <a:pPr algn="l">
              <a:lnSpc>
                <a:spcPct val="110000"/>
              </a:lnSpc>
              <a:spcBef>
                <a:spcPts val="400"/>
              </a:spcBef>
              <a:spcAft>
                <a:spcPts val="0"/>
              </a:spcAft>
            </a:pPr>
            <a:r>
              <a:rPr sz="950" b="0" i="0" u="none">
                <a:solidFill>
                  <a:srgbClr val="4C566B"/>
                </a:solidFill>
                <a:latin typeface="Calibri"/>
              </a:rPr>
              <a:t>The doctrine was defined at the Synod of Dort (1618-19) against the Arminian denial of the bondage of the will.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fallen will is bound to self; only the grace of the Spirit can liberate it and turn it to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Unity and Dignity of Mankind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man affirms both the unity and the dignity of the human race. All men are one race, created from the one man, Adam (Gen 2:7; Acts 17:26), and all share in the image of God, however marred. The unity of the race is the ground of the universal solidarity of mankind and of the equal dignity of every person. The dignity of man does not depend on race, sex, status or achievement, but on his being made in the image of God and on his being the object of God's redemptive love in Christ. The doctrine is the scriptural foundation of the modern affirmations of human rights and of the sanctity of human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of the race from the one man, Adam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All men as bearers of the image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Dignity grounded in the image and in God's redemptive love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human rights and the sanctity of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2:7</a:t>
            </a:r>
          </a:p>
          <a:p>
            <a:pPr algn="l">
              <a:lnSpc>
                <a:spcPct val="108000"/>
              </a:lnSpc>
              <a:spcBef>
                <a:spcPts val="0"/>
              </a:spcBef>
              <a:spcAft>
                <a:spcPts val="250"/>
              </a:spcAft>
            </a:pPr>
            <a:r>
              <a:rPr sz="1000" b="0" i="1" u="none">
                <a:solidFill>
                  <a:srgbClr val="232A38"/>
                </a:solidFill>
                <a:latin typeface="Calibri"/>
              </a:rPr>
              <a:t>Acts 17:26</a:t>
            </a:r>
          </a:p>
          <a:p>
            <a:pPr algn="l">
              <a:lnSpc>
                <a:spcPct val="108000"/>
              </a:lnSpc>
              <a:spcBef>
                <a:spcPts val="0"/>
              </a:spcBef>
              <a:spcAft>
                <a:spcPts val="250"/>
              </a:spcAft>
            </a:pPr>
            <a:r>
              <a:rPr sz="1000" b="0" i="1" u="none">
                <a:solidFill>
                  <a:srgbClr val="232A38"/>
                </a:solidFill>
                <a:latin typeface="Calibri"/>
              </a:rPr>
              <a:t>Genesis 9:6</a:t>
            </a:r>
          </a:p>
          <a:p>
            <a:pPr algn="l">
              <a:lnSpc>
                <a:spcPct val="108000"/>
              </a:lnSpc>
              <a:spcBef>
                <a:spcPts val="0"/>
              </a:spcBef>
              <a:spcAft>
                <a:spcPts val="250"/>
              </a:spcAft>
            </a:pPr>
            <a:r>
              <a:rPr sz="1000" b="0" i="1" u="none">
                <a:solidFill>
                  <a:srgbClr val="232A38"/>
                </a:solidFill>
                <a:latin typeface="Calibri"/>
              </a:rPr>
              <a:t>Psalm 8:4-8</a:t>
            </a:r>
          </a:p>
          <a:p>
            <a:pPr algn="l">
              <a:lnSpc>
                <a:spcPct val="110000"/>
              </a:lnSpc>
              <a:spcBef>
                <a:spcPts val="400"/>
              </a:spcBef>
              <a:spcAft>
                <a:spcPts val="0"/>
              </a:spcAft>
            </a:pPr>
            <a:r>
              <a:rPr sz="950" b="0" i="0" u="none">
                <a:solidFill>
                  <a:srgbClr val="4C566B"/>
                </a:solidFill>
                <a:latin typeface="Calibri"/>
              </a:rPr>
              <a:t>The doctrine of the unity and dignity of mankind is the scriptural foundation of the modern human-rights movement.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All men are one race in the image of God, and their dignity does not depend on any earthly distinction.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Man in Light of Creation and the Fall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topic brings the doctrine of man to a summary. Man is the crown of creation, made in the image of God and set to steward his world. He was created in innocence and in communion with God, but he fell, and the fall brought upon him and his posterity a state of sin and alienation. The man who stands before God is thus at once dignified and depraved — made in the image, yet corrupted by sin; the object of God's love, yet the author of his own misery. The doctrine of man thus prepares the way for the doctrine of salvation: the very dignity of man's original estate and the depth of his fall together show the need for, and the excellence of, the redemption that God has accomplished in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Man as the crown of creation and the bearer of the image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twofold estate: innocence and the fall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man before God as dignified and depraved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doctrine of man as the preparation for the doctrine of salvation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8</a:t>
            </a:r>
          </a:p>
          <a:p>
            <a:pPr algn="l">
              <a:lnSpc>
                <a:spcPct val="108000"/>
              </a:lnSpc>
              <a:spcBef>
                <a:spcPts val="0"/>
              </a:spcBef>
              <a:spcAft>
                <a:spcPts val="250"/>
              </a:spcAft>
            </a:pPr>
            <a:r>
              <a:rPr sz="1000" b="0" i="1" u="none">
                <a:solidFill>
                  <a:srgbClr val="232A38"/>
                </a:solidFill>
                <a:latin typeface="Calibri"/>
              </a:rPr>
              <a:t>Genesis 1:26-28</a:t>
            </a:r>
          </a:p>
          <a:p>
            <a:pPr algn="l">
              <a:lnSpc>
                <a:spcPct val="108000"/>
              </a:lnSpc>
              <a:spcBef>
                <a:spcPts val="0"/>
              </a:spcBef>
              <a:spcAft>
                <a:spcPts val="250"/>
              </a:spcAft>
            </a:pPr>
            <a:r>
              <a:rPr sz="1000" b="0" i="1" u="none">
                <a:solidFill>
                  <a:srgbClr val="232A38"/>
                </a:solidFill>
                <a:latin typeface="Calibri"/>
              </a:rPr>
              <a:t>Romans 3:23</a:t>
            </a:r>
          </a:p>
          <a:p>
            <a:pPr algn="l">
              <a:lnSpc>
                <a:spcPct val="108000"/>
              </a:lnSpc>
              <a:spcBef>
                <a:spcPts val="0"/>
              </a:spcBef>
              <a:spcAft>
                <a:spcPts val="250"/>
              </a:spcAft>
            </a:pPr>
            <a:r>
              <a:rPr sz="1000" b="0" i="1" u="none">
                <a:solidFill>
                  <a:srgbClr val="232A38"/>
                </a:solidFill>
                <a:latin typeface="Calibri"/>
              </a:rPr>
              <a:t>Romans 5:12-21</a:t>
            </a:r>
          </a:p>
          <a:p>
            <a:pPr algn="l">
              <a:lnSpc>
                <a:spcPct val="110000"/>
              </a:lnSpc>
              <a:spcBef>
                <a:spcPts val="400"/>
              </a:spcBef>
              <a:spcAft>
                <a:spcPts val="0"/>
              </a:spcAft>
            </a:pPr>
            <a:r>
              <a:rPr sz="950" b="0" i="0" u="none">
                <a:solidFill>
                  <a:srgbClr val="4C566B"/>
                </a:solidFill>
                <a:latin typeface="Calibri"/>
              </a:rPr>
              <a:t>The doctrine of man is the pivot between the doctrines of creation and of salvation.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Man is at once dignified and depraved — made in the image and corrupted by sin — and so stands in need of the redemption that God has given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05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 Doctrine of Man</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Man is the crown of creation, made in the image of God as a unity of body and soul.</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He was created in innocence under a covenant of works, in which Adam stood as federal head.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fall brought upon the race the guilt and the corruption of sin, binding the will to self.</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man before God is thus at once dignified and depraved, and stands in need of redemption.</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man explains the need for the redemption that the doctrines of Christ and of salvation will unfold; the image of God grounds the dignity of the person, and the fall grounds the necessity of grace.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estate of man, the programme turns to the third person of the Trinity — the Holy Spirit, whose work is to accomplish the redemption that man's fall has made necessary.</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06 · The Holy Spirit: The Doctrine of the Spirit</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06</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 HOLY SPIRIT: THE DOCTRINE OF THE SPIRIT</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estate of man, the programme turns to the third person of the Trinity — the Holy Spirit, whose work is to accomplish the redemption that man's fall has made necessary.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436608" y="3471062"/>
            <a:ext cx="512064" cy="512064"/>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01200" y="3343046"/>
            <a:ext cx="182880" cy="18288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10048992" y="3548786"/>
            <a:ext cx="261325"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898380" y="3699398"/>
            <a:ext cx="150876" cy="261325"/>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336024" y="3699398"/>
            <a:ext cx="150876" cy="261325"/>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074962" y="3548786"/>
            <a:ext cx="261325"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9074962" y="2986430"/>
            <a:ext cx="261325"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9336024" y="2725369"/>
            <a:ext cx="150876" cy="261325"/>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898380" y="2725369"/>
            <a:ext cx="150876" cy="261325"/>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0048992" y="2986430"/>
            <a:ext cx="261325" cy="150876"/>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03919" y="4412894"/>
            <a:ext cx="2377441"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052560" y="3909974"/>
            <a:ext cx="320040" cy="50292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0012680" y="3909974"/>
            <a:ext cx="320039" cy="50292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229600" y="2264054"/>
            <a:ext cx="2926080" cy="2926080"/>
          </a:xfrm>
          <a:prstGeom prst="ellipse">
            <a:avLst/>
          </a:prstGeom>
          <a:noFill/>
          <a:ln w="1016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06</a:t>
            </a:r>
          </a:p>
        </p:txBody>
      </p:sp>
      <p:sp>
        <p:nvSpPr>
          <p:cNvPr id="20" name="TextBox 19"/>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06</a:t>
            </a:r>
          </a:p>
        </p:txBody>
      </p:sp>
      <p:sp>
        <p:nvSpPr>
          <p:cNvPr id="21" name="TextBox 20"/>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 HOLY SPIRIT: THE DOCTRINE OF THE SPIRIT</a:t>
            </a:r>
          </a:p>
        </p:txBody>
      </p:sp>
      <p:cxnSp>
        <p:nvCxnSpPr>
          <p:cNvPr id="22" name="Connector 21"/>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person, divinity and works of the third person of the Trinity in creation, redemption and the life of the believer.</a:t>
            </a:r>
          </a:p>
        </p:txBody>
      </p:sp>
      <p:sp>
        <p:nvSpPr>
          <p:cNvPr id="24" name="Rectangle 23"/>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00253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06</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 HOLY SPIRIT: THE DOCTRINE OF THE SPIRIT</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 Holy Spirit: The Doctrine of the Spirit</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Pneumatology is the doctrine of the Holy Spirit: his person, his divinity, and his works in creation, in the life of Christ, in the world, and in the life of the believer. It is the doctrine that completes the triune God and that applies the redemption of Christ to the soul.</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full doctrine of the Spirit emerged in the Church's experience and in the New Testament witness. The Spirit is named together with the Father and the Son in the baptismal formula, and the New Testament presents his work as the application of the work of Christ to the believer.</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Spirit is the bridge between the objective work of Christ and the subjective experience of the believer. It is the ground of the Christian's assurance, of spiritual life and growth, and of the Church's power and unity.</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person and divinity of the Spirit, and to trace his works from creation through the life of Christ to the sanctification and sealing of the believer.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Personhood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Holy Spirit is a person, not an impersonal force or influence. The Scripture ascribes to him the personal attributes: he has a will (1 Cor 12:11), he knows (1 Cor 2:11), he speaks (Acts 8:29), he can be grieved (Eph 4:30), he intercedes (Rom 8:26), and he is called 'He' throughout the New Testament. He is the agent of divine acts — he creates, he inspires, he convicts, he regenerates, he sanctifies. The personhood of the Spirit is the ground of the Christian's personal relation to the third person of the Trinity and of the worship due to him as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personal attributes ascribed to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the agent of divine acts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'He' throughout the New Testament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personal relation to and worship of the Spirit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2:11</a:t>
            </a:r>
          </a:p>
          <a:p>
            <a:pPr algn="l">
              <a:lnSpc>
                <a:spcPct val="108000"/>
              </a:lnSpc>
              <a:spcBef>
                <a:spcPts val="0"/>
              </a:spcBef>
              <a:spcAft>
                <a:spcPts val="250"/>
              </a:spcAft>
            </a:pPr>
            <a:r>
              <a:rPr sz="1000" b="0" i="1" u="none">
                <a:solidFill>
                  <a:srgbClr val="232A38"/>
                </a:solidFill>
                <a:latin typeface="Calibri"/>
              </a:rPr>
              <a:t>1 Corinthians 12:11</a:t>
            </a:r>
          </a:p>
          <a:p>
            <a:pPr algn="l">
              <a:lnSpc>
                <a:spcPct val="108000"/>
              </a:lnSpc>
              <a:spcBef>
                <a:spcPts val="0"/>
              </a:spcBef>
              <a:spcAft>
                <a:spcPts val="250"/>
              </a:spcAft>
            </a:pPr>
            <a:r>
              <a:rPr sz="1000" b="0" i="1" u="none">
                <a:solidFill>
                  <a:srgbClr val="232A38"/>
                </a:solidFill>
                <a:latin typeface="Calibri"/>
              </a:rPr>
              <a:t>Ephesians 4:30</a:t>
            </a:r>
          </a:p>
          <a:p>
            <a:pPr algn="l">
              <a:lnSpc>
                <a:spcPct val="108000"/>
              </a:lnSpc>
              <a:spcBef>
                <a:spcPts val="0"/>
              </a:spcBef>
              <a:spcAft>
                <a:spcPts val="250"/>
              </a:spcAft>
            </a:pPr>
            <a:r>
              <a:rPr sz="1000" b="0" i="1" u="none">
                <a:solidFill>
                  <a:srgbClr val="232A38"/>
                </a:solidFill>
                <a:latin typeface="Calibri"/>
              </a:rPr>
              <a:t>Romans 8:26</a:t>
            </a:r>
          </a:p>
          <a:p>
            <a:pPr algn="l">
              <a:lnSpc>
                <a:spcPct val="110000"/>
              </a:lnSpc>
              <a:spcBef>
                <a:spcPts val="400"/>
              </a:spcBef>
              <a:spcAft>
                <a:spcPts val="0"/>
              </a:spcAft>
            </a:pPr>
            <a:r>
              <a:rPr sz="950" b="0" i="0" u="none">
                <a:solidFill>
                  <a:srgbClr val="4C566B"/>
                </a:solidFill>
                <a:latin typeface="Calibri"/>
              </a:rPr>
              <a:t>The personhood of the Spirit was affirmed against the Pneumatomachians, who denied the full divinity of the Spirit.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Holy Spirit is a person — he wills, knows, speaks and intercedes — and is to be related to and worshipped as such.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Divinity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Holy Spirit is God. The Scripture ascribes to him the divine attributes: he is eternal (Heb 9:14), omnipresent (Ps 139:7), omniscient (1 Cor 2:10-11), and omnipotent. He is the agent of divine acts that only God can perform — creation (Gen 1:2), regeneration (Tit 3:5), and the raising of the dead (Rom 8:11). He is worshipped (Acts 5:3-4 equates lying to the Spirit with lying to God) and is named on equal terms with the Father and the Son in the baptismal formula and in the benedictions (Matt 28:19; 2 Cor 13:14). The divinity of the Spirit is the ground of the worship due to him and of the efficacy of his works.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divine attributes ascribed to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the agent of acts that only God can perform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worshipped and named equal with the Father and the 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worship due to the Spirit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Hebrews 9:14</a:t>
            </a:r>
          </a:p>
          <a:p>
            <a:pPr algn="l">
              <a:lnSpc>
                <a:spcPct val="108000"/>
              </a:lnSpc>
              <a:spcBef>
                <a:spcPts val="0"/>
              </a:spcBef>
              <a:spcAft>
                <a:spcPts val="250"/>
              </a:spcAft>
            </a:pPr>
            <a:r>
              <a:rPr sz="1000" b="0" i="1" u="none">
                <a:solidFill>
                  <a:srgbClr val="232A38"/>
                </a:solidFill>
                <a:latin typeface="Calibri"/>
              </a:rPr>
              <a:t>Psalm 139:7</a:t>
            </a:r>
          </a:p>
          <a:p>
            <a:pPr algn="l">
              <a:lnSpc>
                <a:spcPct val="108000"/>
              </a:lnSpc>
              <a:spcBef>
                <a:spcPts val="0"/>
              </a:spcBef>
              <a:spcAft>
                <a:spcPts val="250"/>
              </a:spcAft>
            </a:pPr>
            <a:r>
              <a:rPr sz="1000" b="0" i="1" u="none">
                <a:solidFill>
                  <a:srgbClr val="232A38"/>
                </a:solidFill>
                <a:latin typeface="Calibri"/>
              </a:rPr>
              <a:t>1 Corinthians 2:10-11</a:t>
            </a:r>
          </a:p>
          <a:p>
            <a:pPr algn="l">
              <a:lnSpc>
                <a:spcPct val="108000"/>
              </a:lnSpc>
              <a:spcBef>
                <a:spcPts val="0"/>
              </a:spcBef>
              <a:spcAft>
                <a:spcPts val="250"/>
              </a:spcAft>
            </a:pPr>
            <a:r>
              <a:rPr sz="1000" b="0" i="1" u="none">
                <a:solidFill>
                  <a:srgbClr val="232A38"/>
                </a:solidFill>
                <a:latin typeface="Calibri"/>
              </a:rPr>
              <a:t>Acts 5:3-4</a:t>
            </a:r>
          </a:p>
          <a:p>
            <a:pPr algn="l">
              <a:lnSpc>
                <a:spcPct val="110000"/>
              </a:lnSpc>
              <a:spcBef>
                <a:spcPts val="400"/>
              </a:spcBef>
              <a:spcAft>
                <a:spcPts val="0"/>
              </a:spcAft>
            </a:pPr>
            <a:r>
              <a:rPr sz="950" b="0" i="0" u="none">
                <a:solidFill>
                  <a:srgbClr val="4C566B"/>
                </a:solidFill>
                <a:latin typeface="Calibri"/>
              </a:rPr>
              <a:t>The divinity of the Spirit was defined at Constantinople (381) against the Pneumatomachians.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Holy Spirit is God, possessing the divine attributes and performing the divine acts, and is to be worshipped as such.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Work of the Spirit in Creation and the Old Testament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work of the Spirit extends over the whole of Scripture, from creation to the Church. In creation, 'the Spirit of God was moving over the face of the waters' (Gen 1:2). In the Old Testament, the Spirit came upon the judges, the prophets and the kings to empower them for their tasks (Num 11:25; 1 Sam 16:13; Judg 14:6). The Spirit is the agent of the inspiration of the Old Testament prophets (2 Pet 1:21) and the power behind the great acts of God in Israel's history. The Old Testament presents the Spirit's work as coming upon particular individuals for particular tasks, in anticipation of the fuller outpouring promised for the new covenant (Joel 2:28-32; Ezek 36:27).</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moving over the face of the waters in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coming upon judges, prophets and kings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the agent of prophetic inspiration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promise of the fuller outpouring in the new covenant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a:t>
            </a:r>
          </a:p>
          <a:p>
            <a:pPr algn="l">
              <a:lnSpc>
                <a:spcPct val="108000"/>
              </a:lnSpc>
              <a:spcBef>
                <a:spcPts val="0"/>
              </a:spcBef>
              <a:spcAft>
                <a:spcPts val="250"/>
              </a:spcAft>
            </a:pPr>
            <a:r>
              <a:rPr sz="1000" b="0" i="1" u="none">
                <a:solidFill>
                  <a:srgbClr val="232A38"/>
                </a:solidFill>
                <a:latin typeface="Calibri"/>
              </a:rPr>
              <a:t>Numbers 11:25</a:t>
            </a:r>
          </a:p>
          <a:p>
            <a:pPr algn="l">
              <a:lnSpc>
                <a:spcPct val="108000"/>
              </a:lnSpc>
              <a:spcBef>
                <a:spcPts val="0"/>
              </a:spcBef>
              <a:spcAft>
                <a:spcPts val="250"/>
              </a:spcAft>
            </a:pPr>
            <a:r>
              <a:rPr sz="1000" b="0" i="1" u="none">
                <a:solidFill>
                  <a:srgbClr val="232A38"/>
                </a:solidFill>
                <a:latin typeface="Calibri"/>
              </a:rPr>
              <a:t>1 Samuel 16:13</a:t>
            </a:r>
          </a:p>
          <a:p>
            <a:pPr algn="l">
              <a:lnSpc>
                <a:spcPct val="108000"/>
              </a:lnSpc>
              <a:spcBef>
                <a:spcPts val="0"/>
              </a:spcBef>
              <a:spcAft>
                <a:spcPts val="250"/>
              </a:spcAft>
            </a:pPr>
            <a:r>
              <a:rPr sz="1000" b="0" i="1" u="none">
                <a:solidFill>
                  <a:srgbClr val="232A38"/>
                </a:solidFill>
                <a:latin typeface="Calibri"/>
              </a:rPr>
              <a:t>Judges 14:6</a:t>
            </a:r>
          </a:p>
          <a:p>
            <a:pPr algn="l">
              <a:lnSpc>
                <a:spcPct val="110000"/>
              </a:lnSpc>
              <a:spcBef>
                <a:spcPts val="400"/>
              </a:spcBef>
              <a:spcAft>
                <a:spcPts val="0"/>
              </a:spcAft>
            </a:pPr>
            <a:r>
              <a:rPr sz="950" b="0" i="0" u="none">
                <a:solidFill>
                  <a:srgbClr val="4C566B"/>
                </a:solidFill>
                <a:latin typeface="Calibri"/>
              </a:rPr>
              <a:t>The Old Testament doctrine of the Spirit anticipates the new-covenant outpouring promised by Joel and Ezekiel.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Spirit is active throughout the Old Testament, empowering God's people and anticipating the fuller outpouring of the new covenant.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Spirit and the Life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Holy Spirit is the agent of the work of Christ at every stage. The Spirit oversadowed the virgin Mary in the incarnation (Luke 1:35). The Spirit anointed Jesus at his baptism (Matt 3:16) and led him into the wilderness (Matt 4:1). Jesus himself spoke of the Spirit as the one who would bear witness to him, would guide the apostles into all truth, and would glorify him (John 14:26; 16:13-14). The resurrection of Christ was the work of the Spirit of him who raised the Lord Jesus from the dead (Rom 1:4; 1 Cor 15:45). The Spirit thus unites the person and work of Christ to the life of the believer, applying to the soul what Christ has accomplished.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in the incarnation, baptism and temptation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the witness to and glorifier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the agent of the resurrection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applying the work of Christ to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Luke 1:35</a:t>
            </a:r>
          </a:p>
          <a:p>
            <a:pPr algn="l">
              <a:lnSpc>
                <a:spcPct val="108000"/>
              </a:lnSpc>
              <a:spcBef>
                <a:spcPts val="0"/>
              </a:spcBef>
              <a:spcAft>
                <a:spcPts val="250"/>
              </a:spcAft>
            </a:pPr>
            <a:r>
              <a:rPr sz="1000" b="0" i="1" u="none">
                <a:solidFill>
                  <a:srgbClr val="232A38"/>
                </a:solidFill>
                <a:latin typeface="Calibri"/>
              </a:rPr>
              <a:t>Matthew 3:16</a:t>
            </a:r>
          </a:p>
          <a:p>
            <a:pPr algn="l">
              <a:lnSpc>
                <a:spcPct val="108000"/>
              </a:lnSpc>
              <a:spcBef>
                <a:spcPts val="0"/>
              </a:spcBef>
              <a:spcAft>
                <a:spcPts val="250"/>
              </a:spcAft>
            </a:pPr>
            <a:r>
              <a:rPr sz="1000" b="0" i="1" u="none">
                <a:solidFill>
                  <a:srgbClr val="232A38"/>
                </a:solidFill>
                <a:latin typeface="Calibri"/>
              </a:rPr>
              <a:t>Matthew 4:1</a:t>
            </a:r>
          </a:p>
          <a:p>
            <a:pPr algn="l">
              <a:lnSpc>
                <a:spcPct val="108000"/>
              </a:lnSpc>
              <a:spcBef>
                <a:spcPts val="0"/>
              </a:spcBef>
              <a:spcAft>
                <a:spcPts val="250"/>
              </a:spcAft>
            </a:pPr>
            <a:r>
              <a:rPr sz="1000" b="0" i="1" u="none">
                <a:solidFill>
                  <a:srgbClr val="232A38"/>
                </a:solidFill>
                <a:latin typeface="Calibri"/>
              </a:rPr>
              <a:t>John 14:26</a:t>
            </a:r>
          </a:p>
          <a:p>
            <a:pPr algn="l">
              <a:lnSpc>
                <a:spcPct val="110000"/>
              </a:lnSpc>
              <a:spcBef>
                <a:spcPts val="400"/>
              </a:spcBef>
              <a:spcAft>
                <a:spcPts val="0"/>
              </a:spcAft>
            </a:pPr>
            <a:r>
              <a:rPr sz="950" b="0" i="0" u="none">
                <a:solidFill>
                  <a:srgbClr val="4C566B"/>
                </a:solidFill>
                <a:latin typeface="Calibri"/>
              </a:rPr>
              <a:t>The doctrine of the Spirit and Christ is the key to the unity of the person and work of the triune God in redemption.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Spirit is the agent of the whole work of Christ, from the incarnation to the resurrection, applying it to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Descent of the Spirit at Pentecost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069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Pentecost is the event in which the promised outpouring of the Spirit was fulfilled. On the day of Pentecost, 'suddenly there came a sound from heaven like a rushing mighty wind, and it filled the whole house where they were sitting. And there appeared to them dividing tongues as of fire, and one sat upon each of them. And they were all filled with the Holy Spirit' (Acts 2:1-4). The outpouring marked the beginning of the Church and the inauguration of the new-covenant age. The Spirit came not merely upon particular individuals for particular tasks, as in the Old Testament, but upon the whole Church, the ground of its unity, its power, and its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promise of the outpouring in Joel 2 and Acts 1</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signs: the wind, the tongues of fire, the filling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Pentecost as the beginning of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given to the whole Church, not only to individuals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2:1-4</a:t>
            </a:r>
          </a:p>
          <a:p>
            <a:pPr algn="l">
              <a:lnSpc>
                <a:spcPct val="108000"/>
              </a:lnSpc>
              <a:spcBef>
                <a:spcPts val="0"/>
              </a:spcBef>
              <a:spcAft>
                <a:spcPts val="250"/>
              </a:spcAft>
            </a:pPr>
            <a:r>
              <a:rPr sz="1000" b="0" i="1" u="none">
                <a:solidFill>
                  <a:srgbClr val="232A38"/>
                </a:solidFill>
                <a:latin typeface="Calibri"/>
              </a:rPr>
              <a:t>Joel 2:28-32</a:t>
            </a:r>
          </a:p>
          <a:p>
            <a:pPr algn="l">
              <a:lnSpc>
                <a:spcPct val="108000"/>
              </a:lnSpc>
              <a:spcBef>
                <a:spcPts val="0"/>
              </a:spcBef>
              <a:spcAft>
                <a:spcPts val="250"/>
              </a:spcAft>
            </a:pPr>
            <a:r>
              <a:rPr sz="1000" b="0" i="1" u="none">
                <a:solidFill>
                  <a:srgbClr val="232A38"/>
                </a:solidFill>
                <a:latin typeface="Calibri"/>
              </a:rPr>
              <a:t>Acts 1:4-8</a:t>
            </a:r>
          </a:p>
          <a:p>
            <a:pPr algn="l">
              <a:lnSpc>
                <a:spcPct val="108000"/>
              </a:lnSpc>
              <a:spcBef>
                <a:spcPts val="0"/>
              </a:spcBef>
              <a:spcAft>
                <a:spcPts val="250"/>
              </a:spcAft>
            </a:pPr>
            <a:r>
              <a:rPr sz="1000" b="0" i="1" u="none">
                <a:solidFill>
                  <a:srgbClr val="232A38"/>
                </a:solidFill>
                <a:latin typeface="Calibri"/>
              </a:rPr>
              <a:t>Ezekiel 36:25-27</a:t>
            </a:r>
          </a:p>
          <a:p>
            <a:pPr algn="l">
              <a:lnSpc>
                <a:spcPct val="110000"/>
              </a:lnSpc>
              <a:spcBef>
                <a:spcPts val="400"/>
              </a:spcBef>
              <a:spcAft>
                <a:spcPts val="0"/>
              </a:spcAft>
            </a:pPr>
            <a:r>
              <a:rPr sz="950" b="0" i="0" u="none">
                <a:solidFill>
                  <a:srgbClr val="4C566B"/>
                </a:solidFill>
                <a:latin typeface="Calibri"/>
              </a:rPr>
              <a:t>Pentecost is the scriptural event that inaugurates the new-covenant age and the age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At Pentecost the promised Spirit was poured out upon the whole Church, marking the beginning of the new-covenant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Work of the Spirit in the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Spirit is active in the world, though his saving work is not given to all. His general work in the world is to convict it of sin, of righteousness and of judgement (John 16:8-11). He bears witness to Christ, he restrains evil, and he gives the common grace that sustains the natural order. But his saving work — the effectual call, regeneration and the new birth — is given to the elect alone, in accordance with the decree of God. The distinction between the general and the special work of the Spirit is essential: the Spirit is the agent of common grace to all, but the agent of saving grace to the elect alone.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conviction of the world: sin, righteousness, judgement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bearing of witness to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common grace that sustains the natural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between general and saving work</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16:8-11</a:t>
            </a:r>
          </a:p>
          <a:p>
            <a:pPr algn="l">
              <a:lnSpc>
                <a:spcPct val="108000"/>
              </a:lnSpc>
              <a:spcBef>
                <a:spcPts val="0"/>
              </a:spcBef>
              <a:spcAft>
                <a:spcPts val="250"/>
              </a:spcAft>
            </a:pPr>
            <a:r>
              <a:rPr sz="1000" b="0" i="1" u="none">
                <a:solidFill>
                  <a:srgbClr val="232A38"/>
                </a:solidFill>
                <a:latin typeface="Calibri"/>
              </a:rPr>
              <a:t>Genesis 6:3</a:t>
            </a:r>
          </a:p>
          <a:p>
            <a:pPr algn="l">
              <a:lnSpc>
                <a:spcPct val="108000"/>
              </a:lnSpc>
              <a:spcBef>
                <a:spcPts val="0"/>
              </a:spcBef>
              <a:spcAft>
                <a:spcPts val="250"/>
              </a:spcAft>
            </a:pPr>
            <a:r>
              <a:rPr sz="1000" b="0" i="1" u="none">
                <a:solidFill>
                  <a:srgbClr val="232A38"/>
                </a:solidFill>
                <a:latin typeface="Calibri"/>
              </a:rPr>
              <a:t>Psalm 51:12</a:t>
            </a:r>
          </a:p>
          <a:p>
            <a:pPr algn="l">
              <a:lnSpc>
                <a:spcPct val="108000"/>
              </a:lnSpc>
              <a:spcBef>
                <a:spcPts val="0"/>
              </a:spcBef>
              <a:spcAft>
                <a:spcPts val="250"/>
              </a:spcAft>
            </a:pPr>
            <a:r>
              <a:rPr sz="1000" b="0" i="1" u="none">
                <a:solidFill>
                  <a:srgbClr val="232A38"/>
                </a:solidFill>
                <a:latin typeface="Calibri"/>
              </a:rPr>
              <a:t>Acts 17:25-28</a:t>
            </a:r>
          </a:p>
          <a:p>
            <a:pPr algn="l">
              <a:lnSpc>
                <a:spcPct val="110000"/>
              </a:lnSpc>
              <a:spcBef>
                <a:spcPts val="400"/>
              </a:spcBef>
              <a:spcAft>
                <a:spcPts val="0"/>
              </a:spcAft>
            </a:pPr>
            <a:r>
              <a:rPr sz="950" b="0" i="0" u="none">
                <a:solidFill>
                  <a:srgbClr val="4C566B"/>
                </a:solidFill>
                <a:latin typeface="Calibri"/>
              </a:rPr>
              <a:t>The doctrine of the Spirit's work in the world is the ground of the Christian's view of common grace and of mission.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Spirit convicts the world and sustains the natural order, but his saving work is given to the elect alone.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Work of the Spirit in Conversion and Regeneration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Conversion is the turning of the sinner from sin to God, and it has two aspects: repentance and faith. Regeneration (the new birth) is the work of the Spirit in which the dead sinner is made alive in Christ (Eph 2:4-5; John 3:3-8). It is the root of conversion: the Spirit first regenerates the will, and the regenerated will then repents and believes. Regeneration is a monergistic work — it is the work of the Spirit alone, not a cooperation of the Spirit and the natural will. It is the ground of the new relationship to God, and it is the beginning of the Christian life. The doctrine is the scriptural answer to the question of how the dead sinner can turn to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Conversion as the twofold act of repentance and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Regeneration as the new birth, the root of conversion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monergistic character of regeneration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Regeneration as the ground of the new relationship to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3:3-8</a:t>
            </a:r>
          </a:p>
          <a:p>
            <a:pPr algn="l">
              <a:lnSpc>
                <a:spcPct val="108000"/>
              </a:lnSpc>
              <a:spcBef>
                <a:spcPts val="0"/>
              </a:spcBef>
              <a:spcAft>
                <a:spcPts val="250"/>
              </a:spcAft>
            </a:pPr>
            <a:r>
              <a:rPr sz="1000" b="0" i="1" u="none">
                <a:solidFill>
                  <a:srgbClr val="232A38"/>
                </a:solidFill>
                <a:latin typeface="Calibri"/>
              </a:rPr>
              <a:t>Ephesians 2:4-5</a:t>
            </a:r>
          </a:p>
          <a:p>
            <a:pPr algn="l">
              <a:lnSpc>
                <a:spcPct val="108000"/>
              </a:lnSpc>
              <a:spcBef>
                <a:spcPts val="0"/>
              </a:spcBef>
              <a:spcAft>
                <a:spcPts val="250"/>
              </a:spcAft>
            </a:pPr>
            <a:r>
              <a:rPr sz="1000" b="0" i="1" u="none">
                <a:solidFill>
                  <a:srgbClr val="232A38"/>
                </a:solidFill>
                <a:latin typeface="Calibri"/>
              </a:rPr>
              <a:t>Ezekiel 36:26-27</a:t>
            </a:r>
          </a:p>
          <a:p>
            <a:pPr algn="l">
              <a:lnSpc>
                <a:spcPct val="108000"/>
              </a:lnSpc>
              <a:spcBef>
                <a:spcPts val="0"/>
              </a:spcBef>
              <a:spcAft>
                <a:spcPts val="250"/>
              </a:spcAft>
            </a:pPr>
            <a:r>
              <a:rPr sz="1000" b="0" i="1" u="none">
                <a:solidFill>
                  <a:srgbClr val="232A38"/>
                </a:solidFill>
                <a:latin typeface="Calibri"/>
              </a:rPr>
              <a:t>2 Corinthians 5:17</a:t>
            </a:r>
          </a:p>
          <a:p>
            <a:pPr algn="l">
              <a:lnSpc>
                <a:spcPct val="110000"/>
              </a:lnSpc>
              <a:spcBef>
                <a:spcPts val="400"/>
              </a:spcBef>
              <a:spcAft>
                <a:spcPts val="0"/>
              </a:spcAft>
            </a:pPr>
            <a:r>
              <a:rPr sz="950" b="0" i="0" u="none">
                <a:solidFill>
                  <a:srgbClr val="4C566B"/>
                </a:solidFill>
                <a:latin typeface="Calibri"/>
              </a:rPr>
              <a:t>The doctrine of regeneration was at the centre of the Reformed-Arminian controversy over the nature of the new birth.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Spirit regenerates the dead sinner, enabling the will to repent and believe; regeneration is the root of the Christian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Work of the Spirit in Sanctification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Sanctification is the work of the Spirit in which the believer is made conformable to the image of Christ and holy in conduct. It is the continuing application of the work of Christ to the life of the believer, and it is the work of the Spirit throughout the whole of the Christian life. The Spirit sanctifies by the word of God (John 17:17), by the ordinances, and by the work of grace in the heart. Sanctification is progressive, not complete in this life, and it is the work of the Spirit in cooperation with the free effort of the believer. The goal of sanctification is the likeness of the Son, and it is the ground of the Christian's growth in grace and in good works.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Sanctification as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means: the word, the ordinances, and the work of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progressive and cooperative character of sanctification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goal: the likeness of the Son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17:17</a:t>
            </a:r>
          </a:p>
          <a:p>
            <a:pPr algn="l">
              <a:lnSpc>
                <a:spcPct val="108000"/>
              </a:lnSpc>
              <a:spcBef>
                <a:spcPts val="0"/>
              </a:spcBef>
              <a:spcAft>
                <a:spcPts val="250"/>
              </a:spcAft>
            </a:pPr>
            <a:r>
              <a:rPr sz="1000" b="0" i="1" u="none">
                <a:solidFill>
                  <a:srgbClr val="232A38"/>
                </a:solidFill>
                <a:latin typeface="Calibri"/>
              </a:rPr>
              <a:t>2 Thessalonians 2:13</a:t>
            </a:r>
          </a:p>
          <a:p>
            <a:pPr algn="l">
              <a:lnSpc>
                <a:spcPct val="108000"/>
              </a:lnSpc>
              <a:spcBef>
                <a:spcPts val="0"/>
              </a:spcBef>
              <a:spcAft>
                <a:spcPts val="250"/>
              </a:spcAft>
            </a:pPr>
            <a:r>
              <a:rPr sz="1000" b="0" i="1" u="none">
                <a:solidFill>
                  <a:srgbClr val="232A38"/>
                </a:solidFill>
                <a:latin typeface="Calibri"/>
              </a:rPr>
              <a:t>Romans 8:29</a:t>
            </a:r>
          </a:p>
          <a:p>
            <a:pPr algn="l">
              <a:lnSpc>
                <a:spcPct val="108000"/>
              </a:lnSpc>
              <a:spcBef>
                <a:spcPts val="0"/>
              </a:spcBef>
              <a:spcAft>
                <a:spcPts val="250"/>
              </a:spcAft>
            </a:pPr>
            <a:r>
              <a:rPr sz="1000" b="0" i="1" u="none">
                <a:solidFill>
                  <a:srgbClr val="232A38"/>
                </a:solidFill>
                <a:latin typeface="Calibri"/>
              </a:rPr>
              <a:t>2 Corinthians 3:18</a:t>
            </a:r>
          </a:p>
          <a:p>
            <a:pPr algn="l">
              <a:lnSpc>
                <a:spcPct val="110000"/>
              </a:lnSpc>
              <a:spcBef>
                <a:spcPts val="400"/>
              </a:spcBef>
              <a:spcAft>
                <a:spcPts val="0"/>
              </a:spcAft>
            </a:pPr>
            <a:r>
              <a:rPr sz="950" b="0" i="0" u="none">
                <a:solidFill>
                  <a:srgbClr val="4C566B"/>
                </a:solidFill>
                <a:latin typeface="Calibri"/>
              </a:rPr>
              <a:t>The doctrine of sanctification is the ground of the Christian life and of the practice of spiritual discipline.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Spirit sanctifies the believer progressively, conforming him to the image of Christ by the word and by the work of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Gifts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gifts of the Holy Spirit are the endowments of power and of ability that the Spirit gives to the members of the Church for the building up of the body of Christ and the service of the world. The classic list is given in 1 Corinthians 12:8-10: the word of wisdom, the word of knowledge, faith, the working of miracles, prophecy, the distinguishing of spirits, tongues, and interpretation of tongues. The gifts are distributed by the Spirit 'as he wills' (1 Cor 12:11), and they are for the common good, not for private glory. The doctrine of the gifts is to be held in balance: they are real, they are for the edification of the Church, and they are to be exercised in order and in love.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gifts as endowments for the building up of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list of 1 Corinthians 12:8-10</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distribution of the gifts 'as he wills'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exercise of the gifts in order and in love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12:4-11</a:t>
            </a:r>
          </a:p>
          <a:p>
            <a:pPr algn="l">
              <a:lnSpc>
                <a:spcPct val="108000"/>
              </a:lnSpc>
              <a:spcBef>
                <a:spcPts val="0"/>
              </a:spcBef>
              <a:spcAft>
                <a:spcPts val="250"/>
              </a:spcAft>
            </a:pPr>
            <a:r>
              <a:rPr sz="1000" b="0" i="1" u="none">
                <a:solidFill>
                  <a:srgbClr val="232A38"/>
                </a:solidFill>
                <a:latin typeface="Calibri"/>
              </a:rPr>
              <a:t>Ephesians 4:4-6</a:t>
            </a:r>
          </a:p>
          <a:p>
            <a:pPr algn="l">
              <a:lnSpc>
                <a:spcPct val="108000"/>
              </a:lnSpc>
              <a:spcBef>
                <a:spcPts val="0"/>
              </a:spcBef>
              <a:spcAft>
                <a:spcPts val="250"/>
              </a:spcAft>
            </a:pPr>
            <a:r>
              <a:rPr sz="1000" b="0" i="1" u="none">
                <a:solidFill>
                  <a:srgbClr val="232A38"/>
                </a:solidFill>
                <a:latin typeface="Calibri"/>
              </a:rPr>
              <a:t>Romans 12:4-8</a:t>
            </a:r>
          </a:p>
          <a:p>
            <a:pPr algn="l">
              <a:lnSpc>
                <a:spcPct val="108000"/>
              </a:lnSpc>
              <a:spcBef>
                <a:spcPts val="0"/>
              </a:spcBef>
              <a:spcAft>
                <a:spcPts val="250"/>
              </a:spcAft>
            </a:pPr>
            <a:r>
              <a:rPr sz="1000" b="0" i="1" u="none">
                <a:solidFill>
                  <a:srgbClr val="232A38"/>
                </a:solidFill>
                <a:latin typeface="Calibri"/>
              </a:rPr>
              <a:t>1 Peter 4:10-11</a:t>
            </a:r>
          </a:p>
          <a:p>
            <a:pPr algn="l">
              <a:lnSpc>
                <a:spcPct val="110000"/>
              </a:lnSpc>
              <a:spcBef>
                <a:spcPts val="400"/>
              </a:spcBef>
              <a:spcAft>
                <a:spcPts val="0"/>
              </a:spcAft>
            </a:pPr>
            <a:r>
              <a:rPr sz="950" b="0" i="0" u="none">
                <a:solidFill>
                  <a:srgbClr val="4C566B"/>
                </a:solidFill>
                <a:latin typeface="Calibri"/>
              </a:rPr>
              <a:t>The doctrine of the gifts is at the centre of the charismatic and the classic positions, and it is to be held in balance.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gifts of the Spirit are endowments for the common good, distributed as he wills and exercised in order and in love.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Fruit of the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fruit of the Spirit is the character of Christ produced in the life of the believer by the work of the Spirit. Paul lists it in Galatians 5:22-23: 'love, joy, peace, longsuffering, gentleness, goodness, faith, meekness, temperance.' Unlike the gifts, which are endowments of ability, the fruit is the product of the Spirit's indwelling work in the heart. It is the evidence of the Spirit's presence and of the genuineness of the Christian life. The fruit is the ground of the Christian's testimony to the world and the mark of the mature believer. The doctrine of the fruit is the positive side of the doctrine of sanctification: it is the character that the Spirit produces in the life he has renewed.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fruit as the character of Christ in the believer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list of Galatians 5:22-23</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fruit as the evidence of the Spirit's presence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fruit as the mark of the mature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Galatians 5:22-23</a:t>
            </a:r>
          </a:p>
          <a:p>
            <a:pPr algn="l">
              <a:lnSpc>
                <a:spcPct val="108000"/>
              </a:lnSpc>
              <a:spcBef>
                <a:spcPts val="0"/>
              </a:spcBef>
              <a:spcAft>
                <a:spcPts val="250"/>
              </a:spcAft>
            </a:pPr>
            <a:r>
              <a:rPr sz="1000" b="0" i="1" u="none">
                <a:solidFill>
                  <a:srgbClr val="232A38"/>
                </a:solidFill>
                <a:latin typeface="Calibri"/>
              </a:rPr>
              <a:t>John 15:5</a:t>
            </a:r>
          </a:p>
          <a:p>
            <a:pPr algn="l">
              <a:lnSpc>
                <a:spcPct val="108000"/>
              </a:lnSpc>
              <a:spcBef>
                <a:spcPts val="0"/>
              </a:spcBef>
              <a:spcAft>
                <a:spcPts val="250"/>
              </a:spcAft>
            </a:pPr>
            <a:r>
              <a:rPr sz="1000" b="0" i="1" u="none">
                <a:solidFill>
                  <a:srgbClr val="232A38"/>
                </a:solidFill>
                <a:latin typeface="Calibri"/>
              </a:rPr>
              <a:t>2 Peter 1:5-8</a:t>
            </a:r>
          </a:p>
          <a:p>
            <a:pPr algn="l">
              <a:lnSpc>
                <a:spcPct val="108000"/>
              </a:lnSpc>
              <a:spcBef>
                <a:spcPts val="0"/>
              </a:spcBef>
              <a:spcAft>
                <a:spcPts val="250"/>
              </a:spcAft>
            </a:pPr>
            <a:r>
              <a:rPr sz="1000" b="0" i="1" u="none">
                <a:solidFill>
                  <a:srgbClr val="232A38"/>
                </a:solidFill>
                <a:latin typeface="Calibri"/>
              </a:rPr>
              <a:t>Colossians 3:12-15</a:t>
            </a:r>
          </a:p>
          <a:p>
            <a:pPr algn="l">
              <a:lnSpc>
                <a:spcPct val="110000"/>
              </a:lnSpc>
              <a:spcBef>
                <a:spcPts val="400"/>
              </a:spcBef>
              <a:spcAft>
                <a:spcPts val="0"/>
              </a:spcAft>
            </a:pPr>
            <a:r>
              <a:rPr sz="950" b="0" i="0" u="none">
                <a:solidFill>
                  <a:srgbClr val="4C566B"/>
                </a:solidFill>
                <a:latin typeface="Calibri"/>
              </a:rPr>
              <a:t>The fruit of the Spirit is the scriptural standard of Christian character and of the evidence of salvation.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fruit of the Spirit is the character of Christ produced in the believer, the evidence of the Spirit's presence and the mark of maturity.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Baptism of the Holy Spirit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baptism of the Holy Spirit is the work of the Spirit in which the believer is united to Christ and to his body, the Church. It is distinct from the new birth in that it is the work of incorporation into the body of Christ, and it is the work of the Spirit in which the believer is sealed and marked as Christ's. The New Testament presents the baptism of the Spirit as a single, definitive act that unites all believers, Jew and Gentile, to the one body of Christ (1 Cor 12:13; Eph 4:4-6). The doctrine is the ground of the unity of the Church and of the believer's assurance of his place in the body of Christ. The various positions on the timing and the evidence of the baptism are to be held in the light of this scriptural doctrine.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baptism as the work of incorporation into the body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from the new birth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of the Church as the ground of the doctrine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believer's assurance of his place in the body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12:13</a:t>
            </a:r>
          </a:p>
          <a:p>
            <a:pPr algn="l">
              <a:lnSpc>
                <a:spcPct val="108000"/>
              </a:lnSpc>
              <a:spcBef>
                <a:spcPts val="0"/>
              </a:spcBef>
              <a:spcAft>
                <a:spcPts val="250"/>
              </a:spcAft>
            </a:pPr>
            <a:r>
              <a:rPr sz="1000" b="0" i="1" u="none">
                <a:solidFill>
                  <a:srgbClr val="232A38"/>
                </a:solidFill>
                <a:latin typeface="Calibri"/>
              </a:rPr>
              <a:t>Ephesians 4:4-6</a:t>
            </a:r>
          </a:p>
          <a:p>
            <a:pPr algn="l">
              <a:lnSpc>
                <a:spcPct val="108000"/>
              </a:lnSpc>
              <a:spcBef>
                <a:spcPts val="0"/>
              </a:spcBef>
              <a:spcAft>
                <a:spcPts val="250"/>
              </a:spcAft>
            </a:pPr>
            <a:r>
              <a:rPr sz="1000" b="0" i="1" u="none">
                <a:solidFill>
                  <a:srgbClr val="232A38"/>
                </a:solidFill>
                <a:latin typeface="Calibri"/>
              </a:rPr>
              <a:t>Acts 2:38</a:t>
            </a:r>
          </a:p>
          <a:p>
            <a:pPr algn="l">
              <a:lnSpc>
                <a:spcPct val="108000"/>
              </a:lnSpc>
              <a:spcBef>
                <a:spcPts val="0"/>
              </a:spcBef>
              <a:spcAft>
                <a:spcPts val="250"/>
              </a:spcAft>
            </a:pPr>
            <a:r>
              <a:rPr sz="1000" b="0" i="1" u="none">
                <a:solidFill>
                  <a:srgbClr val="232A38"/>
                </a:solidFill>
                <a:latin typeface="Calibri"/>
              </a:rPr>
              <a:t>Romans 6:3-5</a:t>
            </a:r>
          </a:p>
          <a:p>
            <a:pPr algn="l">
              <a:lnSpc>
                <a:spcPct val="110000"/>
              </a:lnSpc>
              <a:spcBef>
                <a:spcPts val="400"/>
              </a:spcBef>
              <a:spcAft>
                <a:spcPts val="0"/>
              </a:spcAft>
            </a:pPr>
            <a:r>
              <a:rPr sz="950" b="0" i="0" u="none">
                <a:solidFill>
                  <a:srgbClr val="4C566B"/>
                </a:solidFill>
                <a:latin typeface="Calibri"/>
              </a:rPr>
              <a:t>The doctrine of the baptism of the Spirit is at the centre of the charismatic and the classic positions.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baptism of the Spirit unites the believer to Christ and to his body, the ground of the Church's unity and the believer's assurance.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Spirit as Seal and Guarantee of the Believer</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Holy Spirit is the seal and the guarantee (earnest) of the believer's salvation. As a seal, the Spirit marks the believer as God's own, the token of ownership and of security (Eph 1:13-14; 2 Cor 1:21-22). As a guarantee, the Spirit is the down-payment of the inheritance, the firstfruits of the glory to come (Rom 8:23; Eph 1:14). The seal and the guarantee are the ground of the Christian's assurance of salvation and of his hope of the inheritance. The doctrine is the comfort of the believer: the same Spirit who has begun the good work will also complete it (Phil 1:6).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seal: the token of ownership and security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Spirit as guarantee: the down-payment of the inheritance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assurance of salvation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hope of the inheritance to come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1:13-14</a:t>
            </a:r>
          </a:p>
          <a:p>
            <a:pPr algn="l">
              <a:lnSpc>
                <a:spcPct val="108000"/>
              </a:lnSpc>
              <a:spcBef>
                <a:spcPts val="0"/>
              </a:spcBef>
              <a:spcAft>
                <a:spcPts val="250"/>
              </a:spcAft>
            </a:pPr>
            <a:r>
              <a:rPr sz="1000" b="0" i="1" u="none">
                <a:solidFill>
                  <a:srgbClr val="232A38"/>
                </a:solidFill>
                <a:latin typeface="Calibri"/>
              </a:rPr>
              <a:t>2 Corinthians 1:21-22</a:t>
            </a:r>
          </a:p>
          <a:p>
            <a:pPr algn="l">
              <a:lnSpc>
                <a:spcPct val="108000"/>
              </a:lnSpc>
              <a:spcBef>
                <a:spcPts val="0"/>
              </a:spcBef>
              <a:spcAft>
                <a:spcPts val="250"/>
              </a:spcAft>
            </a:pPr>
            <a:r>
              <a:rPr sz="1000" b="0" i="1" u="none">
                <a:solidFill>
                  <a:srgbClr val="232A38"/>
                </a:solidFill>
                <a:latin typeface="Calibri"/>
              </a:rPr>
              <a:t>Romans 8:23</a:t>
            </a:r>
          </a:p>
          <a:p>
            <a:pPr algn="l">
              <a:lnSpc>
                <a:spcPct val="108000"/>
              </a:lnSpc>
              <a:spcBef>
                <a:spcPts val="0"/>
              </a:spcBef>
              <a:spcAft>
                <a:spcPts val="250"/>
              </a:spcAft>
            </a:pPr>
            <a:r>
              <a:rPr sz="1000" b="0" i="1" u="none">
                <a:solidFill>
                  <a:srgbClr val="232A38"/>
                </a:solidFill>
                <a:latin typeface="Calibri"/>
              </a:rPr>
              <a:t>Philippians 1:6</a:t>
            </a:r>
          </a:p>
          <a:p>
            <a:pPr algn="l">
              <a:lnSpc>
                <a:spcPct val="110000"/>
              </a:lnSpc>
              <a:spcBef>
                <a:spcPts val="400"/>
              </a:spcBef>
              <a:spcAft>
                <a:spcPts val="0"/>
              </a:spcAft>
            </a:pPr>
            <a:r>
              <a:rPr sz="950" b="0" i="0" u="none">
                <a:solidFill>
                  <a:srgbClr val="4C566B"/>
                </a:solidFill>
                <a:latin typeface="Calibri"/>
              </a:rPr>
              <a:t>The doctrine of the Spirit as seal and guarantee is the ground of the Christian's assurance and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Spirit seals and guarantees the believer's salvation, the ground of his assurance and of his hope of the inheritance.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06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 Holy Spirit: The Doctrine of the Spirit</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Holy Spirit is a person and is fully God, to be related to and worshipped as such.</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Spirit is the agent of the whole work of Christ, from creation and the incarnation to the resurrection.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At Pentecost the Spirit was poured out upon the whole Church, inaugurating the new-covenant age.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Spirit regenerates, sanctifies, gifts, seals and guarantees the believer, applying the work of Christ to the soul.</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Spirit completes the triune God and is the bridge between the objective work of Christ and the subjective life of the believer; it grounds the Church's unity, power and the Christian's assurance.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triune God in his works of creation and redemption, the programme turns to the centre of the whole: the person and work of Jesus Christ.</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07 · Christology: The Person and Work of Christ</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07</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CHRISTOLOGY: THE PERSON AND WORK OF CHRIST</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triune God in his works of creation and redemption, the programme turns to the centre of the whole: the person and work of Jesus Christ.</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flipV="1">
            <a:off x="8229600" y="3813048"/>
            <a:ext cx="786384" cy="945489"/>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9015984" y="3039465"/>
            <a:ext cx="845820" cy="773583"/>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861804" y="2265883"/>
            <a:ext cx="778154" cy="773582"/>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174736" y="4703673"/>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61119" y="3758184"/>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06940" y="2984601"/>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85094" y="2211019"/>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65154" y="1581912"/>
            <a:ext cx="164592" cy="16459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891418" y="1408176"/>
            <a:ext cx="512064" cy="512064"/>
          </a:xfrm>
          <a:prstGeom prst="ellipse">
            <a:avLst/>
          </a:prstGeom>
          <a:noFill/>
          <a:ln w="1016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07</a:t>
            </a:r>
          </a:p>
        </p:txBody>
      </p:sp>
      <p:sp>
        <p:nvSpPr>
          <p:cNvPr id="15" name="TextBox 14"/>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07</a:t>
            </a:r>
          </a:p>
        </p:txBody>
      </p:sp>
      <p:sp>
        <p:nvSpPr>
          <p:cNvPr id="16" name="TextBox 15"/>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CHRISTOLOGY: THE PERSON AND WORK OF CHRIST</a:t>
            </a:r>
          </a:p>
        </p:txBody>
      </p:sp>
      <p:cxnSp>
        <p:nvCxnSpPr>
          <p:cNvPr id="17" name="Connector 1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person, natures, life, death, resurrection, ascension and present ministry of the Lord Jesus Christ.</a:t>
            </a:r>
          </a:p>
        </p:txBody>
      </p:sp>
      <p:sp>
        <p:nvSpPr>
          <p:cNvPr id="19" name="Rectangle 1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19913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07</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CHRISTOLOGY: THE PERSON AND WORK OF CHRIST</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Christology: The Person and Work of Christ</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Christology is the doctrine of the person and work of Jesus Christ: his person, his two natures, his life, his death as the atonement, his resurrection, his ascension, and his present ministry at the right hand of God. It is the central doctrine of the Christian faith.</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Christology is the doctrine around which the whole of the faith is constructed. The councils of Nicaea (325) and Chalcedon (451) defined the person and natures of Christ, and the confession of the faith centres on him.</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person of Christ is the ground of the whole redemption. Whatever the Church says about salvation, about the Spirit, and about the last things is controlled by what it says about Christ. Christology is the doctrinal centre of the entire programme.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articulate the person, natures, life, atoning death, resurrection, ascension and present ministry of Christ as Scripture and the creeds confess them.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Person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person of Christ is the subject of the whole doctrine of redemption. Jesus of Nazareth is not merely a great teacher or a prophet, but the eternal Son of God made man — the God-man, the mediator between God and man (1 Tim 2:5; Heb 3:6). The person of Christ is one divine person, the second person of the Trinity, who assumed a complete human nature in the incarnation. The confession of the person of Christ is the confession that Jesus is Lord (Phil 2:11) and that in him the whole of God's purpose of redemption is accomplished. The person of Christ is thus the ground of the faith and the object of its worship.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 as the eternal Son of God made man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one divine person, the second person of the Trinity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 as the mediator between God and man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confession that Jesus is Lord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Timothy 2:5</a:t>
            </a:r>
          </a:p>
          <a:p>
            <a:pPr algn="l">
              <a:lnSpc>
                <a:spcPct val="108000"/>
              </a:lnSpc>
              <a:spcBef>
                <a:spcPts val="0"/>
              </a:spcBef>
              <a:spcAft>
                <a:spcPts val="250"/>
              </a:spcAft>
            </a:pPr>
            <a:r>
              <a:rPr sz="1000" b="0" i="1" u="none">
                <a:solidFill>
                  <a:srgbClr val="232A38"/>
                </a:solidFill>
                <a:latin typeface="Calibri"/>
              </a:rPr>
              <a:t>Hebrews 3:6</a:t>
            </a:r>
          </a:p>
          <a:p>
            <a:pPr algn="l">
              <a:lnSpc>
                <a:spcPct val="108000"/>
              </a:lnSpc>
              <a:spcBef>
                <a:spcPts val="0"/>
              </a:spcBef>
              <a:spcAft>
                <a:spcPts val="250"/>
              </a:spcAft>
            </a:pPr>
            <a:r>
              <a:rPr sz="1000" b="0" i="1" u="none">
                <a:solidFill>
                  <a:srgbClr val="232A38"/>
                </a:solidFill>
                <a:latin typeface="Calibri"/>
              </a:rPr>
              <a:t>Philippians 2:11</a:t>
            </a:r>
          </a:p>
          <a:p>
            <a:pPr algn="l">
              <a:lnSpc>
                <a:spcPct val="108000"/>
              </a:lnSpc>
              <a:spcBef>
                <a:spcPts val="0"/>
              </a:spcBef>
              <a:spcAft>
                <a:spcPts val="250"/>
              </a:spcAft>
            </a:pPr>
            <a:r>
              <a:rPr sz="1000" b="0" i="1" u="none">
                <a:solidFill>
                  <a:srgbClr val="232A38"/>
                </a:solidFill>
                <a:latin typeface="Calibri"/>
              </a:rPr>
              <a:t>John 8:58</a:t>
            </a:r>
          </a:p>
          <a:p>
            <a:pPr algn="l">
              <a:lnSpc>
                <a:spcPct val="110000"/>
              </a:lnSpc>
              <a:spcBef>
                <a:spcPts val="400"/>
              </a:spcBef>
              <a:spcAft>
                <a:spcPts val="0"/>
              </a:spcAft>
            </a:pPr>
            <a:r>
              <a:rPr sz="950" b="0" i="0" u="none">
                <a:solidFill>
                  <a:srgbClr val="4C566B"/>
                </a:solidFill>
                <a:latin typeface="Calibri"/>
              </a:rPr>
              <a:t>The person of Christ was defined at Nicaea (325) against Arianism and at Chalcedon (451) against the natures controversies.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person of Christ is the one divine person who assumed a complete human nature — the ground and object of the whole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Pre-Existence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pre-existence of Christ is the doctrine that the Son of God existed before his incarnation, in eternal relation with the Father. The New Testament is explicit: 'In the beginning was the Word, and the Word was with God, and the Word was God' (John 1:1). The Son is the agent of creation (John 1:3; Col 1:16), the upholder of the universe (Heb 1:3), and the one through whom all things were made. The Old Testament anticipates the pre-existence in the 'Angel of the LORD' and in the wisdom and counsel passages. The doctrine of the pre-existence is the ground of the deity of Christ and of his role as the agent of creation and the mediator of redemption.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Word 'in the beginning' with God and as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Son as the agent of creation and the upholder of the universe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Old Testament anticipations: the Angel of the LORD, wisdom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deity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1:1-3</a:t>
            </a:r>
          </a:p>
          <a:p>
            <a:pPr algn="l">
              <a:lnSpc>
                <a:spcPct val="108000"/>
              </a:lnSpc>
              <a:spcBef>
                <a:spcPts val="0"/>
              </a:spcBef>
              <a:spcAft>
                <a:spcPts val="250"/>
              </a:spcAft>
            </a:pPr>
            <a:r>
              <a:rPr sz="1000" b="0" i="1" u="none">
                <a:solidFill>
                  <a:srgbClr val="232A38"/>
                </a:solidFill>
                <a:latin typeface="Calibri"/>
              </a:rPr>
              <a:t>Colossians 1:16-17</a:t>
            </a:r>
          </a:p>
          <a:p>
            <a:pPr algn="l">
              <a:lnSpc>
                <a:spcPct val="108000"/>
              </a:lnSpc>
              <a:spcBef>
                <a:spcPts val="0"/>
              </a:spcBef>
              <a:spcAft>
                <a:spcPts val="250"/>
              </a:spcAft>
            </a:pPr>
            <a:r>
              <a:rPr sz="1000" b="0" i="1" u="none">
                <a:solidFill>
                  <a:srgbClr val="232A38"/>
                </a:solidFill>
                <a:latin typeface="Calibri"/>
              </a:rPr>
              <a:t>Hebrews 1:3</a:t>
            </a:r>
          </a:p>
          <a:p>
            <a:pPr algn="l">
              <a:lnSpc>
                <a:spcPct val="108000"/>
              </a:lnSpc>
              <a:spcBef>
                <a:spcPts val="0"/>
              </a:spcBef>
              <a:spcAft>
                <a:spcPts val="250"/>
              </a:spcAft>
            </a:pPr>
            <a:r>
              <a:rPr sz="1000" b="0" i="1" u="none">
                <a:solidFill>
                  <a:srgbClr val="232A38"/>
                </a:solidFill>
                <a:latin typeface="Calibri"/>
              </a:rPr>
              <a:t>Proverbs 8:22-31</a:t>
            </a:r>
          </a:p>
          <a:p>
            <a:pPr algn="l">
              <a:lnSpc>
                <a:spcPct val="110000"/>
              </a:lnSpc>
              <a:spcBef>
                <a:spcPts val="400"/>
              </a:spcBef>
              <a:spcAft>
                <a:spcPts val="0"/>
              </a:spcAft>
            </a:pPr>
            <a:r>
              <a:rPr sz="950" b="0" i="0" u="none">
                <a:solidFill>
                  <a:srgbClr val="4C566B"/>
                </a:solidFill>
                <a:latin typeface="Calibri"/>
              </a:rPr>
              <a:t>The doctrine of the pre-existence was affirmed at Nicaea against Arianism, which denied the eternal existence of the Son.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Son of God existed before the incarnation, as the agent of creation and the eternal Word, the ground of his deity.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Names and Titles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079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Scripture gives Christ a rich vocabulary of names and titles that express the fullness of his person and work. He is the Word (John 1:1), the Wisdom of God (1 Cor 1:24), the Image of the invisible God (Col 1:15), the Angel of the LORD, the Son of God, the Son of Man, the Messiah, the Lord, the King of Kings, and the Root and Offspring of David. The title 'Son of God' expresses his divine sonship and his unique relation to the Father. The title 'Son of Man' expresses his true humanity and his coming in the glory of his kingdom (Dan 7:13-14). The titles together present the fullness of the person and work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Word, the Wisdom, the Image of the invisible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titles: Son of God, Son of Man, Messiah,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Son of God: divine sonship and unique relation to the Father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Son of Man: true humanity and the coming in glory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1:1</a:t>
            </a:r>
          </a:p>
          <a:p>
            <a:pPr algn="l">
              <a:lnSpc>
                <a:spcPct val="108000"/>
              </a:lnSpc>
              <a:spcBef>
                <a:spcPts val="0"/>
              </a:spcBef>
              <a:spcAft>
                <a:spcPts val="250"/>
              </a:spcAft>
            </a:pPr>
            <a:r>
              <a:rPr sz="1000" b="0" i="1" u="none">
                <a:solidFill>
                  <a:srgbClr val="232A38"/>
                </a:solidFill>
                <a:latin typeface="Calibri"/>
              </a:rPr>
              <a:t>1 Corinthians 1:24</a:t>
            </a:r>
          </a:p>
          <a:p>
            <a:pPr algn="l">
              <a:lnSpc>
                <a:spcPct val="108000"/>
              </a:lnSpc>
              <a:spcBef>
                <a:spcPts val="0"/>
              </a:spcBef>
              <a:spcAft>
                <a:spcPts val="250"/>
              </a:spcAft>
            </a:pPr>
            <a:r>
              <a:rPr sz="1000" b="0" i="1" u="none">
                <a:solidFill>
                  <a:srgbClr val="232A38"/>
                </a:solidFill>
                <a:latin typeface="Calibri"/>
              </a:rPr>
              <a:t>Colossians 1:15</a:t>
            </a:r>
          </a:p>
          <a:p>
            <a:pPr algn="l">
              <a:lnSpc>
                <a:spcPct val="108000"/>
              </a:lnSpc>
              <a:spcBef>
                <a:spcPts val="0"/>
              </a:spcBef>
              <a:spcAft>
                <a:spcPts val="250"/>
              </a:spcAft>
            </a:pPr>
            <a:r>
              <a:rPr sz="1000" b="0" i="1" u="none">
                <a:solidFill>
                  <a:srgbClr val="232A38"/>
                </a:solidFill>
                <a:latin typeface="Calibri"/>
              </a:rPr>
              <a:t>Daniel 7:13-14</a:t>
            </a:r>
          </a:p>
          <a:p>
            <a:pPr algn="l">
              <a:lnSpc>
                <a:spcPct val="110000"/>
              </a:lnSpc>
              <a:spcBef>
                <a:spcPts val="400"/>
              </a:spcBef>
              <a:spcAft>
                <a:spcPts val="0"/>
              </a:spcAft>
            </a:pPr>
            <a:r>
              <a:rPr sz="950" b="0" i="0" u="none">
                <a:solidFill>
                  <a:srgbClr val="4C566B"/>
                </a:solidFill>
                <a:latin typeface="Calibri"/>
              </a:rPr>
              <a:t>The titles of Christ are the scriptural vocabulary of the high and the low Christology.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names and titles of Christ together express the fullness of his person — the eternal Word made the true Son of Man.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Virgin Birth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virgin birth is the doctrine that the human nature of Christ was conceived by the Holy Spirit and born of the virgin Mary, without human seed (Matt 1:18-25; Luke 1:26-38). The doctrine is affirmed by all four Gospels and is the ground of the true humanity of Christ: he is the true son of David by the line of Joseph and the true son of Mary. The virgin birth is also the ground of the sinlessness of Christ: he was not born into the corrupt lineage of Adam but was the seed of the woman (Gal 4:4; 2 Tim 2:8). The doctrine was affirmed at the early councils and is a necessary part of the confession of the incarnation.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Conception by the Holy Spirit, birth of the virgin Mary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true humanity and the sinlessness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Son of David and the Son of God in one person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affirmation of the early councils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1:18-25</a:t>
            </a:r>
          </a:p>
          <a:p>
            <a:pPr algn="l">
              <a:lnSpc>
                <a:spcPct val="108000"/>
              </a:lnSpc>
              <a:spcBef>
                <a:spcPts val="0"/>
              </a:spcBef>
              <a:spcAft>
                <a:spcPts val="250"/>
              </a:spcAft>
            </a:pPr>
            <a:r>
              <a:rPr sz="1000" b="0" i="1" u="none">
                <a:solidFill>
                  <a:srgbClr val="232A38"/>
                </a:solidFill>
                <a:latin typeface="Calibri"/>
              </a:rPr>
              <a:t>Luke 1:26-38</a:t>
            </a:r>
          </a:p>
          <a:p>
            <a:pPr algn="l">
              <a:lnSpc>
                <a:spcPct val="108000"/>
              </a:lnSpc>
              <a:spcBef>
                <a:spcPts val="0"/>
              </a:spcBef>
              <a:spcAft>
                <a:spcPts val="250"/>
              </a:spcAft>
            </a:pPr>
            <a:r>
              <a:rPr sz="1000" b="0" i="1" u="none">
                <a:solidFill>
                  <a:srgbClr val="232A38"/>
                </a:solidFill>
                <a:latin typeface="Calibri"/>
              </a:rPr>
              <a:t>Isaiah 7:14</a:t>
            </a:r>
          </a:p>
          <a:p>
            <a:pPr algn="l">
              <a:lnSpc>
                <a:spcPct val="108000"/>
              </a:lnSpc>
              <a:spcBef>
                <a:spcPts val="0"/>
              </a:spcBef>
              <a:spcAft>
                <a:spcPts val="250"/>
              </a:spcAft>
            </a:pPr>
            <a:r>
              <a:rPr sz="1000" b="0" i="1" u="none">
                <a:solidFill>
                  <a:srgbClr val="232A38"/>
                </a:solidFill>
                <a:latin typeface="Calibri"/>
              </a:rPr>
              <a:t>Galatians 4:4</a:t>
            </a:r>
          </a:p>
          <a:p>
            <a:pPr algn="l">
              <a:lnSpc>
                <a:spcPct val="110000"/>
              </a:lnSpc>
              <a:spcBef>
                <a:spcPts val="400"/>
              </a:spcBef>
              <a:spcAft>
                <a:spcPts val="0"/>
              </a:spcAft>
            </a:pPr>
            <a:r>
              <a:rPr sz="950" b="0" i="0" u="none">
                <a:solidFill>
                  <a:srgbClr val="4C566B"/>
                </a:solidFill>
                <a:latin typeface="Calibri"/>
              </a:rPr>
              <a:t>The virgin birth was affirmed at the early councils and is a necessary part of the confession of the incarnation.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virgin birth is the ground of the true humanity and the sinlessness of Christ, the seed of the woman in whom the promise was fulfilled.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Two Natures of Christ and the Hypostatic Union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the two natures of Christ confesses that in the one person of the Son of God there are two complete, distinct natures — divine and human — united without confusion, change, division or separation. This is the hypostatic union, defined at the Council of Chalcedon (451). The divine nature is not changed into the human, nor the human into the divine; the two are not mixed, nor separated into two persons. The communication of attributes (communicatio idiomatum) is the doctrine that the properties of each nature are predicated of the one person. The doctrine is the guard against the Arian, Nestorian, Eutychian and Monophysite heresies, and it is the ground of the mediatorial work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Two complete natures: divine and human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hypostatic union: without confusion, change, division or separation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communication of attributes (communicatio idiomatum)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guard against the Arian, Nestorian and Eutychian heresies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1:14</a:t>
            </a:r>
          </a:p>
          <a:p>
            <a:pPr algn="l">
              <a:lnSpc>
                <a:spcPct val="108000"/>
              </a:lnSpc>
              <a:spcBef>
                <a:spcPts val="0"/>
              </a:spcBef>
              <a:spcAft>
                <a:spcPts val="250"/>
              </a:spcAft>
            </a:pPr>
            <a:r>
              <a:rPr sz="1000" b="0" i="1" u="none">
                <a:solidFill>
                  <a:srgbClr val="232A38"/>
                </a:solidFill>
                <a:latin typeface="Calibri"/>
              </a:rPr>
              <a:t>Philippians 2:6-8</a:t>
            </a:r>
          </a:p>
          <a:p>
            <a:pPr algn="l">
              <a:lnSpc>
                <a:spcPct val="108000"/>
              </a:lnSpc>
              <a:spcBef>
                <a:spcPts val="0"/>
              </a:spcBef>
              <a:spcAft>
                <a:spcPts val="250"/>
              </a:spcAft>
            </a:pPr>
            <a:r>
              <a:rPr sz="1000" b="0" i="1" u="none">
                <a:solidFill>
                  <a:srgbClr val="232A38"/>
                </a:solidFill>
                <a:latin typeface="Calibri"/>
              </a:rPr>
              <a:t>Colossians 2:9</a:t>
            </a:r>
          </a:p>
          <a:p>
            <a:pPr algn="l">
              <a:lnSpc>
                <a:spcPct val="108000"/>
              </a:lnSpc>
              <a:spcBef>
                <a:spcPts val="0"/>
              </a:spcBef>
              <a:spcAft>
                <a:spcPts val="250"/>
              </a:spcAft>
            </a:pPr>
            <a:r>
              <a:rPr sz="1000" b="0" i="1" u="none">
                <a:solidFill>
                  <a:srgbClr val="232A38"/>
                </a:solidFill>
                <a:latin typeface="Calibri"/>
              </a:rPr>
              <a:t>Hebrews 2:14</a:t>
            </a:r>
          </a:p>
          <a:p>
            <a:pPr algn="l">
              <a:lnSpc>
                <a:spcPct val="110000"/>
              </a:lnSpc>
              <a:spcBef>
                <a:spcPts val="400"/>
              </a:spcBef>
              <a:spcAft>
                <a:spcPts val="0"/>
              </a:spcAft>
            </a:pPr>
            <a:r>
              <a:rPr sz="950" b="0" i="0" u="none">
                <a:solidFill>
                  <a:srgbClr val="4C566B"/>
                </a:solidFill>
                <a:latin typeface="Calibri"/>
              </a:rPr>
              <a:t>The doctrine was defined at Chalcedon (451) in response to the Monophysite and Nestorian controversies.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In the one person of Christ there are two complete natures, divine and human, united without confusion, change, division or separation.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Life and Ministry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life and ministry of Christ span the three years of his public work, from the baptism in the Jordan to the crucifixion. His ministry was threefold: he taught, he worked miracles, and he proclaimed the kingdom of God. His teaching was that of authority, 'as one having authority, and not as the scribes' (Matt 7:29). His miracles were the signs of the kingdom and the demonstration of his divine power. His proclamation was the good news of the kingdom of God, the nearness of the reign of God, and the call to repentance and faith. The life and ministry of Christ are the demonstration of his person and the ground of the apostolic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threefold ministry: teaching, miracles, proclamation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teaching of authority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miracles as the signs of the kingdom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proclamation of the kingdom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7:28-29</a:t>
            </a:r>
          </a:p>
          <a:p>
            <a:pPr algn="l">
              <a:lnSpc>
                <a:spcPct val="108000"/>
              </a:lnSpc>
              <a:spcBef>
                <a:spcPts val="0"/>
              </a:spcBef>
              <a:spcAft>
                <a:spcPts val="250"/>
              </a:spcAft>
            </a:pPr>
            <a:r>
              <a:rPr sz="1000" b="0" i="1" u="none">
                <a:solidFill>
                  <a:srgbClr val="232A38"/>
                </a:solidFill>
                <a:latin typeface="Calibri"/>
              </a:rPr>
              <a:t>Mark 1:22</a:t>
            </a:r>
          </a:p>
          <a:p>
            <a:pPr algn="l">
              <a:lnSpc>
                <a:spcPct val="108000"/>
              </a:lnSpc>
              <a:spcBef>
                <a:spcPts val="0"/>
              </a:spcBef>
              <a:spcAft>
                <a:spcPts val="250"/>
              </a:spcAft>
            </a:pPr>
            <a:r>
              <a:rPr sz="1000" b="0" i="1" u="none">
                <a:solidFill>
                  <a:srgbClr val="232A38"/>
                </a:solidFill>
                <a:latin typeface="Calibri"/>
              </a:rPr>
              <a:t>John 2:11</a:t>
            </a:r>
          </a:p>
          <a:p>
            <a:pPr algn="l">
              <a:lnSpc>
                <a:spcPct val="108000"/>
              </a:lnSpc>
              <a:spcBef>
                <a:spcPts val="0"/>
              </a:spcBef>
              <a:spcAft>
                <a:spcPts val="250"/>
              </a:spcAft>
            </a:pPr>
            <a:r>
              <a:rPr sz="1000" b="0" i="1" u="none">
                <a:solidFill>
                  <a:srgbClr val="232A38"/>
                </a:solidFill>
                <a:latin typeface="Calibri"/>
              </a:rPr>
              <a:t>Luke 4:18-19</a:t>
            </a:r>
          </a:p>
          <a:p>
            <a:pPr algn="l">
              <a:lnSpc>
                <a:spcPct val="110000"/>
              </a:lnSpc>
              <a:spcBef>
                <a:spcPts val="400"/>
              </a:spcBef>
              <a:spcAft>
                <a:spcPts val="0"/>
              </a:spcAft>
            </a:pPr>
            <a:r>
              <a:rPr sz="950" b="0" i="0" u="none">
                <a:solidFill>
                  <a:srgbClr val="4C566B"/>
                </a:solidFill>
                <a:latin typeface="Calibri"/>
              </a:rPr>
              <a:t>The ministry of Christ is the demonstration of his person and the ground of the apostolic witness and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life and ministry of Christ — his teaching, his miracles, his proclamation — are the demonstration of his person and the ground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Teachings of Christ: The Kingdom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central theme of the teaching of Christ is the kingdom of God. The kingdom is the reign of God, the rule of God over all things, which was drawn near in the person and work of Christ. The kingdom is at once a present reality — 'the kingdom of God is at hand' (Mark 1:15) — and a future consummation — the coming of the kingdom in power at the second advent. The teachings of Christ on the kingdom include the parables, the beatitudes, and the lord's prayer. The kingdom is the framework within which the whole of the teaching of Christ is to be understood, and it is the ground of the Church's hope and of its mission.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kingdom as the reign and the rule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kingdom as present reality and future consummation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parables, the beatitudes and the lord's prayer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kingdom as the framework of the teaching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Mark 1:15</a:t>
            </a:r>
          </a:p>
          <a:p>
            <a:pPr algn="l">
              <a:lnSpc>
                <a:spcPct val="108000"/>
              </a:lnSpc>
              <a:spcBef>
                <a:spcPts val="0"/>
              </a:spcBef>
              <a:spcAft>
                <a:spcPts val="250"/>
              </a:spcAft>
            </a:pPr>
            <a:r>
              <a:rPr sz="1000" b="0" i="1" u="none">
                <a:solidFill>
                  <a:srgbClr val="232A38"/>
                </a:solidFill>
                <a:latin typeface="Calibri"/>
              </a:rPr>
              <a:t>Matthew 4:17</a:t>
            </a:r>
          </a:p>
          <a:p>
            <a:pPr algn="l">
              <a:lnSpc>
                <a:spcPct val="108000"/>
              </a:lnSpc>
              <a:spcBef>
                <a:spcPts val="0"/>
              </a:spcBef>
              <a:spcAft>
                <a:spcPts val="250"/>
              </a:spcAft>
            </a:pPr>
            <a:r>
              <a:rPr sz="1000" b="0" i="1" u="none">
                <a:solidFill>
                  <a:srgbClr val="232A38"/>
                </a:solidFill>
                <a:latin typeface="Calibri"/>
              </a:rPr>
              <a:t>Matthew 6:9-13</a:t>
            </a:r>
          </a:p>
          <a:p>
            <a:pPr algn="l">
              <a:lnSpc>
                <a:spcPct val="108000"/>
              </a:lnSpc>
              <a:spcBef>
                <a:spcPts val="0"/>
              </a:spcBef>
              <a:spcAft>
                <a:spcPts val="250"/>
              </a:spcAft>
            </a:pPr>
            <a:r>
              <a:rPr sz="1000" b="0" i="1" u="none">
                <a:solidFill>
                  <a:srgbClr val="232A38"/>
                </a:solidFill>
                <a:latin typeface="Calibri"/>
              </a:rPr>
              <a:t>Matthew 13:1-52</a:t>
            </a:r>
          </a:p>
          <a:p>
            <a:pPr algn="l">
              <a:lnSpc>
                <a:spcPct val="110000"/>
              </a:lnSpc>
              <a:spcBef>
                <a:spcPts val="400"/>
              </a:spcBef>
              <a:spcAft>
                <a:spcPts val="0"/>
              </a:spcAft>
            </a:pPr>
            <a:r>
              <a:rPr sz="950" b="0" i="0" u="none">
                <a:solidFill>
                  <a:srgbClr val="4C566B"/>
                </a:solidFill>
                <a:latin typeface="Calibri"/>
              </a:rPr>
              <a:t>The kingdom of God is the central theme of the Synoptic Gospels and the framework of the teaching of Christ.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kingdom of God — the reign of God drawn near in Christ — is the central theme of the teaching of Christ and the ground of the Church's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Miracles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miracles of Christ are the supernatural acts by which he demonstrated his divine power and the reality of the kingdom. The Gospels record over thirty miracles, including the raising of the dead, the healing of the sick, the stilling of the storm, and the feeding of the multitudes. The miracles are not mere exhibitions of power but the signs of the kingdom and the demonstration of the compassion of Christ. They are the ground of the faith of the disciples and the evidence of the deity of Christ. The doctrine of the miracles is to be held in balance: they are real, they are the signs of the kingdom, and they are not to be separated from the teaching and the person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miracles as the signs of the kingdom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raising of the dead, the healings, the nature miracles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demonstration of the compassion and the deity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faith of the disciples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2:11</a:t>
            </a:r>
          </a:p>
          <a:p>
            <a:pPr algn="l">
              <a:lnSpc>
                <a:spcPct val="108000"/>
              </a:lnSpc>
              <a:spcBef>
                <a:spcPts val="0"/>
              </a:spcBef>
              <a:spcAft>
                <a:spcPts val="250"/>
              </a:spcAft>
            </a:pPr>
            <a:r>
              <a:rPr sz="1000" b="0" i="1" u="none">
                <a:solidFill>
                  <a:srgbClr val="232A38"/>
                </a:solidFill>
                <a:latin typeface="Calibri"/>
              </a:rPr>
              <a:t>John 11:1-44</a:t>
            </a:r>
          </a:p>
          <a:p>
            <a:pPr algn="l">
              <a:lnSpc>
                <a:spcPct val="108000"/>
              </a:lnSpc>
              <a:spcBef>
                <a:spcPts val="0"/>
              </a:spcBef>
              <a:spcAft>
                <a:spcPts val="250"/>
              </a:spcAft>
            </a:pPr>
            <a:r>
              <a:rPr sz="1000" b="0" i="1" u="none">
                <a:solidFill>
                  <a:srgbClr val="232A38"/>
                </a:solidFill>
                <a:latin typeface="Calibri"/>
              </a:rPr>
              <a:t>Mark 4:39</a:t>
            </a:r>
          </a:p>
          <a:p>
            <a:pPr algn="l">
              <a:lnSpc>
                <a:spcPct val="108000"/>
              </a:lnSpc>
              <a:spcBef>
                <a:spcPts val="0"/>
              </a:spcBef>
              <a:spcAft>
                <a:spcPts val="250"/>
              </a:spcAft>
            </a:pPr>
            <a:r>
              <a:rPr sz="1000" b="0" i="1" u="none">
                <a:solidFill>
                  <a:srgbClr val="232A38"/>
                </a:solidFill>
                <a:latin typeface="Calibri"/>
              </a:rPr>
              <a:t>Matthew 14:13-21</a:t>
            </a:r>
          </a:p>
          <a:p>
            <a:pPr algn="l">
              <a:lnSpc>
                <a:spcPct val="110000"/>
              </a:lnSpc>
              <a:spcBef>
                <a:spcPts val="400"/>
              </a:spcBef>
              <a:spcAft>
                <a:spcPts val="0"/>
              </a:spcAft>
            </a:pPr>
            <a:r>
              <a:rPr sz="950" b="0" i="0" u="none">
                <a:solidFill>
                  <a:srgbClr val="4C566B"/>
                </a:solidFill>
                <a:latin typeface="Calibri"/>
              </a:rPr>
              <a:t>The miracles of Christ are the demonstration of his divine power and the ground of the apostolic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miracles of Christ are the signs of the kingdom and the demonstration of his compassion and deity, the ground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the Atonement: General Principles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atonement is the work of Christ by which he reconciles sinners to God. The general principles of the atonement are: it is the work of the God-man, the mediator; it is the work of the whole person of Christ, not merely his human nature; it is accomplished by his death, his burial and his resurrection; and it is the ground of the reconciliation of the sinner to God. The atonement is both objective — the work by which God is satisfied and the sinner reconciled — and subjective — the application of that work to the believer by the Spirit. The doctrine of the atonement is the heart of the gospel and the ground of the whole of the Christian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atonement as the work of the God-man, the mediator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work of the whole person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Accomplished by death, burial and resurrection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objective and the subjective aspects of the atonement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3:24-25</a:t>
            </a:r>
          </a:p>
          <a:p>
            <a:pPr algn="l">
              <a:lnSpc>
                <a:spcPct val="108000"/>
              </a:lnSpc>
              <a:spcBef>
                <a:spcPts val="0"/>
              </a:spcBef>
              <a:spcAft>
                <a:spcPts val="250"/>
              </a:spcAft>
            </a:pPr>
            <a:r>
              <a:rPr sz="1000" b="0" i="1" u="none">
                <a:solidFill>
                  <a:srgbClr val="232A38"/>
                </a:solidFill>
                <a:latin typeface="Calibri"/>
              </a:rPr>
              <a:t>Romans 5:8-11</a:t>
            </a:r>
          </a:p>
          <a:p>
            <a:pPr algn="l">
              <a:lnSpc>
                <a:spcPct val="108000"/>
              </a:lnSpc>
              <a:spcBef>
                <a:spcPts val="0"/>
              </a:spcBef>
              <a:spcAft>
                <a:spcPts val="250"/>
              </a:spcAft>
            </a:pPr>
            <a:r>
              <a:rPr sz="1000" b="0" i="1" u="none">
                <a:solidFill>
                  <a:srgbClr val="232A38"/>
                </a:solidFill>
                <a:latin typeface="Calibri"/>
              </a:rPr>
              <a:t>2 Corinthians 5:18-19</a:t>
            </a:r>
          </a:p>
          <a:p>
            <a:pPr algn="l">
              <a:lnSpc>
                <a:spcPct val="108000"/>
              </a:lnSpc>
              <a:spcBef>
                <a:spcPts val="0"/>
              </a:spcBef>
              <a:spcAft>
                <a:spcPts val="250"/>
              </a:spcAft>
            </a:pPr>
            <a:r>
              <a:rPr sz="1000" b="0" i="1" u="none">
                <a:solidFill>
                  <a:srgbClr val="232A38"/>
                </a:solidFill>
                <a:latin typeface="Calibri"/>
              </a:rPr>
              <a:t>Hebrews 9:11-14</a:t>
            </a:r>
          </a:p>
          <a:p>
            <a:pPr algn="l">
              <a:lnSpc>
                <a:spcPct val="110000"/>
              </a:lnSpc>
              <a:spcBef>
                <a:spcPts val="400"/>
              </a:spcBef>
              <a:spcAft>
                <a:spcPts val="0"/>
              </a:spcAft>
            </a:pPr>
            <a:r>
              <a:rPr sz="950" b="0" i="0" u="none">
                <a:solidFill>
                  <a:srgbClr val="4C566B"/>
                </a:solidFill>
                <a:latin typeface="Calibri"/>
              </a:rPr>
              <a:t>The doctrine of the atonement is the heart of the gospel and the ground of the whole of the Christian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atonement is the work of the God-man by which he reconciles sinners to God, the heart of the gospel and the ground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of Christ's Death as a Sacrifice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death of Christ is a sacrifice — the offering of himself to God as the propitiation for sin (Rom 3:25; 1 John 2:2). The sacrificial language of the New Testament is drawn from the Old Testament system of sacrifice, in which the blood of the victim was the means of the atonement. Christ is the Lamb of God who takes away the sin of the world (John 1:29), the Passover lamb (1 Cor 5:7), the high priest who offers himself (Heb 9:11-14). The sacrifice of Christ is once for all, perfect and sufficient, and it is the ground of the new covenant. The doctrine of the sacrifice is the scriptural foundation of the atonement and the ground of the believer's approach to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death of Christ as the propitiation for sin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sacrificial language drawn from the Old Testament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 as the Lamb of God and the Passover lamb</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once-for-all, perfect and sufficient sacrifice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1:29</a:t>
            </a:r>
          </a:p>
          <a:p>
            <a:pPr algn="l">
              <a:lnSpc>
                <a:spcPct val="108000"/>
              </a:lnSpc>
              <a:spcBef>
                <a:spcPts val="0"/>
              </a:spcBef>
              <a:spcAft>
                <a:spcPts val="250"/>
              </a:spcAft>
            </a:pPr>
            <a:r>
              <a:rPr sz="1000" b="0" i="1" u="none">
                <a:solidFill>
                  <a:srgbClr val="232A38"/>
                </a:solidFill>
                <a:latin typeface="Calibri"/>
              </a:rPr>
              <a:t>Romans 3:25</a:t>
            </a:r>
          </a:p>
          <a:p>
            <a:pPr algn="l">
              <a:lnSpc>
                <a:spcPct val="108000"/>
              </a:lnSpc>
              <a:spcBef>
                <a:spcPts val="0"/>
              </a:spcBef>
              <a:spcAft>
                <a:spcPts val="250"/>
              </a:spcAft>
            </a:pPr>
            <a:r>
              <a:rPr sz="1000" b="0" i="1" u="none">
                <a:solidFill>
                  <a:srgbClr val="232A38"/>
                </a:solidFill>
                <a:latin typeface="Calibri"/>
              </a:rPr>
              <a:t>1 Corinthians 5:7</a:t>
            </a:r>
          </a:p>
          <a:p>
            <a:pPr algn="l">
              <a:lnSpc>
                <a:spcPct val="108000"/>
              </a:lnSpc>
              <a:spcBef>
                <a:spcPts val="0"/>
              </a:spcBef>
              <a:spcAft>
                <a:spcPts val="250"/>
              </a:spcAft>
            </a:pPr>
            <a:r>
              <a:rPr sz="1000" b="0" i="1" u="none">
                <a:solidFill>
                  <a:srgbClr val="232A38"/>
                </a:solidFill>
                <a:latin typeface="Calibri"/>
              </a:rPr>
              <a:t>Hebrews 9:11-14</a:t>
            </a:r>
          </a:p>
          <a:p>
            <a:pPr algn="l">
              <a:lnSpc>
                <a:spcPct val="110000"/>
              </a:lnSpc>
              <a:spcBef>
                <a:spcPts val="400"/>
              </a:spcBef>
              <a:spcAft>
                <a:spcPts val="0"/>
              </a:spcAft>
            </a:pPr>
            <a:r>
              <a:rPr sz="950" b="0" i="0" u="none">
                <a:solidFill>
                  <a:srgbClr val="4C566B"/>
                </a:solidFill>
                <a:latin typeface="Calibri"/>
              </a:rPr>
              <a:t>The doctrine of the sacrifice of Christ is the scriptural foundation of the atonement, drawn from the Old Testament system of sacrifice.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death of Christ is a sacrifice — the offering of himself as the propitiation for sin, once for all, perfect and sufficient.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Major Theories of the Atonement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has developed several theories of the atonement, each emphasizing a different aspect of the work of Christ. The ransom theory presents the atonement as the payment of a ransom to liberate the captive sinner. The moral-influence theory presents the atonement as the demonstration of the love of God that moves the sinner to repentance. The satisfaction theory (Anselm) presents the atonement as the satisfaction of the honour of God. The penal-substitution theory presents the atonement as the bearing of the penalty of sin in the place of the sinner. The great councils and the Reformed confessions affirm the penal-substitutionary aspect as the central meaning of the atonement, while acknowledging the other aspects as genuine but secondary. The responsible position is to hold the whole of the atonement, with the penal-substitutionary aspect at its centre.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ransom theory: liberation of the captive sinner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moral-influence theory: the demonstration of the love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satisfaction theory (Anselm): the satisfaction of the honour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penal-substitution theory: the bearing of the penalty in the sinner's place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3:25-26</a:t>
            </a:r>
          </a:p>
          <a:p>
            <a:pPr algn="l">
              <a:lnSpc>
                <a:spcPct val="108000"/>
              </a:lnSpc>
              <a:spcBef>
                <a:spcPts val="0"/>
              </a:spcBef>
              <a:spcAft>
                <a:spcPts val="250"/>
              </a:spcAft>
            </a:pPr>
            <a:r>
              <a:rPr sz="1000" b="0" i="1" u="none">
                <a:solidFill>
                  <a:srgbClr val="232A38"/>
                </a:solidFill>
                <a:latin typeface="Calibri"/>
              </a:rPr>
              <a:t>Romans 5:8</a:t>
            </a:r>
          </a:p>
          <a:p>
            <a:pPr algn="l">
              <a:lnSpc>
                <a:spcPct val="108000"/>
              </a:lnSpc>
              <a:spcBef>
                <a:spcPts val="0"/>
              </a:spcBef>
              <a:spcAft>
                <a:spcPts val="250"/>
              </a:spcAft>
            </a:pPr>
            <a:r>
              <a:rPr sz="1000" b="0" i="1" u="none">
                <a:solidFill>
                  <a:srgbClr val="232A38"/>
                </a:solidFill>
                <a:latin typeface="Calibri"/>
              </a:rPr>
              <a:t>2 Corinthians 5:21</a:t>
            </a:r>
          </a:p>
          <a:p>
            <a:pPr algn="l">
              <a:lnSpc>
                <a:spcPct val="108000"/>
              </a:lnSpc>
              <a:spcBef>
                <a:spcPts val="0"/>
              </a:spcBef>
              <a:spcAft>
                <a:spcPts val="250"/>
              </a:spcAft>
            </a:pPr>
            <a:r>
              <a:rPr sz="1000" b="0" i="1" u="none">
                <a:solidFill>
                  <a:srgbClr val="232A38"/>
                </a:solidFill>
                <a:latin typeface="Calibri"/>
              </a:rPr>
              <a:t>Galatians 3:13</a:t>
            </a:r>
          </a:p>
          <a:p>
            <a:pPr algn="l">
              <a:lnSpc>
                <a:spcPct val="110000"/>
              </a:lnSpc>
              <a:spcBef>
                <a:spcPts val="400"/>
              </a:spcBef>
              <a:spcAft>
                <a:spcPts val="0"/>
              </a:spcAft>
            </a:pPr>
            <a:r>
              <a:rPr sz="950" b="0" i="0" u="none">
                <a:solidFill>
                  <a:srgbClr val="4C566B"/>
                </a:solidFill>
                <a:latin typeface="Calibri"/>
              </a:rPr>
              <a:t>The theories of the atonement were developed from the early Church (Chrysostom, Anselm) to the Reformation (Luther, Calvin).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atonement has several genuine aspects, but its centre is the penal-substitutionary bearing of the penalty of sin in the sinner's place.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Substitution and Penal Satisfaction in the Atonement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doctrine of penal substitution holds that Christ, in his death, bore the penalty of sin in the place of the sinner, satisfying the justice of God and making it possible for God to be just and the justifier of the one who believes (Rom 3:26). The substitution is real: Christ stood in the place of the sinner, 'he made him to be sin who knew no sin, that we might become the righteousness of God in him' (2 Cor 5:21). The penal satisfaction is the satisfaction of the justice of God: the penalty due to the sinner was borne by the Son, and the justice of God was satisfied. The doctrine is the ground of the assurance of the believer and of the confidence that the righteousness of God is not compromised by the pardon of the sinner.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substitution: Christ standing in the place of the sinner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penal satisfaction: the satisfaction of the justice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assurance of the believer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reconciliation of the justice and the mercy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3:26</a:t>
            </a:r>
          </a:p>
          <a:p>
            <a:pPr algn="l">
              <a:lnSpc>
                <a:spcPct val="108000"/>
              </a:lnSpc>
              <a:spcBef>
                <a:spcPts val="0"/>
              </a:spcBef>
              <a:spcAft>
                <a:spcPts val="250"/>
              </a:spcAft>
            </a:pPr>
            <a:r>
              <a:rPr sz="1000" b="0" i="1" u="none">
                <a:solidFill>
                  <a:srgbClr val="232A38"/>
                </a:solidFill>
                <a:latin typeface="Calibri"/>
              </a:rPr>
              <a:t>2 Corinthians 5:21</a:t>
            </a:r>
          </a:p>
          <a:p>
            <a:pPr algn="l">
              <a:lnSpc>
                <a:spcPct val="108000"/>
              </a:lnSpc>
              <a:spcBef>
                <a:spcPts val="0"/>
              </a:spcBef>
              <a:spcAft>
                <a:spcPts val="250"/>
              </a:spcAft>
            </a:pPr>
            <a:r>
              <a:rPr sz="1000" b="0" i="1" u="none">
                <a:solidFill>
                  <a:srgbClr val="232A38"/>
                </a:solidFill>
                <a:latin typeface="Calibri"/>
              </a:rPr>
              <a:t>Isaiah 53:5-6</a:t>
            </a:r>
          </a:p>
          <a:p>
            <a:pPr algn="l">
              <a:lnSpc>
                <a:spcPct val="108000"/>
              </a:lnSpc>
              <a:spcBef>
                <a:spcPts val="0"/>
              </a:spcBef>
              <a:spcAft>
                <a:spcPts val="250"/>
              </a:spcAft>
            </a:pPr>
            <a:r>
              <a:rPr sz="1000" b="0" i="1" u="none">
                <a:solidFill>
                  <a:srgbClr val="232A38"/>
                </a:solidFill>
                <a:latin typeface="Calibri"/>
              </a:rPr>
              <a:t>Galatians 3:13</a:t>
            </a:r>
          </a:p>
          <a:p>
            <a:pPr algn="l">
              <a:lnSpc>
                <a:spcPct val="110000"/>
              </a:lnSpc>
              <a:spcBef>
                <a:spcPts val="400"/>
              </a:spcBef>
              <a:spcAft>
                <a:spcPts val="0"/>
              </a:spcAft>
            </a:pPr>
            <a:r>
              <a:rPr sz="950" b="0" i="0" u="none">
                <a:solidFill>
                  <a:srgbClr val="4C566B"/>
                </a:solidFill>
                <a:latin typeface="Calibri"/>
              </a:rPr>
              <a:t>The doctrine of penal substitution was the central doctrine of the Reformation and is affirmed in the Reformed confessions.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In his death Christ bore the penalty of sin in the sinner's place, satisfying the justice of God and making possible the pardon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Resurrection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089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resurrection of Christ is the raising of the crucified Lord from the dead by the power of the Father. It is the vindication of the person and work of Christ, the demonstration of his victory over sin and death, and the ground of the hope of the believer. The New Testament is explicit that Christ 'was raised on the third day according to the Scriptures' (1 Cor 15:4), and that his resurrection is the 'firstfruits of those who have fallen asleep' (1 Cor 15:20). The resurrection is not a mere resuscitation but the entrance of the person of Christ into a new mode of existence — the glorified, risen life. The doctrine of the resurrection is the ground of the Christian hope and the demonstration of the power of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resurrection as the vindication of the person and work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demonstration of the victory over sin and death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firstfruits of the resurrection of the dead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entrance into the glorified, risen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15:3-4</a:t>
            </a:r>
          </a:p>
          <a:p>
            <a:pPr algn="l">
              <a:lnSpc>
                <a:spcPct val="108000"/>
              </a:lnSpc>
              <a:spcBef>
                <a:spcPts val="0"/>
              </a:spcBef>
              <a:spcAft>
                <a:spcPts val="250"/>
              </a:spcAft>
            </a:pPr>
            <a:r>
              <a:rPr sz="1000" b="0" i="1" u="none">
                <a:solidFill>
                  <a:srgbClr val="232A38"/>
                </a:solidFill>
                <a:latin typeface="Calibri"/>
              </a:rPr>
              <a:t>1 Corinthians 15:20</a:t>
            </a:r>
          </a:p>
          <a:p>
            <a:pPr algn="l">
              <a:lnSpc>
                <a:spcPct val="108000"/>
              </a:lnSpc>
              <a:spcBef>
                <a:spcPts val="0"/>
              </a:spcBef>
              <a:spcAft>
                <a:spcPts val="250"/>
              </a:spcAft>
            </a:pPr>
            <a:r>
              <a:rPr sz="1000" b="0" i="1" u="none">
                <a:solidFill>
                  <a:srgbClr val="232A38"/>
                </a:solidFill>
                <a:latin typeface="Calibri"/>
              </a:rPr>
              <a:t>Romans 6:9</a:t>
            </a:r>
          </a:p>
          <a:p>
            <a:pPr algn="l">
              <a:lnSpc>
                <a:spcPct val="108000"/>
              </a:lnSpc>
              <a:spcBef>
                <a:spcPts val="0"/>
              </a:spcBef>
              <a:spcAft>
                <a:spcPts val="250"/>
              </a:spcAft>
            </a:pPr>
            <a:r>
              <a:rPr sz="1000" b="0" i="1" u="none">
                <a:solidFill>
                  <a:srgbClr val="232A38"/>
                </a:solidFill>
                <a:latin typeface="Calibri"/>
              </a:rPr>
              <a:t>Acts 2:24-32</a:t>
            </a:r>
          </a:p>
          <a:p>
            <a:pPr algn="l">
              <a:lnSpc>
                <a:spcPct val="110000"/>
              </a:lnSpc>
              <a:spcBef>
                <a:spcPts val="400"/>
              </a:spcBef>
              <a:spcAft>
                <a:spcPts val="0"/>
              </a:spcAft>
            </a:pPr>
            <a:r>
              <a:rPr sz="950" b="0" i="0" u="none">
                <a:solidFill>
                  <a:srgbClr val="4C566B"/>
                </a:solidFill>
                <a:latin typeface="Calibri"/>
              </a:rPr>
              <a:t>The resurrection is the central event of the Christian faith and the ground of the hope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resurrection of Christ is the vindication of his work, the victory over sin and death, and the firstfruits of the hope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Ascension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ascension of Christ is the bodily ascent of the risen Lord into heaven, at the right hand of God. It is the completion of the humiliation and the exaltation of Christ, and it is the ground of his present session and intercession. The New Testament records the ascension (Acts 1:9-11) and the session at the right hand of the Father (Eph 1:20; Heb 1:3). The ascension is the ground of the Church's confidence that Christ is now in heaven, interceding for his people and preparing a place for them (John 14:2-3). The doctrine of the ascension is the bridge between the resurrection and the present ministry of Christ, and it is the ground of the Church's hope of its own ascent.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bodily ascent of the risen Lord into heaven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completion of the humiliation and the exaltation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present session and intercession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preparation of a place for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1:9-11</a:t>
            </a:r>
          </a:p>
          <a:p>
            <a:pPr algn="l">
              <a:lnSpc>
                <a:spcPct val="108000"/>
              </a:lnSpc>
              <a:spcBef>
                <a:spcPts val="0"/>
              </a:spcBef>
              <a:spcAft>
                <a:spcPts val="250"/>
              </a:spcAft>
            </a:pPr>
            <a:r>
              <a:rPr sz="1000" b="0" i="1" u="none">
                <a:solidFill>
                  <a:srgbClr val="232A38"/>
                </a:solidFill>
                <a:latin typeface="Calibri"/>
              </a:rPr>
              <a:t>Ephesians 1:20</a:t>
            </a:r>
          </a:p>
          <a:p>
            <a:pPr algn="l">
              <a:lnSpc>
                <a:spcPct val="108000"/>
              </a:lnSpc>
              <a:spcBef>
                <a:spcPts val="0"/>
              </a:spcBef>
              <a:spcAft>
                <a:spcPts val="250"/>
              </a:spcAft>
            </a:pPr>
            <a:r>
              <a:rPr sz="1000" b="0" i="1" u="none">
                <a:solidFill>
                  <a:srgbClr val="232A38"/>
                </a:solidFill>
                <a:latin typeface="Calibri"/>
              </a:rPr>
              <a:t>Hebrews 1:3</a:t>
            </a:r>
          </a:p>
          <a:p>
            <a:pPr algn="l">
              <a:lnSpc>
                <a:spcPct val="108000"/>
              </a:lnSpc>
              <a:spcBef>
                <a:spcPts val="0"/>
              </a:spcBef>
              <a:spcAft>
                <a:spcPts val="250"/>
              </a:spcAft>
            </a:pPr>
            <a:r>
              <a:rPr sz="1000" b="0" i="1" u="none">
                <a:solidFill>
                  <a:srgbClr val="232A38"/>
                </a:solidFill>
                <a:latin typeface="Calibri"/>
              </a:rPr>
              <a:t>John 14:2-3</a:t>
            </a:r>
          </a:p>
          <a:p>
            <a:pPr algn="l">
              <a:lnSpc>
                <a:spcPct val="110000"/>
              </a:lnSpc>
              <a:spcBef>
                <a:spcPts val="400"/>
              </a:spcBef>
              <a:spcAft>
                <a:spcPts val="0"/>
              </a:spcAft>
            </a:pPr>
            <a:r>
              <a:rPr sz="950" b="0" i="0" u="none">
                <a:solidFill>
                  <a:srgbClr val="4C566B"/>
                </a:solidFill>
                <a:latin typeface="Calibri"/>
              </a:rPr>
              <a:t>The ascension is the completion of the work of Christ and the ground of his present ministry at the right hand of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ascension of Christ is the completion of his exaltation, the ground of his present intercession, and the hope of the Church's own ascent.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Present Session and Intercession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present session of Christ is his enthronement at the right hand of the Father, in heaven, where he reigns over all things and intercedes for his people. The session is the ground of the Church's confidence that Christ is now active in her behalf, and the intercession is the ground of the assurance of the believer. The New Testament presents Christ as the high priest who 'ever lives to make intercession for us' (Heb 7:25) and as the mediator who 'always intercedes' for his people (Rom 8:34). The present ministry of Christ is the application of the work of the atonement to the life of the Church, and it is the ground of the Christian's confidence in prayer and in the trial.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session at the right hand of the Father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reign of Christ over all things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intercession for his people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application of the atonement to the life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Hebrews 7:25</a:t>
            </a:r>
          </a:p>
          <a:p>
            <a:pPr algn="l">
              <a:lnSpc>
                <a:spcPct val="108000"/>
              </a:lnSpc>
              <a:spcBef>
                <a:spcPts val="0"/>
              </a:spcBef>
              <a:spcAft>
                <a:spcPts val="250"/>
              </a:spcAft>
            </a:pPr>
            <a:r>
              <a:rPr sz="1000" b="0" i="1" u="none">
                <a:solidFill>
                  <a:srgbClr val="232A38"/>
                </a:solidFill>
                <a:latin typeface="Calibri"/>
              </a:rPr>
              <a:t>Romans 8:34</a:t>
            </a:r>
          </a:p>
          <a:p>
            <a:pPr algn="l">
              <a:lnSpc>
                <a:spcPct val="108000"/>
              </a:lnSpc>
              <a:spcBef>
                <a:spcPts val="0"/>
              </a:spcBef>
              <a:spcAft>
                <a:spcPts val="250"/>
              </a:spcAft>
            </a:pPr>
            <a:r>
              <a:rPr sz="1000" b="0" i="1" u="none">
                <a:solidFill>
                  <a:srgbClr val="232A38"/>
                </a:solidFill>
                <a:latin typeface="Calibri"/>
              </a:rPr>
              <a:t>Ephesians 1:20-23</a:t>
            </a:r>
          </a:p>
          <a:p>
            <a:pPr algn="l">
              <a:lnSpc>
                <a:spcPct val="108000"/>
              </a:lnSpc>
              <a:spcBef>
                <a:spcPts val="0"/>
              </a:spcBef>
              <a:spcAft>
                <a:spcPts val="250"/>
              </a:spcAft>
            </a:pPr>
            <a:r>
              <a:rPr sz="1000" b="0" i="1" u="none">
                <a:solidFill>
                  <a:srgbClr val="232A38"/>
                </a:solidFill>
                <a:latin typeface="Calibri"/>
              </a:rPr>
              <a:t>Hebrews 9:24</a:t>
            </a:r>
          </a:p>
          <a:p>
            <a:pPr algn="l">
              <a:lnSpc>
                <a:spcPct val="110000"/>
              </a:lnSpc>
              <a:spcBef>
                <a:spcPts val="400"/>
              </a:spcBef>
              <a:spcAft>
                <a:spcPts val="0"/>
              </a:spcAft>
            </a:pPr>
            <a:r>
              <a:rPr sz="950" b="0" i="0" u="none">
                <a:solidFill>
                  <a:srgbClr val="4C566B"/>
                </a:solidFill>
                <a:latin typeface="Calibri"/>
              </a:rPr>
              <a:t>The present ministry of Christ is the application of the atonement to the life of the Church and the ground of the Christian's confidence.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 now reigns at the right hand of the Father and intercedes for his people, the ground of the Church's confidence and the Christian's assurance.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Second Coming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second coming of Christ is the doctrine that the risen and ascended Lord will come again, visibly and in power, to judge the living and the dead and to consummate the kingdom of God. The New Testament is explicit that 'the Lord himself will descend from heaven' (1 Thess 4:16) and that he will come 'in glory' (Matt 25:31). The second coming is the ground of the Christian hope and the motivation of the Christian life. The doctrine is to be held in balance: it is certain, it is the goal of the Church's hope, and it is the motivation of the Christian's witness and of his holy living. The doctrine of the second coming is the eschatological counterpart of the incarnation: as Christ came in humility, so he will come in glory.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visible, personal and certain return of the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coming in power to judge the living and the dead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consummation of the kingdom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 hope and the motivation of the life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25:31</a:t>
            </a:r>
          </a:p>
          <a:p>
            <a:pPr algn="l">
              <a:lnSpc>
                <a:spcPct val="108000"/>
              </a:lnSpc>
              <a:spcBef>
                <a:spcPts val="0"/>
              </a:spcBef>
              <a:spcAft>
                <a:spcPts val="250"/>
              </a:spcAft>
            </a:pPr>
            <a:r>
              <a:rPr sz="1000" b="0" i="1" u="none">
                <a:solidFill>
                  <a:srgbClr val="232A38"/>
                </a:solidFill>
                <a:latin typeface="Calibri"/>
              </a:rPr>
              <a:t>1 Thessalonians 4:16</a:t>
            </a:r>
          </a:p>
          <a:p>
            <a:pPr algn="l">
              <a:lnSpc>
                <a:spcPct val="108000"/>
              </a:lnSpc>
              <a:spcBef>
                <a:spcPts val="0"/>
              </a:spcBef>
              <a:spcAft>
                <a:spcPts val="250"/>
              </a:spcAft>
            </a:pPr>
            <a:r>
              <a:rPr sz="1000" b="0" i="1" u="none">
                <a:solidFill>
                  <a:srgbClr val="232A38"/>
                </a:solidFill>
                <a:latin typeface="Calibri"/>
              </a:rPr>
              <a:t>Acts 1:11</a:t>
            </a:r>
          </a:p>
          <a:p>
            <a:pPr algn="l">
              <a:lnSpc>
                <a:spcPct val="108000"/>
              </a:lnSpc>
              <a:spcBef>
                <a:spcPts val="0"/>
              </a:spcBef>
              <a:spcAft>
                <a:spcPts val="250"/>
              </a:spcAft>
            </a:pPr>
            <a:r>
              <a:rPr sz="1000" b="0" i="1" u="none">
                <a:solidFill>
                  <a:srgbClr val="232A38"/>
                </a:solidFill>
                <a:latin typeface="Calibri"/>
              </a:rPr>
              <a:t>Revelation 1:7</a:t>
            </a:r>
          </a:p>
          <a:p>
            <a:pPr algn="l">
              <a:lnSpc>
                <a:spcPct val="110000"/>
              </a:lnSpc>
              <a:spcBef>
                <a:spcPts val="400"/>
              </a:spcBef>
              <a:spcAft>
                <a:spcPts val="0"/>
              </a:spcAft>
            </a:pPr>
            <a:r>
              <a:rPr sz="950" b="0" i="0" u="none">
                <a:solidFill>
                  <a:srgbClr val="4C566B"/>
                </a:solidFill>
                <a:latin typeface="Calibri"/>
              </a:rPr>
              <a:t>The second coming is the eschatological counterpart of the incarnation and the ground of the Christian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Lord Jesus will come again, visibly and in power, to judge the world and to consummate the kingdom — the ground of the Christian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07  ·  CHRISTOLOGY: THE PERSON AND WORK OF CHRIST</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The Course of Christ: Incarnation to Present Session</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97280" y="3657600"/>
            <a:ext cx="10012680" cy="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97280" y="3090672"/>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40587"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6615" y="1920239"/>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56615" y="1920239"/>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66343" y="2011679"/>
            <a:ext cx="1261872" cy="896112"/>
          </a:xfrm>
          <a:prstGeom prst="rect">
            <a:avLst/>
          </a:prstGeom>
          <a:noFill/>
        </p:spPr>
        <p:txBody>
          <a:bodyPr wrap="square" anchor="t" lIns="0" rIns="0" tIns="0" bIns="0">
            <a:spAutoFit/>
          </a:bodyPr>
          <a:lstStyle/>
          <a:p>
            <a:pPr algn="l">
              <a:lnSpc>
                <a:spcPct val="100000"/>
              </a:lnSpc>
              <a:spcBef>
                <a:spcPts val="0"/>
              </a:spcBef>
              <a:spcAft>
                <a:spcPts val="100"/>
              </a:spcAft>
            </a:pPr>
            <a:r>
              <a:rPr sz="1200" b="1" i="0" u="none">
                <a:solidFill>
                  <a:srgbClr val="C9A45C"/>
                </a:solidFill>
                <a:latin typeface="Palatino Linotype"/>
              </a:rPr>
              <a:t>1</a:t>
            </a:r>
          </a:p>
          <a:p>
            <a:pPr algn="l">
              <a:lnSpc>
                <a:spcPct val="100000"/>
              </a:lnSpc>
              <a:spcBef>
                <a:spcPts val="0"/>
              </a:spcBef>
              <a:spcAft>
                <a:spcPts val="200"/>
              </a:spcAft>
            </a:pPr>
            <a:r>
              <a:rPr sz="930" b="1" i="0" u="none" spc="50">
                <a:solidFill>
                  <a:srgbClr val="E6D3A3"/>
                </a:solidFill>
                <a:latin typeface="Calibri Light"/>
              </a:rPr>
              <a:t>PRE-EXISTENCE</a:t>
            </a:r>
          </a:p>
          <a:p>
            <a:pPr algn="l">
              <a:lnSpc>
                <a:spcPct val="102000"/>
              </a:lnSpc>
              <a:spcBef>
                <a:spcPts val="0"/>
              </a:spcBef>
              <a:spcAft>
                <a:spcPts val="200"/>
              </a:spcAft>
            </a:pPr>
            <a:r>
              <a:rPr sz="900" b="0" i="1" u="none">
                <a:solidFill>
                  <a:srgbClr val="C9CDD6"/>
                </a:solidFill>
                <a:latin typeface="Palatino Linotype"/>
              </a:rPr>
              <a:t>the eternal Word</a:t>
            </a:r>
          </a:p>
          <a:p>
            <a:pPr algn="l">
              <a:lnSpc>
                <a:spcPct val="100000"/>
              </a:lnSpc>
              <a:spcBef>
                <a:spcPts val="0"/>
              </a:spcBef>
              <a:spcAft>
                <a:spcPts val="0"/>
              </a:spcAft>
            </a:pPr>
            <a:r>
              <a:rPr sz="819" b="0" i="0" u="none">
                <a:solidFill>
                  <a:srgbClr val="9AA5BC"/>
                </a:solidFill>
                <a:latin typeface="Calibri"/>
              </a:rPr>
              <a:t>John 1:1; Col. 1:17</a:t>
            </a:r>
          </a:p>
        </p:txBody>
      </p:sp>
      <p:cxnSp>
        <p:nvCxnSpPr>
          <p:cNvPr id="13" name="Connector 12"/>
          <p:cNvCxnSpPr/>
          <p:nvPr/>
        </p:nvCxnSpPr>
        <p:spPr>
          <a:xfrm>
            <a:off x="3099816" y="3657600"/>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043123"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59152" y="4334256"/>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359152" y="5358384"/>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468880" y="4425696"/>
            <a:ext cx="1261872" cy="896112"/>
          </a:xfrm>
          <a:prstGeom prst="rect">
            <a:avLst/>
          </a:prstGeom>
          <a:noFill/>
        </p:spPr>
        <p:txBody>
          <a:bodyPr wrap="square" anchor="t" lIns="0" rIns="0" tIns="0" bIns="0">
            <a:spAutoFit/>
          </a:bodyPr>
          <a:lstStyle/>
          <a:p>
            <a:pPr algn="l">
              <a:lnSpc>
                <a:spcPct val="100000"/>
              </a:lnSpc>
              <a:spcBef>
                <a:spcPts val="0"/>
              </a:spcBef>
              <a:spcAft>
                <a:spcPts val="100"/>
              </a:spcAft>
            </a:pPr>
            <a:r>
              <a:rPr sz="1200" b="1" i="0" u="none">
                <a:solidFill>
                  <a:srgbClr val="C9A45C"/>
                </a:solidFill>
                <a:latin typeface="Palatino Linotype"/>
              </a:rPr>
              <a:t>2</a:t>
            </a:r>
          </a:p>
          <a:p>
            <a:pPr algn="l">
              <a:lnSpc>
                <a:spcPct val="100000"/>
              </a:lnSpc>
              <a:spcBef>
                <a:spcPts val="0"/>
              </a:spcBef>
              <a:spcAft>
                <a:spcPts val="200"/>
              </a:spcAft>
            </a:pPr>
            <a:r>
              <a:rPr sz="930" b="1" i="0" u="none" spc="50">
                <a:solidFill>
                  <a:srgbClr val="E6D3A3"/>
                </a:solidFill>
                <a:latin typeface="Calibri Light"/>
              </a:rPr>
              <a:t>INCARNATION</a:t>
            </a:r>
          </a:p>
          <a:p>
            <a:pPr algn="l">
              <a:lnSpc>
                <a:spcPct val="102000"/>
              </a:lnSpc>
              <a:spcBef>
                <a:spcPts val="0"/>
              </a:spcBef>
              <a:spcAft>
                <a:spcPts val="200"/>
              </a:spcAft>
            </a:pPr>
            <a:r>
              <a:rPr sz="900" b="0" i="1" u="none">
                <a:solidFill>
                  <a:srgbClr val="C9CDD6"/>
                </a:solidFill>
                <a:latin typeface="Palatino Linotype"/>
              </a:rPr>
              <a:t>the Word became flesh</a:t>
            </a:r>
          </a:p>
          <a:p>
            <a:pPr algn="l">
              <a:lnSpc>
                <a:spcPct val="100000"/>
              </a:lnSpc>
              <a:spcBef>
                <a:spcPts val="0"/>
              </a:spcBef>
              <a:spcAft>
                <a:spcPts val="0"/>
              </a:spcAft>
            </a:pPr>
            <a:r>
              <a:rPr sz="819" b="0" i="0" u="none">
                <a:solidFill>
                  <a:srgbClr val="9AA5BC"/>
                </a:solidFill>
                <a:latin typeface="Calibri"/>
              </a:rPr>
              <a:t>John 1:14; Phil. 2:6-8</a:t>
            </a:r>
          </a:p>
        </p:txBody>
      </p:sp>
      <p:cxnSp>
        <p:nvCxnSpPr>
          <p:cNvPr id="18" name="Connector 17"/>
          <p:cNvCxnSpPr/>
          <p:nvPr/>
        </p:nvCxnSpPr>
        <p:spPr>
          <a:xfrm flipV="1">
            <a:off x="5102352" y="3090672"/>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045659"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61688" y="1920239"/>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361688" y="1920239"/>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71416" y="2011679"/>
            <a:ext cx="1261872" cy="896112"/>
          </a:xfrm>
          <a:prstGeom prst="rect">
            <a:avLst/>
          </a:prstGeom>
          <a:noFill/>
        </p:spPr>
        <p:txBody>
          <a:bodyPr wrap="square" anchor="t" lIns="0" rIns="0" tIns="0" bIns="0">
            <a:spAutoFit/>
          </a:bodyPr>
          <a:lstStyle/>
          <a:p>
            <a:pPr algn="l">
              <a:lnSpc>
                <a:spcPct val="100000"/>
              </a:lnSpc>
              <a:spcBef>
                <a:spcPts val="0"/>
              </a:spcBef>
              <a:spcAft>
                <a:spcPts val="100"/>
              </a:spcAft>
            </a:pPr>
            <a:r>
              <a:rPr sz="1200" b="1" i="0" u="none">
                <a:solidFill>
                  <a:srgbClr val="C9A45C"/>
                </a:solidFill>
                <a:latin typeface="Palatino Linotype"/>
              </a:rPr>
              <a:t>3</a:t>
            </a:r>
          </a:p>
          <a:p>
            <a:pPr algn="l">
              <a:lnSpc>
                <a:spcPct val="100000"/>
              </a:lnSpc>
              <a:spcBef>
                <a:spcPts val="0"/>
              </a:spcBef>
              <a:spcAft>
                <a:spcPts val="200"/>
              </a:spcAft>
            </a:pPr>
            <a:r>
              <a:rPr sz="930" b="1" i="0" u="none" spc="50">
                <a:solidFill>
                  <a:srgbClr val="E6D3A3"/>
                </a:solidFill>
                <a:latin typeface="Calibri Light"/>
              </a:rPr>
              <a:t>MINISTRY</a:t>
            </a:r>
          </a:p>
          <a:p>
            <a:pPr algn="l">
              <a:lnSpc>
                <a:spcPct val="102000"/>
              </a:lnSpc>
              <a:spcBef>
                <a:spcPts val="0"/>
              </a:spcBef>
              <a:spcAft>
                <a:spcPts val="200"/>
              </a:spcAft>
            </a:pPr>
            <a:r>
              <a:rPr sz="900" b="0" i="1" u="none">
                <a:solidFill>
                  <a:srgbClr val="C9CDD6"/>
                </a:solidFill>
                <a:latin typeface="Palatino Linotype"/>
              </a:rPr>
              <a:t>proclamation, miracles</a:t>
            </a:r>
          </a:p>
          <a:p>
            <a:pPr algn="l">
              <a:lnSpc>
                <a:spcPct val="100000"/>
              </a:lnSpc>
              <a:spcBef>
                <a:spcPts val="0"/>
              </a:spcBef>
              <a:spcAft>
                <a:spcPts val="0"/>
              </a:spcAft>
            </a:pPr>
            <a:r>
              <a:rPr sz="819" b="0" i="0" u="none">
                <a:solidFill>
                  <a:srgbClr val="9AA5BC"/>
                </a:solidFill>
                <a:latin typeface="Calibri"/>
              </a:rPr>
              <a:t>Luke 4:18; Mark 1:38</a:t>
            </a:r>
          </a:p>
        </p:txBody>
      </p:sp>
      <p:cxnSp>
        <p:nvCxnSpPr>
          <p:cNvPr id="23" name="Connector 22"/>
          <p:cNvCxnSpPr/>
          <p:nvPr/>
        </p:nvCxnSpPr>
        <p:spPr>
          <a:xfrm>
            <a:off x="7104888" y="3657600"/>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48195"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64224" y="4334256"/>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364224" y="5358384"/>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73952" y="4425696"/>
            <a:ext cx="1261872" cy="896112"/>
          </a:xfrm>
          <a:prstGeom prst="rect">
            <a:avLst/>
          </a:prstGeom>
          <a:noFill/>
        </p:spPr>
        <p:txBody>
          <a:bodyPr wrap="square" anchor="t" lIns="0" rIns="0" tIns="0" bIns="0">
            <a:spAutoFit/>
          </a:bodyPr>
          <a:lstStyle/>
          <a:p>
            <a:pPr algn="l">
              <a:lnSpc>
                <a:spcPct val="100000"/>
              </a:lnSpc>
              <a:spcBef>
                <a:spcPts val="0"/>
              </a:spcBef>
              <a:spcAft>
                <a:spcPts val="100"/>
              </a:spcAft>
            </a:pPr>
            <a:r>
              <a:rPr sz="1200" b="1" i="0" u="none">
                <a:solidFill>
                  <a:srgbClr val="C9A45C"/>
                </a:solidFill>
                <a:latin typeface="Palatino Linotype"/>
              </a:rPr>
              <a:t>4</a:t>
            </a:r>
          </a:p>
          <a:p>
            <a:pPr algn="l">
              <a:lnSpc>
                <a:spcPct val="100000"/>
              </a:lnSpc>
              <a:spcBef>
                <a:spcPts val="0"/>
              </a:spcBef>
              <a:spcAft>
                <a:spcPts val="200"/>
              </a:spcAft>
            </a:pPr>
            <a:r>
              <a:rPr sz="930" b="1" i="0" u="none" spc="50">
                <a:solidFill>
                  <a:srgbClr val="E6D3A3"/>
                </a:solidFill>
                <a:latin typeface="Calibri Light"/>
              </a:rPr>
              <a:t>DEATH</a:t>
            </a:r>
          </a:p>
          <a:p>
            <a:pPr algn="l">
              <a:lnSpc>
                <a:spcPct val="102000"/>
              </a:lnSpc>
              <a:spcBef>
                <a:spcPts val="0"/>
              </a:spcBef>
              <a:spcAft>
                <a:spcPts val="200"/>
              </a:spcAft>
            </a:pPr>
            <a:r>
              <a:rPr sz="900" b="0" i="1" u="none">
                <a:solidFill>
                  <a:srgbClr val="C9CDD6"/>
                </a:solidFill>
                <a:latin typeface="Palatino Linotype"/>
              </a:rPr>
              <a:t>the substitutionary crucifixion</a:t>
            </a:r>
          </a:p>
          <a:p>
            <a:pPr algn="l">
              <a:lnSpc>
                <a:spcPct val="100000"/>
              </a:lnSpc>
              <a:spcBef>
                <a:spcPts val="0"/>
              </a:spcBef>
              <a:spcAft>
                <a:spcPts val="0"/>
              </a:spcAft>
            </a:pPr>
            <a:r>
              <a:rPr sz="819" b="0" i="0" u="none">
                <a:solidFill>
                  <a:srgbClr val="9AA5BC"/>
                </a:solidFill>
                <a:latin typeface="Calibri"/>
              </a:rPr>
              <a:t>Rom. 5:8; 1 Pet. 2:24</a:t>
            </a:r>
          </a:p>
        </p:txBody>
      </p:sp>
      <p:cxnSp>
        <p:nvCxnSpPr>
          <p:cNvPr id="28" name="Connector 27"/>
          <p:cNvCxnSpPr/>
          <p:nvPr/>
        </p:nvCxnSpPr>
        <p:spPr>
          <a:xfrm flipV="1">
            <a:off x="9107424" y="3090672"/>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050731"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66760" y="1920239"/>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366760" y="1920239"/>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76488" y="2011679"/>
            <a:ext cx="1261872" cy="896112"/>
          </a:xfrm>
          <a:prstGeom prst="rect">
            <a:avLst/>
          </a:prstGeom>
          <a:noFill/>
        </p:spPr>
        <p:txBody>
          <a:bodyPr wrap="square" anchor="t" lIns="0" rIns="0" tIns="0" bIns="0">
            <a:spAutoFit/>
          </a:bodyPr>
          <a:lstStyle/>
          <a:p>
            <a:pPr algn="l">
              <a:lnSpc>
                <a:spcPct val="100000"/>
              </a:lnSpc>
              <a:spcBef>
                <a:spcPts val="0"/>
              </a:spcBef>
              <a:spcAft>
                <a:spcPts val="100"/>
              </a:spcAft>
            </a:pPr>
            <a:r>
              <a:rPr sz="1200" b="1" i="0" u="none">
                <a:solidFill>
                  <a:srgbClr val="C9A45C"/>
                </a:solidFill>
                <a:latin typeface="Palatino Linotype"/>
              </a:rPr>
              <a:t>5</a:t>
            </a:r>
          </a:p>
          <a:p>
            <a:pPr algn="l">
              <a:lnSpc>
                <a:spcPct val="100000"/>
              </a:lnSpc>
              <a:spcBef>
                <a:spcPts val="0"/>
              </a:spcBef>
              <a:spcAft>
                <a:spcPts val="200"/>
              </a:spcAft>
            </a:pPr>
            <a:r>
              <a:rPr sz="930" b="1" i="0" u="none" spc="50">
                <a:solidFill>
                  <a:srgbClr val="E6D3A3"/>
                </a:solidFill>
                <a:latin typeface="Calibri Light"/>
              </a:rPr>
              <a:t>RESURRECTION</a:t>
            </a:r>
          </a:p>
          <a:p>
            <a:pPr algn="l">
              <a:lnSpc>
                <a:spcPct val="102000"/>
              </a:lnSpc>
              <a:spcBef>
                <a:spcPts val="0"/>
              </a:spcBef>
              <a:spcAft>
                <a:spcPts val="200"/>
              </a:spcAft>
            </a:pPr>
            <a:r>
              <a:rPr sz="900" b="0" i="1" u="none">
                <a:solidFill>
                  <a:srgbClr val="C9CDD6"/>
                </a:solidFill>
                <a:latin typeface="Palatino Linotype"/>
              </a:rPr>
              <a:t>the firstfruits of the dead</a:t>
            </a:r>
          </a:p>
          <a:p>
            <a:pPr algn="l">
              <a:lnSpc>
                <a:spcPct val="100000"/>
              </a:lnSpc>
              <a:spcBef>
                <a:spcPts val="0"/>
              </a:spcBef>
              <a:spcAft>
                <a:spcPts val="0"/>
              </a:spcAft>
            </a:pPr>
            <a:r>
              <a:rPr sz="819" b="0" i="0" u="none">
                <a:solidFill>
                  <a:srgbClr val="9AA5BC"/>
                </a:solidFill>
                <a:latin typeface="Calibri"/>
              </a:rPr>
              <a:t>1 Cor. 15:20</a:t>
            </a:r>
          </a:p>
        </p:txBody>
      </p:sp>
      <p:cxnSp>
        <p:nvCxnSpPr>
          <p:cNvPr id="33" name="Connector 32"/>
          <p:cNvCxnSpPr/>
          <p:nvPr/>
        </p:nvCxnSpPr>
        <p:spPr>
          <a:xfrm>
            <a:off x="11109960" y="3657600"/>
            <a:ext cx="0" cy="566928"/>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1053267" y="3600907"/>
            <a:ext cx="113385" cy="113385"/>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369296" y="4334256"/>
            <a:ext cx="1481328" cy="106070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0369296" y="5358384"/>
            <a:ext cx="148132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0479024" y="4425696"/>
            <a:ext cx="1261872" cy="896112"/>
          </a:xfrm>
          <a:prstGeom prst="rect">
            <a:avLst/>
          </a:prstGeom>
          <a:noFill/>
        </p:spPr>
        <p:txBody>
          <a:bodyPr wrap="square" anchor="t" lIns="0" rIns="0" tIns="0" bIns="0">
            <a:spAutoFit/>
          </a:bodyPr>
          <a:lstStyle/>
          <a:p>
            <a:pPr algn="l">
              <a:lnSpc>
                <a:spcPct val="100000"/>
              </a:lnSpc>
              <a:spcBef>
                <a:spcPts val="0"/>
              </a:spcBef>
              <a:spcAft>
                <a:spcPts val="100"/>
              </a:spcAft>
            </a:pPr>
            <a:r>
              <a:rPr sz="1200" b="1" i="0" u="none">
                <a:solidFill>
                  <a:srgbClr val="C9A45C"/>
                </a:solidFill>
                <a:latin typeface="Palatino Linotype"/>
              </a:rPr>
              <a:t>6</a:t>
            </a:r>
          </a:p>
          <a:p>
            <a:pPr algn="l">
              <a:lnSpc>
                <a:spcPct val="100000"/>
              </a:lnSpc>
              <a:spcBef>
                <a:spcPts val="0"/>
              </a:spcBef>
              <a:spcAft>
                <a:spcPts val="200"/>
              </a:spcAft>
            </a:pPr>
            <a:r>
              <a:rPr sz="930" b="1" i="0" u="none" spc="50">
                <a:solidFill>
                  <a:srgbClr val="E6D3A3"/>
                </a:solidFill>
                <a:latin typeface="Calibri Light"/>
              </a:rPr>
              <a:t>ASCENSION &amp; SESSION</a:t>
            </a:r>
          </a:p>
          <a:p>
            <a:pPr algn="l">
              <a:lnSpc>
                <a:spcPct val="102000"/>
              </a:lnSpc>
              <a:spcBef>
                <a:spcPts val="0"/>
              </a:spcBef>
              <a:spcAft>
                <a:spcPts val="200"/>
              </a:spcAft>
            </a:pPr>
            <a:r>
              <a:rPr sz="900" b="0" i="1" u="none">
                <a:solidFill>
                  <a:srgbClr val="C9CDD6"/>
                </a:solidFill>
                <a:latin typeface="Palatino Linotype"/>
              </a:rPr>
              <a:t>heavenly intercession</a:t>
            </a:r>
          </a:p>
          <a:p>
            <a:pPr algn="l">
              <a:lnSpc>
                <a:spcPct val="100000"/>
              </a:lnSpc>
              <a:spcBef>
                <a:spcPts val="0"/>
              </a:spcBef>
              <a:spcAft>
                <a:spcPts val="0"/>
              </a:spcAft>
            </a:pPr>
            <a:r>
              <a:rPr sz="819" b="0" i="0" u="none">
                <a:solidFill>
                  <a:srgbClr val="9AA5BC"/>
                </a:solidFill>
                <a:latin typeface="Calibri"/>
              </a:rPr>
              <a:t>Acts 1:9-11; Heb. 7:25</a:t>
            </a:r>
          </a:p>
        </p:txBody>
      </p:sp>
      <p:sp>
        <p:nvSpPr>
          <p:cNvPr id="38" name="TextBox 37"/>
          <p:cNvSpPr txBox="1"/>
          <p:nvPr/>
        </p:nvSpPr>
        <p:spPr>
          <a:xfrm>
            <a:off x="1097280" y="5852160"/>
            <a:ext cx="10058400" cy="457200"/>
          </a:xfrm>
          <a:prstGeom prst="rect">
            <a:avLst/>
          </a:prstGeom>
          <a:noFill/>
        </p:spPr>
        <p:txBody>
          <a:bodyPr wrap="square" anchor="t" lIns="0" rIns="0" tIns="0" bIns="0">
            <a:spAutoFit/>
          </a:bodyPr>
          <a:lstStyle/>
          <a:p>
            <a:pPr algn="ctr">
              <a:lnSpc>
                <a:spcPct val="100000"/>
              </a:lnSpc>
              <a:spcBef>
                <a:spcPts val="0"/>
              </a:spcBef>
              <a:spcAft>
                <a:spcPts val="0"/>
              </a:spcAft>
            </a:pPr>
            <a:r>
              <a:rPr sz="1150" b="0" i="1" u="none">
                <a:solidFill>
                  <a:srgbClr val="C9CDD6"/>
                </a:solidFill>
                <a:latin typeface="Palatino Linotype"/>
              </a:rPr>
              <a:t>The hypostatic union — one Person, two natures — grounds every station: Christ acts as God and true man.</a:t>
            </a:r>
          </a:p>
        </p:txBody>
      </p:sp>
      <p:sp>
        <p:nvSpPr>
          <p:cNvPr id="39" name="Rectangle 38"/>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219913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2985515"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3575303"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07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Christology: The Person and Work of Christ</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Christ is the eternal Son of God made man — one person in two complete natures, the hypostatic union.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His life and ministry were the demonstration of his person: teaching, miracles, and the proclamation of the kingdom.</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His death was the atoning sacrifice, bearing the penalty of sin in the sinner's place and satisfying the justice of God.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His resurrection, ascension and present session are the ground of the Church's hope and the Christian's assurance.</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person and work of Christ are the ground of the whole redemption: the atonement is the heart of the gospel, and the present ministry of Christ applies it to the life of the Church. The doctrines of the Spirit, of salvation and of the last things all flow from the person and work of Christ.</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person and work of Christ, the programme turns to the application of that work to the sinner: the doctrine of salvation.</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08 · Soteriology: The Doctrine of Salvation</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08</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SOTERIOLOGY: THE DOCTRINE OF SALVATION</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person and work of Christ, the programme turns to the application of that work to the sinner: the doctrine of salvation.</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010144" y="3706977"/>
            <a:ext cx="621792" cy="384048"/>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95944" y="3105302"/>
            <a:ext cx="621792" cy="384048"/>
          </a:xfrm>
          <a:prstGeom prst="ellipse">
            <a:avLst/>
          </a:prstGeom>
          <a:noFill/>
          <a:ln w="1651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1744" y="2503627"/>
            <a:ext cx="621792" cy="384048"/>
          </a:xfrm>
          <a:prstGeom prst="ellipse">
            <a:avLst/>
          </a:prstGeom>
          <a:noFill/>
          <a:ln w="1651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67544" y="1901952"/>
            <a:ext cx="621792" cy="384048"/>
          </a:xfrm>
          <a:prstGeom prst="ellipse">
            <a:avLst/>
          </a:prstGeom>
          <a:noFill/>
          <a:ln w="1651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53344" y="1300276"/>
            <a:ext cx="621792" cy="384048"/>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0" y="925372"/>
            <a:ext cx="2926080" cy="1133856"/>
          </a:xfrm>
          <a:prstGeom prst="ellipse">
            <a:avLst/>
          </a:prstGeom>
          <a:noFill/>
          <a:ln w="1016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08</a:t>
            </a:r>
          </a:p>
        </p:txBody>
      </p:sp>
      <p:sp>
        <p:nvSpPr>
          <p:cNvPr id="12" name="TextBox 11"/>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08</a:t>
            </a:r>
          </a:p>
        </p:txBody>
      </p:sp>
      <p:sp>
        <p:nvSpPr>
          <p:cNvPr id="13" name="TextBox 12"/>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SOTERIOLOGY: THE DOCTRINE OF SALVATION</a:t>
            </a:r>
          </a:p>
        </p:txBody>
      </p:sp>
      <p:cxnSp>
        <p:nvCxnSpPr>
          <p:cNvPr id="14" name="Connector 13"/>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application of the work of Christ to the sinner: election, grace, faith, justification, sanctification and glorification.</a:t>
            </a:r>
          </a:p>
        </p:txBody>
      </p:sp>
      <p:sp>
        <p:nvSpPr>
          <p:cNvPr id="16" name="Rectangle 15"/>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9572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08</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SOTERIOLOGY: THE DOCTRINE OF SALVATION</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Soteriology: The Doctrine of Salvation</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Soteriology is the doctrine of salvation: the application of the work of Christ to the sinner, from election to glorification. It treats the order of salvation (ordo salutis) — the works of grace by which the believer is brought from death to life, from condemnation to justification, and from sin to holiness.</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salvation is the heart of the gospel and the ground of the Christian's assurance. The New Testament presents salvation as the work of God, accomplished in Christ, applied by the Spirit, and received by faith.</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salvation is the ground of the Christian's assurance and of the Church's witness. It answers the question, 'How is the sinner saved?' and it is the motivation of the Christian life and of the Church's mission.</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order of salvation — election, faith, justification, sanctification, glorification — as the application of the work of Christ to the sinner.</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General Doctrine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general doctrine of salvation confesses that salvation is the work of God, accomplished in Christ and applied by the Spirit, and received by faith. It is not the work of the sinner but the gift of God (Eph 2:8-9). The salvation of God is the redemption of the sinner from the power and the penalty of sin, and the restoration of the sinner to the favour of God and to the life of holiness. The doctrine is grounded in the work of Christ — his death, his burial and his resurrection — and it is applied to the sinner by the work of the Spirit. The general doctrine is the framework within which the particular works of grace are to be understood.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Salvation as the work of God, the gift of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Accomplished in Christ and applied by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Received by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redemption from the power and the penalty of sin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2:8-9</a:t>
            </a:r>
          </a:p>
          <a:p>
            <a:pPr algn="l">
              <a:lnSpc>
                <a:spcPct val="108000"/>
              </a:lnSpc>
              <a:spcBef>
                <a:spcPts val="0"/>
              </a:spcBef>
              <a:spcAft>
                <a:spcPts val="250"/>
              </a:spcAft>
            </a:pPr>
            <a:r>
              <a:rPr sz="1000" b="0" i="1" u="none">
                <a:solidFill>
                  <a:srgbClr val="232A38"/>
                </a:solidFill>
                <a:latin typeface="Calibri"/>
              </a:rPr>
              <a:t>Romans 10:9-13</a:t>
            </a:r>
          </a:p>
          <a:p>
            <a:pPr algn="l">
              <a:lnSpc>
                <a:spcPct val="108000"/>
              </a:lnSpc>
              <a:spcBef>
                <a:spcPts val="0"/>
              </a:spcBef>
              <a:spcAft>
                <a:spcPts val="250"/>
              </a:spcAft>
            </a:pPr>
            <a:r>
              <a:rPr sz="1000" b="0" i="1" u="none">
                <a:solidFill>
                  <a:srgbClr val="232A38"/>
                </a:solidFill>
                <a:latin typeface="Calibri"/>
              </a:rPr>
              <a:t>Acts 4:12</a:t>
            </a:r>
          </a:p>
          <a:p>
            <a:pPr algn="l">
              <a:lnSpc>
                <a:spcPct val="108000"/>
              </a:lnSpc>
              <a:spcBef>
                <a:spcPts val="0"/>
              </a:spcBef>
              <a:spcAft>
                <a:spcPts val="250"/>
              </a:spcAft>
            </a:pPr>
            <a:r>
              <a:rPr sz="1000" b="0" i="1" u="none">
                <a:solidFill>
                  <a:srgbClr val="232A38"/>
                </a:solidFill>
                <a:latin typeface="Calibri"/>
              </a:rPr>
              <a:t>Titus 3:5</a:t>
            </a:r>
          </a:p>
          <a:p>
            <a:pPr algn="l">
              <a:lnSpc>
                <a:spcPct val="110000"/>
              </a:lnSpc>
              <a:spcBef>
                <a:spcPts val="400"/>
              </a:spcBef>
              <a:spcAft>
                <a:spcPts val="0"/>
              </a:spcAft>
            </a:pPr>
            <a:r>
              <a:rPr sz="950" b="0" i="0" u="none">
                <a:solidFill>
                  <a:srgbClr val="4C566B"/>
                </a:solidFill>
                <a:latin typeface="Calibri"/>
              </a:rPr>
              <a:t>The general doctrine of salvation is the framework of the whole of the soteriological teaching of the New Testament.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Salvation is the work of God, accomplished in Christ and applied by the Spirit, and received by faith — the gift of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Election and Predestination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Election is the doctrine that God, from eternity, chose in Christ some to be the objects of his saving grace. Predestination is the wider doctrine that God, from eternity, ordained all that comes to pass, and that the election of the sinner is the application of that decree to the work of redemption. The Reformed doctrine holds that the election is unconditional — it is not grounded on any foreseen merit or faith in the sinner, but on the free and sovereign purpose of God (Rom 9:11-16; Eph 1:4-5). The doctrine is the ground of the assurance of the believer and of the confidence that the purpose of God cannot be frustrated.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election of some in Christ to saving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Predestination as the wider decree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unconditional character of the election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assurance of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9:11-16</a:t>
            </a:r>
          </a:p>
          <a:p>
            <a:pPr algn="l">
              <a:lnSpc>
                <a:spcPct val="108000"/>
              </a:lnSpc>
              <a:spcBef>
                <a:spcPts val="0"/>
              </a:spcBef>
              <a:spcAft>
                <a:spcPts val="250"/>
              </a:spcAft>
            </a:pPr>
            <a:r>
              <a:rPr sz="1000" b="0" i="1" u="none">
                <a:solidFill>
                  <a:srgbClr val="232A38"/>
                </a:solidFill>
                <a:latin typeface="Calibri"/>
              </a:rPr>
              <a:t>Ephesians 1:4-5</a:t>
            </a:r>
          </a:p>
          <a:p>
            <a:pPr algn="l">
              <a:lnSpc>
                <a:spcPct val="108000"/>
              </a:lnSpc>
              <a:spcBef>
                <a:spcPts val="0"/>
              </a:spcBef>
              <a:spcAft>
                <a:spcPts val="250"/>
              </a:spcAft>
            </a:pPr>
            <a:r>
              <a:rPr sz="1000" b="0" i="1" u="none">
                <a:solidFill>
                  <a:srgbClr val="232A38"/>
                </a:solidFill>
                <a:latin typeface="Calibri"/>
              </a:rPr>
              <a:t>Romans 8:29-30</a:t>
            </a:r>
          </a:p>
          <a:p>
            <a:pPr algn="l">
              <a:lnSpc>
                <a:spcPct val="108000"/>
              </a:lnSpc>
              <a:spcBef>
                <a:spcPts val="0"/>
              </a:spcBef>
              <a:spcAft>
                <a:spcPts val="250"/>
              </a:spcAft>
            </a:pPr>
            <a:r>
              <a:rPr sz="1000" b="0" i="1" u="none">
                <a:solidFill>
                  <a:srgbClr val="232A38"/>
                </a:solidFill>
                <a:latin typeface="Calibri"/>
              </a:rPr>
              <a:t>John 13:18</a:t>
            </a:r>
          </a:p>
          <a:p>
            <a:pPr algn="l">
              <a:lnSpc>
                <a:spcPct val="110000"/>
              </a:lnSpc>
              <a:spcBef>
                <a:spcPts val="400"/>
              </a:spcBef>
              <a:spcAft>
                <a:spcPts val="0"/>
              </a:spcAft>
            </a:pPr>
            <a:r>
              <a:rPr sz="950" b="0" i="0" u="none">
                <a:solidFill>
                  <a:srgbClr val="4C566B"/>
                </a:solidFill>
                <a:latin typeface="Calibri"/>
              </a:rPr>
              <a:t>The doctrine of election was at the centre of the Reformed-Arminian controversy and was defined at the Synod of Dort (1618-19).</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God, from eternity, chose in Christ some to be the objects of his saving grace, the ground of the assurance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Effectual Call and the Work of Grace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effectual call is the work of the Spirit by which he draws the sinner to Christ and enables him to respond in faith. It is distinct from the general call, which goes out to all through the proclamation of the gospel, in that the effectual call is given to the elect alone and is invariably successful. The effectual call is the work of grace in which the Spirit opens the closed heart, enlightens the darkened mind, and renews the will (Ezek 36:26-27; 2 Cor 4:6). The work of grace is monergistic: it is the work of the Spirit alone, not a cooperation of the Spirit and the natural will. The effectual call is the beginning of the subjective application of the work of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between the general and the effectual call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work of the Spirit in opening the heart and renewing the will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monergistic character of the work of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beginning of the subjective application of the work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Ezekiel 36:26-27</a:t>
            </a:r>
          </a:p>
          <a:p>
            <a:pPr algn="l">
              <a:lnSpc>
                <a:spcPct val="108000"/>
              </a:lnSpc>
              <a:spcBef>
                <a:spcPts val="0"/>
              </a:spcBef>
              <a:spcAft>
                <a:spcPts val="250"/>
              </a:spcAft>
            </a:pPr>
            <a:r>
              <a:rPr sz="1000" b="0" i="1" u="none">
                <a:solidFill>
                  <a:srgbClr val="232A38"/>
                </a:solidFill>
                <a:latin typeface="Calibri"/>
              </a:rPr>
              <a:t>2 Corinthians 4:6</a:t>
            </a:r>
          </a:p>
          <a:p>
            <a:pPr algn="l">
              <a:lnSpc>
                <a:spcPct val="108000"/>
              </a:lnSpc>
              <a:spcBef>
                <a:spcPts val="0"/>
              </a:spcBef>
              <a:spcAft>
                <a:spcPts val="250"/>
              </a:spcAft>
            </a:pPr>
            <a:r>
              <a:rPr sz="1000" b="0" i="1" u="none">
                <a:solidFill>
                  <a:srgbClr val="232A38"/>
                </a:solidFill>
                <a:latin typeface="Calibri"/>
              </a:rPr>
              <a:t>John 6:44-45</a:t>
            </a:r>
          </a:p>
          <a:p>
            <a:pPr algn="l">
              <a:lnSpc>
                <a:spcPct val="108000"/>
              </a:lnSpc>
              <a:spcBef>
                <a:spcPts val="0"/>
              </a:spcBef>
              <a:spcAft>
                <a:spcPts val="250"/>
              </a:spcAft>
            </a:pPr>
            <a:r>
              <a:rPr sz="1000" b="0" i="1" u="none">
                <a:solidFill>
                  <a:srgbClr val="232A38"/>
                </a:solidFill>
                <a:latin typeface="Calibri"/>
              </a:rPr>
              <a:t>Acts 16:14</a:t>
            </a:r>
          </a:p>
          <a:p>
            <a:pPr algn="l">
              <a:lnSpc>
                <a:spcPct val="110000"/>
              </a:lnSpc>
              <a:spcBef>
                <a:spcPts val="400"/>
              </a:spcBef>
              <a:spcAft>
                <a:spcPts val="0"/>
              </a:spcAft>
            </a:pPr>
            <a:r>
              <a:rPr sz="950" b="0" i="0" u="none">
                <a:solidFill>
                  <a:srgbClr val="4C566B"/>
                </a:solidFill>
                <a:latin typeface="Calibri"/>
              </a:rPr>
              <a:t>The doctrine of the effectual call was defined at the Synod of Dort against the Arminian denial of the irresistible work of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effectual call is the work of the Spirit in which he draws the sinner to Christ and enables him to respond in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Faith as the Instrument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Faith is the instrument by which the sinner receives the salvation that God has prepared in Christ. Faith is not a work that merits salvation but the empty hand that receives the gift. It has three aspects: the knowledge of the truth (notitia), the assent to the truth (assensus), and the personal trust and reliance on Christ (fiducia). The third, fiducia, is the proper work of the Spirit and the distinguishing mark of saving faith. Faith is the ground of the justification of the sinner (Rom 5:1) and the beginning of the Christian life. The doctrine of faith is the scriptural answer to the question of how the sinner is justified before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Faith as the instrument, not the meritorious cause, of salvation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three aspects: notitia, assensus, fiducia</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fiducia as the proper work of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justification of the sinner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5:1</a:t>
            </a:r>
          </a:p>
          <a:p>
            <a:pPr algn="l">
              <a:lnSpc>
                <a:spcPct val="108000"/>
              </a:lnSpc>
              <a:spcBef>
                <a:spcPts val="0"/>
              </a:spcBef>
              <a:spcAft>
                <a:spcPts val="250"/>
              </a:spcAft>
            </a:pPr>
            <a:r>
              <a:rPr sz="1000" b="0" i="1" u="none">
                <a:solidFill>
                  <a:srgbClr val="232A38"/>
                </a:solidFill>
                <a:latin typeface="Calibri"/>
              </a:rPr>
              <a:t>Romans 10:9-13</a:t>
            </a:r>
          </a:p>
          <a:p>
            <a:pPr algn="l">
              <a:lnSpc>
                <a:spcPct val="108000"/>
              </a:lnSpc>
              <a:spcBef>
                <a:spcPts val="0"/>
              </a:spcBef>
              <a:spcAft>
                <a:spcPts val="250"/>
              </a:spcAft>
            </a:pPr>
            <a:r>
              <a:rPr sz="1000" b="0" i="1" u="none">
                <a:solidFill>
                  <a:srgbClr val="232A38"/>
                </a:solidFill>
                <a:latin typeface="Calibri"/>
              </a:rPr>
              <a:t>Ephesians 2:8</a:t>
            </a:r>
          </a:p>
          <a:p>
            <a:pPr algn="l">
              <a:lnSpc>
                <a:spcPct val="108000"/>
              </a:lnSpc>
              <a:spcBef>
                <a:spcPts val="0"/>
              </a:spcBef>
              <a:spcAft>
                <a:spcPts val="250"/>
              </a:spcAft>
            </a:pPr>
            <a:r>
              <a:rPr sz="1000" b="0" i="1" u="none">
                <a:solidFill>
                  <a:srgbClr val="232A38"/>
                </a:solidFill>
                <a:latin typeface="Calibri"/>
              </a:rPr>
              <a:t>Hebrews 11:1</a:t>
            </a:r>
          </a:p>
          <a:p>
            <a:pPr algn="l">
              <a:lnSpc>
                <a:spcPct val="110000"/>
              </a:lnSpc>
              <a:spcBef>
                <a:spcPts val="400"/>
              </a:spcBef>
              <a:spcAft>
                <a:spcPts val="0"/>
              </a:spcAft>
            </a:pPr>
            <a:r>
              <a:rPr sz="950" b="0" i="0" u="none">
                <a:solidFill>
                  <a:srgbClr val="4C566B"/>
                </a:solidFill>
                <a:latin typeface="Calibri"/>
              </a:rPr>
              <a:t>The doctrine of faith was the centre of the Reformation's doctrine of justification by faith alone.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Faith is the instrument by which the sinner receives the salvation prepared in Christ — knowledge, assent, and personal trust in him.</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Repentance and Its Relation to Faith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Repentance is the turning of the sinner from sin to God, and it is the necessary companion of faith. Repentance has two aspects: the sorrow for sin (contrition) and the turning from sin to God (conversion). It is not a mere regret but a change of mind and of will, a turning of the whole person from self to God. Repentance and faith are two aspects of the one work of grace: faith receives Christ, and repentance turns from sin. The two are inseparable, and the doctrine of repentance is the ground of the Christian's holy living and of the Church's call to holiness.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Repentance as the turning from sin to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two aspects: contrition and conversion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inseparability of repentance and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Christian's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2:38</a:t>
            </a:r>
          </a:p>
          <a:p>
            <a:pPr algn="l">
              <a:lnSpc>
                <a:spcPct val="108000"/>
              </a:lnSpc>
              <a:spcBef>
                <a:spcPts val="0"/>
              </a:spcBef>
              <a:spcAft>
                <a:spcPts val="250"/>
              </a:spcAft>
            </a:pPr>
            <a:r>
              <a:rPr sz="1000" b="0" i="1" u="none">
                <a:solidFill>
                  <a:srgbClr val="232A38"/>
                </a:solidFill>
                <a:latin typeface="Calibri"/>
              </a:rPr>
              <a:t>Acts 3:19</a:t>
            </a:r>
          </a:p>
          <a:p>
            <a:pPr algn="l">
              <a:lnSpc>
                <a:spcPct val="108000"/>
              </a:lnSpc>
              <a:spcBef>
                <a:spcPts val="0"/>
              </a:spcBef>
              <a:spcAft>
                <a:spcPts val="250"/>
              </a:spcAft>
            </a:pPr>
            <a:r>
              <a:rPr sz="1000" b="0" i="1" u="none">
                <a:solidFill>
                  <a:srgbClr val="232A38"/>
                </a:solidFill>
                <a:latin typeface="Calibri"/>
              </a:rPr>
              <a:t>2 Corinthians 7:10</a:t>
            </a:r>
          </a:p>
          <a:p>
            <a:pPr algn="l">
              <a:lnSpc>
                <a:spcPct val="108000"/>
              </a:lnSpc>
              <a:spcBef>
                <a:spcPts val="0"/>
              </a:spcBef>
              <a:spcAft>
                <a:spcPts val="250"/>
              </a:spcAft>
            </a:pPr>
            <a:r>
              <a:rPr sz="1000" b="0" i="1" u="none">
                <a:solidFill>
                  <a:srgbClr val="232A38"/>
                </a:solidFill>
                <a:latin typeface="Calibri"/>
              </a:rPr>
              <a:t>Luke 15:7</a:t>
            </a:r>
          </a:p>
          <a:p>
            <a:pPr algn="l">
              <a:lnSpc>
                <a:spcPct val="110000"/>
              </a:lnSpc>
              <a:spcBef>
                <a:spcPts val="400"/>
              </a:spcBef>
              <a:spcAft>
                <a:spcPts val="0"/>
              </a:spcAft>
            </a:pPr>
            <a:r>
              <a:rPr sz="950" b="0" i="0" u="none">
                <a:solidFill>
                  <a:srgbClr val="4C566B"/>
                </a:solidFill>
                <a:latin typeface="Calibri"/>
              </a:rPr>
              <a:t>The doctrine of repentance is the ground of the Christian's holy living and of the Church's call to holiness.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Repentance is the turning from sin to God, the inseparable companion of faith, and the ground of the Christian's holy living.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Justification by Faith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Justification is the act of God by which he declares the sinner to be righteous in his sight, on the ground of the righteousness of Christ imputed to him. It is a forensic, not a moral, act: God does not make the sinner righteous in the sense of infusing righteousness, but he declares him righteous on the ground of the imputed righteousness of Christ. Justification is by faith alone, through grace alone, on the ground of Christ alone (sola fide, sola gratia, solus Christus). It is the ground of the assurance of the believer and of his peace with God (Rom 5:1). The doctrine of justification was the centre of the Reformation and is the ground of the Christian's confidence before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Justification as a forensic declaration of righteousness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imputation of the righteousness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By faith alone, through grace alone, on the ground of Christ alone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assurance and the peace with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5:1</a:t>
            </a:r>
          </a:p>
          <a:p>
            <a:pPr algn="l">
              <a:lnSpc>
                <a:spcPct val="108000"/>
              </a:lnSpc>
              <a:spcBef>
                <a:spcPts val="0"/>
              </a:spcBef>
              <a:spcAft>
                <a:spcPts val="250"/>
              </a:spcAft>
            </a:pPr>
            <a:r>
              <a:rPr sz="1000" b="0" i="1" u="none">
                <a:solidFill>
                  <a:srgbClr val="232A38"/>
                </a:solidFill>
                <a:latin typeface="Calibri"/>
              </a:rPr>
              <a:t>Romans 3:21-28</a:t>
            </a:r>
          </a:p>
          <a:p>
            <a:pPr algn="l">
              <a:lnSpc>
                <a:spcPct val="108000"/>
              </a:lnSpc>
              <a:spcBef>
                <a:spcPts val="0"/>
              </a:spcBef>
              <a:spcAft>
                <a:spcPts val="250"/>
              </a:spcAft>
            </a:pPr>
            <a:r>
              <a:rPr sz="1000" b="0" i="1" u="none">
                <a:solidFill>
                  <a:srgbClr val="232A38"/>
                </a:solidFill>
                <a:latin typeface="Calibri"/>
              </a:rPr>
              <a:t>Romans 4:1-8</a:t>
            </a:r>
          </a:p>
          <a:p>
            <a:pPr algn="l">
              <a:lnSpc>
                <a:spcPct val="108000"/>
              </a:lnSpc>
              <a:spcBef>
                <a:spcPts val="0"/>
              </a:spcBef>
              <a:spcAft>
                <a:spcPts val="250"/>
              </a:spcAft>
            </a:pPr>
            <a:r>
              <a:rPr sz="1000" b="0" i="1" u="none">
                <a:solidFill>
                  <a:srgbClr val="232A38"/>
                </a:solidFill>
                <a:latin typeface="Calibri"/>
              </a:rPr>
              <a:t>Galatians 2:16</a:t>
            </a:r>
          </a:p>
          <a:p>
            <a:pPr algn="l">
              <a:lnSpc>
                <a:spcPct val="110000"/>
              </a:lnSpc>
              <a:spcBef>
                <a:spcPts val="400"/>
              </a:spcBef>
              <a:spcAft>
                <a:spcPts val="0"/>
              </a:spcAft>
            </a:pPr>
            <a:r>
              <a:rPr sz="950" b="0" i="0" u="none">
                <a:solidFill>
                  <a:srgbClr val="4C566B"/>
                </a:solidFill>
                <a:latin typeface="Calibri"/>
              </a:rPr>
              <a:t>The doctrine of justification by faith was the centre of the Reformation and the ground of the Christian's confidence before God.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Justification is the act of God by which he declares the sinner righteous on the ground of the imputed righteousness of Christ, by faith alone.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Adoption into the Family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099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Adoption is the act of God by which he receives the justified sinner into the family of God, as his son or daughter, and gives him the full rights and privileges of that family. Adoption is the ground of the believer's sonship, and it is the basis of his call to 'Abba, Father' (Rom 8:15; Gal 4:6). The believer, as the adopted son, has the right to the inheritance, the right to the care of the Father, and the right to the intercession of the Spirit (Rom 8:26-27). Adoption is the ground of the Christian's confidence in prayer and of his hope of the inheritance. The doctrine of adoption is the personal side of the doctrine of justification.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Adoption as the reception into the family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rights and privileges of the adopted 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right to the inheritance and to the care of the Father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confidence in prayer and of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8:15</a:t>
            </a:r>
          </a:p>
          <a:p>
            <a:pPr algn="l">
              <a:lnSpc>
                <a:spcPct val="108000"/>
              </a:lnSpc>
              <a:spcBef>
                <a:spcPts val="0"/>
              </a:spcBef>
              <a:spcAft>
                <a:spcPts val="250"/>
              </a:spcAft>
            </a:pPr>
            <a:r>
              <a:rPr sz="1000" b="0" i="1" u="none">
                <a:solidFill>
                  <a:srgbClr val="232A38"/>
                </a:solidFill>
                <a:latin typeface="Calibri"/>
              </a:rPr>
              <a:t>Galatians 4:6</a:t>
            </a:r>
          </a:p>
          <a:p>
            <a:pPr algn="l">
              <a:lnSpc>
                <a:spcPct val="108000"/>
              </a:lnSpc>
              <a:spcBef>
                <a:spcPts val="0"/>
              </a:spcBef>
              <a:spcAft>
                <a:spcPts val="250"/>
              </a:spcAft>
            </a:pPr>
            <a:r>
              <a:rPr sz="1000" b="0" i="1" u="none">
                <a:solidFill>
                  <a:srgbClr val="232A38"/>
                </a:solidFill>
                <a:latin typeface="Calibri"/>
              </a:rPr>
              <a:t>Romans 8:26-27</a:t>
            </a:r>
          </a:p>
          <a:p>
            <a:pPr algn="l">
              <a:lnSpc>
                <a:spcPct val="108000"/>
              </a:lnSpc>
              <a:spcBef>
                <a:spcPts val="0"/>
              </a:spcBef>
              <a:spcAft>
                <a:spcPts val="250"/>
              </a:spcAft>
            </a:pPr>
            <a:r>
              <a:rPr sz="1000" b="0" i="1" u="none">
                <a:solidFill>
                  <a:srgbClr val="232A38"/>
                </a:solidFill>
                <a:latin typeface="Calibri"/>
              </a:rPr>
              <a:t>Ephesians 1:5</a:t>
            </a:r>
          </a:p>
          <a:p>
            <a:pPr algn="l">
              <a:lnSpc>
                <a:spcPct val="110000"/>
              </a:lnSpc>
              <a:spcBef>
                <a:spcPts val="400"/>
              </a:spcBef>
              <a:spcAft>
                <a:spcPts val="0"/>
              </a:spcAft>
            </a:pPr>
            <a:r>
              <a:rPr sz="950" b="0" i="0" u="none">
                <a:solidFill>
                  <a:srgbClr val="4C566B"/>
                </a:solidFill>
                <a:latin typeface="Calibri"/>
              </a:rPr>
              <a:t>The doctrine of adoption is the personal side of the doctrine of justification and the ground of the Christian's sonship.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Adoption is the reception of the justified sinner into the family of God, the ground of his sonship, his inheritance and his confidence in prayer.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Regeneration and the New Birth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Regeneration is the work of the Spirit in which the dead sinner is made alive in Christ, and it is the new birth (John 3:3-8). It is the root of the whole of the subjective application of the work of Christ, for it is the work that makes the sinner able to respond to the call of God. Regeneration is a monergistic work — it is the work of the Spirit alone — and it is the ground of the new relationship to God and of the new life. The new birth is the beginning of the Christian life, and it is the ground of the Christian's holiness and of his growth in grace. The doctrine of regeneration is the scriptural answer to the question of how the dead sinner can live.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Regeneration as the new birth, the making alive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monergistic character of the work</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new relationship to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beginning of the Christian life and of the new holiness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3:3-8</a:t>
            </a:r>
          </a:p>
          <a:p>
            <a:pPr algn="l">
              <a:lnSpc>
                <a:spcPct val="108000"/>
              </a:lnSpc>
              <a:spcBef>
                <a:spcPts val="0"/>
              </a:spcBef>
              <a:spcAft>
                <a:spcPts val="250"/>
              </a:spcAft>
            </a:pPr>
            <a:r>
              <a:rPr sz="1000" b="0" i="1" u="none">
                <a:solidFill>
                  <a:srgbClr val="232A38"/>
                </a:solidFill>
                <a:latin typeface="Calibri"/>
              </a:rPr>
              <a:t>Ephesians 2:4-5</a:t>
            </a:r>
          </a:p>
          <a:p>
            <a:pPr algn="l">
              <a:lnSpc>
                <a:spcPct val="108000"/>
              </a:lnSpc>
              <a:spcBef>
                <a:spcPts val="0"/>
              </a:spcBef>
              <a:spcAft>
                <a:spcPts val="250"/>
              </a:spcAft>
            </a:pPr>
            <a:r>
              <a:rPr sz="1000" b="0" i="1" u="none">
                <a:solidFill>
                  <a:srgbClr val="232A38"/>
                </a:solidFill>
                <a:latin typeface="Calibri"/>
              </a:rPr>
              <a:t>Ezekiel 36:26-27</a:t>
            </a:r>
          </a:p>
          <a:p>
            <a:pPr algn="l">
              <a:lnSpc>
                <a:spcPct val="108000"/>
              </a:lnSpc>
              <a:spcBef>
                <a:spcPts val="0"/>
              </a:spcBef>
              <a:spcAft>
                <a:spcPts val="250"/>
              </a:spcAft>
            </a:pPr>
            <a:r>
              <a:rPr sz="1000" b="0" i="1" u="none">
                <a:solidFill>
                  <a:srgbClr val="232A38"/>
                </a:solidFill>
                <a:latin typeface="Calibri"/>
              </a:rPr>
              <a:t>2 Corinthians 5:17</a:t>
            </a:r>
          </a:p>
          <a:p>
            <a:pPr algn="l">
              <a:lnSpc>
                <a:spcPct val="110000"/>
              </a:lnSpc>
              <a:spcBef>
                <a:spcPts val="400"/>
              </a:spcBef>
              <a:spcAft>
                <a:spcPts val="0"/>
              </a:spcAft>
            </a:pPr>
            <a:r>
              <a:rPr sz="950" b="0" i="0" u="none">
                <a:solidFill>
                  <a:srgbClr val="4C566B"/>
                </a:solidFill>
                <a:latin typeface="Calibri"/>
              </a:rPr>
              <a:t>The doctrine of regeneration is the ground of the Christian's holiness and of his growth in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Regeneration is the new birth, the work of the Spirit in which the dead sinner is made alive in Christ, the root of the Christian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Sanctification: The Process of Being Made Holy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Sanctification is the work of the Spirit in which the believer is made conformable to the image of Christ and holy in conduct. It is the continuing application of the work of Christ to the life of the believer, and it is the work of the Spirit throughout the whole of the Christian life. Sanctification is progressive, not complete in this life, and it is the work of the Spirit in cooperation with the free effort of the believer. The means of sanctification are the word of God, the ordinances, and the work of grace in the heart. The goal of sanctification is the likeness of the Son, and it is the ground of the Christian's growth in grace and in good works.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Sanctification as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progressive and cooperative character of the work</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means: the word, the ordinances, and the work of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goal: the likeness of the Son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Thessalonians 2:13</a:t>
            </a:r>
          </a:p>
          <a:p>
            <a:pPr algn="l">
              <a:lnSpc>
                <a:spcPct val="108000"/>
              </a:lnSpc>
              <a:spcBef>
                <a:spcPts val="0"/>
              </a:spcBef>
              <a:spcAft>
                <a:spcPts val="250"/>
              </a:spcAft>
            </a:pPr>
            <a:r>
              <a:rPr sz="1000" b="0" i="1" u="none">
                <a:solidFill>
                  <a:srgbClr val="232A38"/>
                </a:solidFill>
                <a:latin typeface="Calibri"/>
              </a:rPr>
              <a:t>Romans 8:29</a:t>
            </a:r>
          </a:p>
          <a:p>
            <a:pPr algn="l">
              <a:lnSpc>
                <a:spcPct val="108000"/>
              </a:lnSpc>
              <a:spcBef>
                <a:spcPts val="0"/>
              </a:spcBef>
              <a:spcAft>
                <a:spcPts val="250"/>
              </a:spcAft>
            </a:pPr>
            <a:r>
              <a:rPr sz="1000" b="0" i="1" u="none">
                <a:solidFill>
                  <a:srgbClr val="232A38"/>
                </a:solidFill>
                <a:latin typeface="Calibri"/>
              </a:rPr>
              <a:t>2 Corinthians 3:18</a:t>
            </a:r>
          </a:p>
          <a:p>
            <a:pPr algn="l">
              <a:lnSpc>
                <a:spcPct val="108000"/>
              </a:lnSpc>
              <a:spcBef>
                <a:spcPts val="0"/>
              </a:spcBef>
              <a:spcAft>
                <a:spcPts val="250"/>
              </a:spcAft>
            </a:pPr>
            <a:r>
              <a:rPr sz="1000" b="0" i="1" u="none">
                <a:solidFill>
                  <a:srgbClr val="232A38"/>
                </a:solidFill>
                <a:latin typeface="Calibri"/>
              </a:rPr>
              <a:t>Philippians 2:12-13</a:t>
            </a:r>
          </a:p>
          <a:p>
            <a:pPr algn="l">
              <a:lnSpc>
                <a:spcPct val="110000"/>
              </a:lnSpc>
              <a:spcBef>
                <a:spcPts val="400"/>
              </a:spcBef>
              <a:spcAft>
                <a:spcPts val="0"/>
              </a:spcAft>
            </a:pPr>
            <a:r>
              <a:rPr sz="950" b="0" i="0" u="none">
                <a:solidFill>
                  <a:srgbClr val="4C566B"/>
                </a:solidFill>
                <a:latin typeface="Calibri"/>
              </a:rPr>
              <a:t>The doctrine of sanctification is the ground of the Christian life and of the practice of spiritual discipline.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Sanctification is the work of the Spirit in which the believer is made holy, progressively, by the word and by the work of grace.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Christian Life and Spiritual Growth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Christian life is the life of the believer in Christ, and it is the outworking of the salvation that God has accomplished. Spiritual growth is the process by which the believer is conformed more and more to the image of Christ, and it is the work of the Spirit in cooperation with the free effort of the believer. The means of spiritual growth are the word of God, prayer, the ordinances, and the fellowship of the saints. The Christian life is marked by the fruit of the Spirit, by the growth in grace, and by the good works that are the evidence of the faith. The doctrine of the Christian life is the practical side of the doctrine of sanctification, and it is the ground of the Christian's daily walk.</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life as the life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Spiritual growth as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means: the word, prayer, the ordinances, and fellowship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marks: the fruit of the Spirit, the growth in grace, the good works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Peter 3:18</a:t>
            </a:r>
          </a:p>
          <a:p>
            <a:pPr algn="l">
              <a:lnSpc>
                <a:spcPct val="108000"/>
              </a:lnSpc>
              <a:spcBef>
                <a:spcPts val="0"/>
              </a:spcBef>
              <a:spcAft>
                <a:spcPts val="250"/>
              </a:spcAft>
            </a:pPr>
            <a:r>
              <a:rPr sz="1000" b="0" i="1" u="none">
                <a:solidFill>
                  <a:srgbClr val="232A38"/>
                </a:solidFill>
                <a:latin typeface="Calibri"/>
              </a:rPr>
              <a:t>2 Peter 1:5-8</a:t>
            </a:r>
          </a:p>
          <a:p>
            <a:pPr algn="l">
              <a:lnSpc>
                <a:spcPct val="108000"/>
              </a:lnSpc>
              <a:spcBef>
                <a:spcPts val="0"/>
              </a:spcBef>
              <a:spcAft>
                <a:spcPts val="250"/>
              </a:spcAft>
            </a:pPr>
            <a:r>
              <a:rPr sz="1000" b="0" i="1" u="none">
                <a:solidFill>
                  <a:srgbClr val="232A38"/>
                </a:solidFill>
                <a:latin typeface="Calibri"/>
              </a:rPr>
              <a:t>Colossians 2:6-7</a:t>
            </a:r>
          </a:p>
          <a:p>
            <a:pPr algn="l">
              <a:lnSpc>
                <a:spcPct val="108000"/>
              </a:lnSpc>
              <a:spcBef>
                <a:spcPts val="0"/>
              </a:spcBef>
              <a:spcAft>
                <a:spcPts val="250"/>
              </a:spcAft>
            </a:pPr>
            <a:r>
              <a:rPr sz="1000" b="0" i="1" u="none">
                <a:solidFill>
                  <a:srgbClr val="232A38"/>
                </a:solidFill>
                <a:latin typeface="Calibri"/>
              </a:rPr>
              <a:t>Romans 6:22-23</a:t>
            </a:r>
          </a:p>
          <a:p>
            <a:pPr algn="l">
              <a:lnSpc>
                <a:spcPct val="110000"/>
              </a:lnSpc>
              <a:spcBef>
                <a:spcPts val="400"/>
              </a:spcBef>
              <a:spcAft>
                <a:spcPts val="0"/>
              </a:spcAft>
            </a:pPr>
            <a:r>
              <a:rPr sz="950" b="0" i="0" u="none">
                <a:solidFill>
                  <a:srgbClr val="4C566B"/>
                </a:solidFill>
                <a:latin typeface="Calibri"/>
              </a:rPr>
              <a:t>The doctrine of the Christian life is the practical side of the doctrine of sanctification and the ground of the daily walk.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life is the outworking of salvation, marked by growth in grace, the fruit of the Spirit, and the good works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Perseverance of the Saints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perseverance of the saints is the doctrine that the elect, having been regenerated and justified by God, will persevere in the faith to the end, and that none of them will finally fall away. The doctrine is grounded in the sovereign grace of God, the security of the believer in Christ, and the promise of God that he who began the good work will also complete it (Phil 1:6). The believer is kept by the power of God (1 Pet 1:5) and is sealed by the Spirit (Eph 1:13-14). The doctrine is the ground of the assurance of the believer and of his confidence in the trial. It is to be distinguished from the Antinomian abuse that uses it to excuse sin.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perseverance of the elect to the end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the sovereign grace and the security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keeping by the power of God and the sealing by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assurance and the confidence in the trial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Philippians 1:6</a:t>
            </a:r>
          </a:p>
          <a:p>
            <a:pPr algn="l">
              <a:lnSpc>
                <a:spcPct val="108000"/>
              </a:lnSpc>
              <a:spcBef>
                <a:spcPts val="0"/>
              </a:spcBef>
              <a:spcAft>
                <a:spcPts val="250"/>
              </a:spcAft>
            </a:pPr>
            <a:r>
              <a:rPr sz="1000" b="0" i="1" u="none">
                <a:solidFill>
                  <a:srgbClr val="232A38"/>
                </a:solidFill>
                <a:latin typeface="Calibri"/>
              </a:rPr>
              <a:t>1 Peter 1:5</a:t>
            </a:r>
          </a:p>
          <a:p>
            <a:pPr algn="l">
              <a:lnSpc>
                <a:spcPct val="108000"/>
              </a:lnSpc>
              <a:spcBef>
                <a:spcPts val="0"/>
              </a:spcBef>
              <a:spcAft>
                <a:spcPts val="250"/>
              </a:spcAft>
            </a:pPr>
            <a:r>
              <a:rPr sz="1000" b="0" i="1" u="none">
                <a:solidFill>
                  <a:srgbClr val="232A38"/>
                </a:solidFill>
                <a:latin typeface="Calibri"/>
              </a:rPr>
              <a:t>Ephesians 1:13-14</a:t>
            </a:r>
          </a:p>
          <a:p>
            <a:pPr algn="l">
              <a:lnSpc>
                <a:spcPct val="108000"/>
              </a:lnSpc>
              <a:spcBef>
                <a:spcPts val="0"/>
              </a:spcBef>
              <a:spcAft>
                <a:spcPts val="250"/>
              </a:spcAft>
            </a:pPr>
            <a:r>
              <a:rPr sz="1000" b="0" i="1" u="none">
                <a:solidFill>
                  <a:srgbClr val="232A38"/>
                </a:solidFill>
                <a:latin typeface="Calibri"/>
              </a:rPr>
              <a:t>John 10:28-29</a:t>
            </a:r>
          </a:p>
          <a:p>
            <a:pPr algn="l">
              <a:lnSpc>
                <a:spcPct val="110000"/>
              </a:lnSpc>
              <a:spcBef>
                <a:spcPts val="400"/>
              </a:spcBef>
              <a:spcAft>
                <a:spcPts val="0"/>
              </a:spcAft>
            </a:pPr>
            <a:r>
              <a:rPr sz="950" b="0" i="0" u="none">
                <a:solidFill>
                  <a:srgbClr val="4C566B"/>
                </a:solidFill>
                <a:latin typeface="Calibri"/>
              </a:rPr>
              <a:t>The doctrine of the perseverance of the saints was defined at the Synod of Dort and is a ground of the assurance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elect will persevere in the faith to the end, kept by the power of God — the ground of the assurance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Assurance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assurance of salvation is the confident conviction of the believer that he is in Christ and that his salvation is secure. It is the work of the Spirit, who bears witness with the spirit of the believer that he is a child of God (Rom 8:16). The ground of the assurance is the work of Christ, the promise of God, and the evidence of the Spirit's work in the life of the believer. The assurance is not a single experience but a growing confidence, and it is the ground of the Christian's joy and of his confidence in the trial. The doctrine of the assurance is the comfort of the believer and the ground of his worship.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assurance as the work of the Spirit's witness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the work of Christ, the promise, and the evidence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assurance as a growing confidence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joy and the confidence in the trial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8:16</a:t>
            </a:r>
          </a:p>
          <a:p>
            <a:pPr algn="l">
              <a:lnSpc>
                <a:spcPct val="108000"/>
              </a:lnSpc>
              <a:spcBef>
                <a:spcPts val="0"/>
              </a:spcBef>
              <a:spcAft>
                <a:spcPts val="250"/>
              </a:spcAft>
            </a:pPr>
            <a:r>
              <a:rPr sz="1000" b="0" i="1" u="none">
                <a:solidFill>
                  <a:srgbClr val="232A38"/>
                </a:solidFill>
                <a:latin typeface="Calibri"/>
              </a:rPr>
              <a:t>1 John 5:13</a:t>
            </a:r>
          </a:p>
          <a:p>
            <a:pPr algn="l">
              <a:lnSpc>
                <a:spcPct val="108000"/>
              </a:lnSpc>
              <a:spcBef>
                <a:spcPts val="0"/>
              </a:spcBef>
              <a:spcAft>
                <a:spcPts val="250"/>
              </a:spcAft>
            </a:pPr>
            <a:r>
              <a:rPr sz="1000" b="0" i="1" u="none">
                <a:solidFill>
                  <a:srgbClr val="232A38"/>
                </a:solidFill>
                <a:latin typeface="Calibri"/>
              </a:rPr>
              <a:t>2 Corinthians 1:12</a:t>
            </a:r>
          </a:p>
          <a:p>
            <a:pPr algn="l">
              <a:lnSpc>
                <a:spcPct val="108000"/>
              </a:lnSpc>
              <a:spcBef>
                <a:spcPts val="0"/>
              </a:spcBef>
              <a:spcAft>
                <a:spcPts val="250"/>
              </a:spcAft>
            </a:pPr>
            <a:r>
              <a:rPr sz="1000" b="0" i="1" u="none">
                <a:solidFill>
                  <a:srgbClr val="232A38"/>
                </a:solidFill>
                <a:latin typeface="Calibri"/>
              </a:rPr>
              <a:t>John 6:69</a:t>
            </a:r>
          </a:p>
          <a:p>
            <a:pPr algn="l">
              <a:lnSpc>
                <a:spcPct val="110000"/>
              </a:lnSpc>
              <a:spcBef>
                <a:spcPts val="400"/>
              </a:spcBef>
              <a:spcAft>
                <a:spcPts val="0"/>
              </a:spcAft>
            </a:pPr>
            <a:r>
              <a:rPr sz="950" b="0" i="0" u="none">
                <a:solidFill>
                  <a:srgbClr val="4C566B"/>
                </a:solidFill>
                <a:latin typeface="Calibri"/>
              </a:rPr>
              <a:t>The doctrine of the assurance of salvation is the comfort of the believer and the ground of his worship.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assurance of salvation is the confident conviction that the believer is in Christ, the work of the Spirit and the comfort of the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Justification and Sanctification Distinguished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Justification and sanctification are two distinct but inseparable aspects of the salvation of God. Justification is the forensic act of God in which he declares the sinner righteous on the ground of the imputed righteousness of Christ; it is instantaneous and complete. Sanctification is the moral work of the Spirit in which the believer is made holy in conduct; it is progressive and incomplete in this life. The two are distinct in their nature, their manner and their completion, but they are inseparable in the experience of the believer: the justified are sanctified, and the sanctified are justified. The distinction is the guard against the confusion of the forensic and the moral, and it is the ground of the Christian's confidence and of his holy living.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Justification as the forensic, instantaneous act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Sanctification as the moral, progressive work</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in nature, manner and completion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inseparability in the experience of the believer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5:1</a:t>
            </a:r>
          </a:p>
          <a:p>
            <a:pPr algn="l">
              <a:lnSpc>
                <a:spcPct val="108000"/>
              </a:lnSpc>
              <a:spcBef>
                <a:spcPts val="0"/>
              </a:spcBef>
              <a:spcAft>
                <a:spcPts val="250"/>
              </a:spcAft>
            </a:pPr>
            <a:r>
              <a:rPr sz="1000" b="0" i="1" u="none">
                <a:solidFill>
                  <a:srgbClr val="232A38"/>
                </a:solidFill>
                <a:latin typeface="Calibri"/>
              </a:rPr>
              <a:t>Romans 6:11-14</a:t>
            </a:r>
          </a:p>
          <a:p>
            <a:pPr algn="l">
              <a:lnSpc>
                <a:spcPct val="108000"/>
              </a:lnSpc>
              <a:spcBef>
                <a:spcPts val="0"/>
              </a:spcBef>
              <a:spcAft>
                <a:spcPts val="250"/>
              </a:spcAft>
            </a:pPr>
            <a:r>
              <a:rPr sz="1000" b="0" i="1" u="none">
                <a:solidFill>
                  <a:srgbClr val="232A38"/>
                </a:solidFill>
                <a:latin typeface="Calibri"/>
              </a:rPr>
              <a:t>2 Corinthians 5:21</a:t>
            </a:r>
          </a:p>
          <a:p>
            <a:pPr algn="l">
              <a:lnSpc>
                <a:spcPct val="108000"/>
              </a:lnSpc>
              <a:spcBef>
                <a:spcPts val="0"/>
              </a:spcBef>
              <a:spcAft>
                <a:spcPts val="250"/>
              </a:spcAft>
            </a:pPr>
            <a:r>
              <a:rPr sz="1000" b="0" i="1" u="none">
                <a:solidFill>
                  <a:srgbClr val="232A38"/>
                </a:solidFill>
                <a:latin typeface="Calibri"/>
              </a:rPr>
              <a:t>Philippians 2:12-13</a:t>
            </a:r>
          </a:p>
          <a:p>
            <a:pPr algn="l">
              <a:lnSpc>
                <a:spcPct val="110000"/>
              </a:lnSpc>
              <a:spcBef>
                <a:spcPts val="400"/>
              </a:spcBef>
              <a:spcAft>
                <a:spcPts val="0"/>
              </a:spcAft>
            </a:pPr>
            <a:r>
              <a:rPr sz="950" b="0" i="0" u="none">
                <a:solidFill>
                  <a:srgbClr val="4C566B"/>
                </a:solidFill>
                <a:latin typeface="Calibri"/>
              </a:rPr>
              <a:t>The distinction between justification and sanctification is the guard against the confusion of the forensic and the moral.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Justification is the forensic declaration of righteousness; sanctification is the moral making holy — distinct but inseparable in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Glorification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Glorification is the final work of God in which the believer is made conformable to the body of the glory of Christ, and is made perfect in holiness. It is the completion of the salvation that began in the election and was applied in the justification and the sanctification. Glorification is the resurrection of the body and the perfection of the soul, and it is the entrance of the believer into the full possession of the inheritance (Rom 8:29-30; 1 Cor 15:42-44). The doctrine of glorification is the ground of the Christian hope and of his confidence in the death and in the resurrection. It is the final work of the ordo salutis.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Glorification as the perfection in holiness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resurrection of the body and the perfection of the soul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full possession of the inheritance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 hope and the final work of the ordo salutis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8:29-30</a:t>
            </a:r>
          </a:p>
          <a:p>
            <a:pPr algn="l">
              <a:lnSpc>
                <a:spcPct val="108000"/>
              </a:lnSpc>
              <a:spcBef>
                <a:spcPts val="0"/>
              </a:spcBef>
              <a:spcAft>
                <a:spcPts val="250"/>
              </a:spcAft>
            </a:pPr>
            <a:r>
              <a:rPr sz="1000" b="0" i="1" u="none">
                <a:solidFill>
                  <a:srgbClr val="232A38"/>
                </a:solidFill>
                <a:latin typeface="Calibri"/>
              </a:rPr>
              <a:t>1 Corinthians 15:42-44</a:t>
            </a:r>
          </a:p>
          <a:p>
            <a:pPr algn="l">
              <a:lnSpc>
                <a:spcPct val="108000"/>
              </a:lnSpc>
              <a:spcBef>
                <a:spcPts val="0"/>
              </a:spcBef>
              <a:spcAft>
                <a:spcPts val="250"/>
              </a:spcAft>
            </a:pPr>
            <a:r>
              <a:rPr sz="1000" b="0" i="1" u="none">
                <a:solidFill>
                  <a:srgbClr val="232A38"/>
                </a:solidFill>
                <a:latin typeface="Calibri"/>
              </a:rPr>
              <a:t>Philippians 3:21</a:t>
            </a:r>
          </a:p>
          <a:p>
            <a:pPr algn="l">
              <a:lnSpc>
                <a:spcPct val="108000"/>
              </a:lnSpc>
              <a:spcBef>
                <a:spcPts val="0"/>
              </a:spcBef>
              <a:spcAft>
                <a:spcPts val="250"/>
              </a:spcAft>
            </a:pPr>
            <a:r>
              <a:rPr sz="1000" b="0" i="1" u="none">
                <a:solidFill>
                  <a:srgbClr val="232A38"/>
                </a:solidFill>
                <a:latin typeface="Calibri"/>
              </a:rPr>
              <a:t>1 John 3:2</a:t>
            </a:r>
          </a:p>
          <a:p>
            <a:pPr algn="l">
              <a:lnSpc>
                <a:spcPct val="110000"/>
              </a:lnSpc>
              <a:spcBef>
                <a:spcPts val="400"/>
              </a:spcBef>
              <a:spcAft>
                <a:spcPts val="0"/>
              </a:spcAft>
            </a:pPr>
            <a:r>
              <a:rPr sz="950" b="0" i="0" u="none">
                <a:solidFill>
                  <a:srgbClr val="4C566B"/>
                </a:solidFill>
                <a:latin typeface="Calibri"/>
              </a:rPr>
              <a:t>The doctrine of glorification is the final work of the ordo salutis and the ground of the Christian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Glorification is the final work of God in which the believer is made perfect in holiness and enters the full possession of the inheritance.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Ground and Basis of Salvation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ground and basis of salvation is the work of Christ — his death, his burial and his resurrection. It is not the work of the sinner, not the merit of the Church, and not the power of the sacraments, but the work of Christ alone. The righteousness that is the ground of the justification of the sinner is the righteousness of Christ, imputed to him (2 Cor 5:21). The blood of Christ is the ground of the pardon of sin (1 John 1:7), and the resurrection of Christ is the ground of the hope of the believer (Rom 4:25). The doctrine of the ground of salvation is the guard against every form of works-righteousness and the ground of the Christian's confidence that his salvation is secure in Christ.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salvation is the work of Christ alone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imputed righteousness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blood of Christ as the ground of the pardon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resurrection of Christ as the ground of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Corinthians 5:21</a:t>
            </a:r>
          </a:p>
          <a:p>
            <a:pPr algn="l">
              <a:lnSpc>
                <a:spcPct val="108000"/>
              </a:lnSpc>
              <a:spcBef>
                <a:spcPts val="0"/>
              </a:spcBef>
              <a:spcAft>
                <a:spcPts val="250"/>
              </a:spcAft>
            </a:pPr>
            <a:r>
              <a:rPr sz="1000" b="0" i="1" u="none">
                <a:solidFill>
                  <a:srgbClr val="232A38"/>
                </a:solidFill>
                <a:latin typeface="Calibri"/>
              </a:rPr>
              <a:t>1 John 1:7</a:t>
            </a:r>
          </a:p>
          <a:p>
            <a:pPr algn="l">
              <a:lnSpc>
                <a:spcPct val="108000"/>
              </a:lnSpc>
              <a:spcBef>
                <a:spcPts val="0"/>
              </a:spcBef>
              <a:spcAft>
                <a:spcPts val="250"/>
              </a:spcAft>
            </a:pPr>
            <a:r>
              <a:rPr sz="1000" b="0" i="1" u="none">
                <a:solidFill>
                  <a:srgbClr val="232A38"/>
                </a:solidFill>
                <a:latin typeface="Calibri"/>
              </a:rPr>
              <a:t>Romans 4:25</a:t>
            </a:r>
          </a:p>
          <a:p>
            <a:pPr algn="l">
              <a:lnSpc>
                <a:spcPct val="108000"/>
              </a:lnSpc>
              <a:spcBef>
                <a:spcPts val="0"/>
              </a:spcBef>
              <a:spcAft>
                <a:spcPts val="250"/>
              </a:spcAft>
            </a:pPr>
            <a:r>
              <a:rPr sz="1000" b="0" i="1" u="none">
                <a:solidFill>
                  <a:srgbClr val="232A38"/>
                </a:solidFill>
                <a:latin typeface="Calibri"/>
              </a:rPr>
              <a:t>Ephesians 2:8-9</a:t>
            </a:r>
          </a:p>
          <a:p>
            <a:pPr algn="l">
              <a:lnSpc>
                <a:spcPct val="110000"/>
              </a:lnSpc>
              <a:spcBef>
                <a:spcPts val="400"/>
              </a:spcBef>
              <a:spcAft>
                <a:spcPts val="0"/>
              </a:spcAft>
            </a:pPr>
            <a:r>
              <a:rPr sz="950" b="0" i="0" u="none">
                <a:solidFill>
                  <a:srgbClr val="4C566B"/>
                </a:solidFill>
                <a:latin typeface="Calibri"/>
              </a:rPr>
              <a:t>The doctrine of the ground of salvation is the guard against works-righteousness and the ground of the Christian's confidence.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ground and basis of salvation is the work of Christ alone — his death, his burial and his resurrection — and not the work of the sinner.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Order of Salvation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order of salvation (ordo salutis) is the logical and the temporal order of the works of grace by which the believer is brought from death to life. The classical Reformed order is: the election, the effectual call, regeneration, faith, justification, adoption, sanctification, perseverance, and glorification. The order is a logical order, not a strict temporal sequence, for some of the works are simultaneous in the experience of the believer. The doctrine of the order of salvation is the framework within which the particular works of grace are to be understood, and it is the ground of the Christian's confidence that the work of God in him is orderly and complete. The order of salvation is the summary of the whole of the doctrine of salvation.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ordo salutis: the logical and temporal order of the works of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classical Reformed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logical order, not a strict temporal sequence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framework of the doctrine of salvation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8:29-30</a:t>
            </a:r>
          </a:p>
          <a:p>
            <a:pPr algn="l">
              <a:lnSpc>
                <a:spcPct val="108000"/>
              </a:lnSpc>
              <a:spcBef>
                <a:spcPts val="0"/>
              </a:spcBef>
              <a:spcAft>
                <a:spcPts val="250"/>
              </a:spcAft>
            </a:pPr>
            <a:r>
              <a:rPr sz="1000" b="0" i="1" u="none">
                <a:solidFill>
                  <a:srgbClr val="232A38"/>
                </a:solidFill>
                <a:latin typeface="Calibri"/>
              </a:rPr>
              <a:t>Ephesians 1:3-14</a:t>
            </a:r>
          </a:p>
          <a:p>
            <a:pPr algn="l">
              <a:lnSpc>
                <a:spcPct val="108000"/>
              </a:lnSpc>
              <a:spcBef>
                <a:spcPts val="0"/>
              </a:spcBef>
              <a:spcAft>
                <a:spcPts val="250"/>
              </a:spcAft>
            </a:pPr>
            <a:r>
              <a:rPr sz="1000" b="0" i="1" u="none">
                <a:solidFill>
                  <a:srgbClr val="232A38"/>
                </a:solidFill>
                <a:latin typeface="Calibri"/>
              </a:rPr>
              <a:t>2 Thessalonians 2:13</a:t>
            </a:r>
          </a:p>
          <a:p>
            <a:pPr algn="l">
              <a:lnSpc>
                <a:spcPct val="108000"/>
              </a:lnSpc>
              <a:spcBef>
                <a:spcPts val="0"/>
              </a:spcBef>
              <a:spcAft>
                <a:spcPts val="250"/>
              </a:spcAft>
            </a:pPr>
            <a:r>
              <a:rPr sz="1000" b="0" i="1" u="none">
                <a:solidFill>
                  <a:srgbClr val="232A38"/>
                </a:solidFill>
                <a:latin typeface="Calibri"/>
              </a:rPr>
              <a:t>1 Corinthians 12:13</a:t>
            </a:r>
          </a:p>
          <a:p>
            <a:pPr algn="l">
              <a:lnSpc>
                <a:spcPct val="110000"/>
              </a:lnSpc>
              <a:spcBef>
                <a:spcPts val="400"/>
              </a:spcBef>
              <a:spcAft>
                <a:spcPts val="0"/>
              </a:spcAft>
            </a:pPr>
            <a:r>
              <a:rPr sz="950" b="0" i="0" u="none">
                <a:solidFill>
                  <a:srgbClr val="4C566B"/>
                </a:solidFill>
                <a:latin typeface="Calibri"/>
              </a:rPr>
              <a:t>The doctrine of the order of salvation is the summary of the whole of the doctrine of salvation and the framework of the works of grace.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order of salvation is the logical order of the works of grace by which the believer is brought from death to life, from election to glorification.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08  ·  SOTERIOLOGY: THE DOCTRINE OF SALVATION</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The Order of Salvation: Redemption to Glorification</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8883"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68883"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7755" y="3904488"/>
            <a:ext cx="1335024" cy="987552"/>
          </a:xfrm>
          <a:prstGeom prst="rect">
            <a:avLst/>
          </a:prstGeom>
          <a:noFill/>
        </p:spPr>
        <p:txBody>
          <a:bodyPr wrap="square" anchor="t" lIns="0" rIns="0" tIns="0" bIns="0">
            <a:spAutoFit/>
          </a:bodyPr>
          <a:lstStyle/>
          <a:p>
            <a:pPr algn="l">
              <a:lnSpc>
                <a:spcPct val="100000"/>
              </a:lnSpc>
              <a:spcBef>
                <a:spcPts val="0"/>
              </a:spcBef>
              <a:spcAft>
                <a:spcPts val="200"/>
              </a:spcAft>
            </a:pPr>
            <a:r>
              <a:rPr sz="1000" b="1" i="0" u="none" spc="60">
                <a:solidFill>
                  <a:srgbClr val="E6D3A3"/>
                </a:solidFill>
                <a:latin typeface="Calibri Light"/>
              </a:rPr>
              <a:t>REDEMPTION</a:t>
            </a:r>
          </a:p>
          <a:p>
            <a:pPr algn="l">
              <a:lnSpc>
                <a:spcPct val="105000"/>
              </a:lnSpc>
              <a:spcBef>
                <a:spcPts val="0"/>
              </a:spcBef>
              <a:spcAft>
                <a:spcPts val="200"/>
              </a:spcAft>
            </a:pPr>
            <a:r>
              <a:rPr sz="930" b="0" i="1" u="none">
                <a:solidFill>
                  <a:srgbClr val="C9CDD6"/>
                </a:solidFill>
                <a:latin typeface="Palatino Linotype"/>
              </a:rPr>
              <a:t>bought back by a price</a:t>
            </a:r>
          </a:p>
          <a:p>
            <a:pPr algn="l">
              <a:lnSpc>
                <a:spcPct val="100000"/>
              </a:lnSpc>
              <a:spcBef>
                <a:spcPts val="0"/>
              </a:spcBef>
              <a:spcAft>
                <a:spcPts val="0"/>
              </a:spcAft>
            </a:pPr>
            <a:r>
              <a:rPr sz="830" b="0" i="0" u="none">
                <a:solidFill>
                  <a:srgbClr val="9AA5BC"/>
                </a:solidFill>
                <a:latin typeface="Calibri"/>
              </a:rPr>
              <a:t>Eph. 1:7</a:t>
            </a:r>
          </a:p>
        </p:txBody>
      </p:sp>
      <p:cxnSp>
        <p:nvCxnSpPr>
          <p:cNvPr id="10" name="Connector 9"/>
          <p:cNvCxnSpPr/>
          <p:nvPr/>
        </p:nvCxnSpPr>
        <p:spPr>
          <a:xfrm>
            <a:off x="2259939" y="4379976"/>
            <a:ext cx="246888" cy="0"/>
          </a:xfrm>
          <a:prstGeom prst="line">
            <a:avLst/>
          </a:prstGeom>
          <a:ln w="1778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25115"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2525115"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643987" y="3904488"/>
            <a:ext cx="1335024" cy="987552"/>
          </a:xfrm>
          <a:prstGeom prst="rect">
            <a:avLst/>
          </a:prstGeom>
          <a:noFill/>
        </p:spPr>
        <p:txBody>
          <a:bodyPr wrap="square" anchor="t" lIns="0" rIns="0" tIns="0" bIns="0">
            <a:spAutoFit/>
          </a:bodyPr>
          <a:lstStyle/>
          <a:p>
            <a:pPr algn="l">
              <a:lnSpc>
                <a:spcPct val="100000"/>
              </a:lnSpc>
              <a:spcBef>
                <a:spcPts val="0"/>
              </a:spcBef>
              <a:spcAft>
                <a:spcPts val="200"/>
              </a:spcAft>
            </a:pPr>
            <a:r>
              <a:rPr sz="1000" b="1" i="0" u="none" spc="60">
                <a:solidFill>
                  <a:srgbClr val="E6D3A3"/>
                </a:solidFill>
                <a:latin typeface="Calibri Light"/>
              </a:rPr>
              <a:t>RECONCILIATION</a:t>
            </a:r>
          </a:p>
          <a:p>
            <a:pPr algn="l">
              <a:lnSpc>
                <a:spcPct val="105000"/>
              </a:lnSpc>
              <a:spcBef>
                <a:spcPts val="0"/>
              </a:spcBef>
              <a:spcAft>
                <a:spcPts val="200"/>
              </a:spcAft>
            </a:pPr>
            <a:r>
              <a:rPr sz="930" b="0" i="1" u="none">
                <a:solidFill>
                  <a:srgbClr val="C9CDD6"/>
                </a:solidFill>
                <a:latin typeface="Palatino Linotype"/>
              </a:rPr>
              <a:t>enmity removed</a:t>
            </a:r>
          </a:p>
          <a:p>
            <a:pPr algn="l">
              <a:lnSpc>
                <a:spcPct val="100000"/>
              </a:lnSpc>
              <a:spcBef>
                <a:spcPts val="0"/>
              </a:spcBef>
              <a:spcAft>
                <a:spcPts val="0"/>
              </a:spcAft>
            </a:pPr>
            <a:r>
              <a:rPr sz="830" b="0" i="0" u="none">
                <a:solidFill>
                  <a:srgbClr val="9AA5BC"/>
                </a:solidFill>
                <a:latin typeface="Calibri"/>
              </a:rPr>
              <a:t>2 Cor. 5:18</a:t>
            </a:r>
          </a:p>
        </p:txBody>
      </p:sp>
      <p:cxnSp>
        <p:nvCxnSpPr>
          <p:cNvPr id="14" name="Connector 13"/>
          <p:cNvCxnSpPr/>
          <p:nvPr/>
        </p:nvCxnSpPr>
        <p:spPr>
          <a:xfrm>
            <a:off x="4116171" y="4379976"/>
            <a:ext cx="246888" cy="0"/>
          </a:xfrm>
          <a:prstGeom prst="line">
            <a:avLst/>
          </a:prstGeom>
          <a:ln w="1778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381347"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381347"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00219" y="3904488"/>
            <a:ext cx="1335024" cy="987552"/>
          </a:xfrm>
          <a:prstGeom prst="rect">
            <a:avLst/>
          </a:prstGeom>
          <a:noFill/>
        </p:spPr>
        <p:txBody>
          <a:bodyPr wrap="square" anchor="t" lIns="0" rIns="0" tIns="0" bIns="0">
            <a:spAutoFit/>
          </a:bodyPr>
          <a:lstStyle/>
          <a:p>
            <a:pPr algn="l">
              <a:lnSpc>
                <a:spcPct val="100000"/>
              </a:lnSpc>
              <a:spcBef>
                <a:spcPts val="0"/>
              </a:spcBef>
              <a:spcAft>
                <a:spcPts val="200"/>
              </a:spcAft>
            </a:pPr>
            <a:r>
              <a:rPr sz="1000" b="1" i="0" u="none" spc="60">
                <a:solidFill>
                  <a:srgbClr val="E6D3A3"/>
                </a:solidFill>
                <a:latin typeface="Calibri Light"/>
              </a:rPr>
              <a:t>JUSTIFICATION</a:t>
            </a:r>
          </a:p>
          <a:p>
            <a:pPr algn="l">
              <a:lnSpc>
                <a:spcPct val="105000"/>
              </a:lnSpc>
              <a:spcBef>
                <a:spcPts val="0"/>
              </a:spcBef>
              <a:spcAft>
                <a:spcPts val="200"/>
              </a:spcAft>
            </a:pPr>
            <a:r>
              <a:rPr sz="930" b="0" i="1" u="none">
                <a:solidFill>
                  <a:srgbClr val="C9CDD6"/>
                </a:solidFill>
                <a:latin typeface="Palatino Linotype"/>
              </a:rPr>
              <a:t>declared righteous</a:t>
            </a:r>
          </a:p>
          <a:p>
            <a:pPr algn="l">
              <a:lnSpc>
                <a:spcPct val="100000"/>
              </a:lnSpc>
              <a:spcBef>
                <a:spcPts val="0"/>
              </a:spcBef>
              <a:spcAft>
                <a:spcPts val="0"/>
              </a:spcAft>
            </a:pPr>
            <a:r>
              <a:rPr sz="830" b="0" i="0" u="none">
                <a:solidFill>
                  <a:srgbClr val="9AA5BC"/>
                </a:solidFill>
                <a:latin typeface="Calibri"/>
              </a:rPr>
              <a:t>Rom. 5:1</a:t>
            </a:r>
          </a:p>
        </p:txBody>
      </p:sp>
      <p:cxnSp>
        <p:nvCxnSpPr>
          <p:cNvPr id="18" name="Connector 17"/>
          <p:cNvCxnSpPr/>
          <p:nvPr/>
        </p:nvCxnSpPr>
        <p:spPr>
          <a:xfrm>
            <a:off x="5972403" y="4379976"/>
            <a:ext cx="246888" cy="0"/>
          </a:xfrm>
          <a:prstGeom prst="line">
            <a:avLst/>
          </a:prstGeom>
          <a:ln w="1778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37579"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37579"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56451" y="3904488"/>
            <a:ext cx="1335024" cy="987552"/>
          </a:xfrm>
          <a:prstGeom prst="rect">
            <a:avLst/>
          </a:prstGeom>
          <a:noFill/>
        </p:spPr>
        <p:txBody>
          <a:bodyPr wrap="square" anchor="t" lIns="0" rIns="0" tIns="0" bIns="0">
            <a:spAutoFit/>
          </a:bodyPr>
          <a:lstStyle/>
          <a:p>
            <a:pPr algn="l">
              <a:lnSpc>
                <a:spcPct val="100000"/>
              </a:lnSpc>
              <a:spcBef>
                <a:spcPts val="0"/>
              </a:spcBef>
              <a:spcAft>
                <a:spcPts val="200"/>
              </a:spcAft>
            </a:pPr>
            <a:r>
              <a:rPr sz="1000" b="1" i="0" u="none" spc="60">
                <a:solidFill>
                  <a:srgbClr val="E6D3A3"/>
                </a:solidFill>
                <a:latin typeface="Calibri Light"/>
              </a:rPr>
              <a:t>ADOPTION</a:t>
            </a:r>
          </a:p>
          <a:p>
            <a:pPr algn="l">
              <a:lnSpc>
                <a:spcPct val="105000"/>
              </a:lnSpc>
              <a:spcBef>
                <a:spcPts val="0"/>
              </a:spcBef>
              <a:spcAft>
                <a:spcPts val="200"/>
              </a:spcAft>
            </a:pPr>
            <a:r>
              <a:rPr sz="930" b="0" i="1" u="none">
                <a:solidFill>
                  <a:srgbClr val="C9CDD6"/>
                </a:solidFill>
                <a:latin typeface="Palatino Linotype"/>
              </a:rPr>
              <a:t>into the family of God</a:t>
            </a:r>
          </a:p>
          <a:p>
            <a:pPr algn="l">
              <a:lnSpc>
                <a:spcPct val="100000"/>
              </a:lnSpc>
              <a:spcBef>
                <a:spcPts val="0"/>
              </a:spcBef>
              <a:spcAft>
                <a:spcPts val="0"/>
              </a:spcAft>
            </a:pPr>
            <a:r>
              <a:rPr sz="830" b="0" i="0" u="none">
                <a:solidFill>
                  <a:srgbClr val="9AA5BC"/>
                </a:solidFill>
                <a:latin typeface="Calibri"/>
              </a:rPr>
              <a:t>Rom. 8:15</a:t>
            </a:r>
          </a:p>
        </p:txBody>
      </p:sp>
      <p:cxnSp>
        <p:nvCxnSpPr>
          <p:cNvPr id="22" name="Connector 21"/>
          <p:cNvCxnSpPr/>
          <p:nvPr/>
        </p:nvCxnSpPr>
        <p:spPr>
          <a:xfrm>
            <a:off x="7828635" y="4379976"/>
            <a:ext cx="246888" cy="0"/>
          </a:xfrm>
          <a:prstGeom prst="line">
            <a:avLst/>
          </a:prstGeom>
          <a:ln w="1778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093811"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093811"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212683" y="3904488"/>
            <a:ext cx="1335024" cy="987552"/>
          </a:xfrm>
          <a:prstGeom prst="rect">
            <a:avLst/>
          </a:prstGeom>
          <a:noFill/>
        </p:spPr>
        <p:txBody>
          <a:bodyPr wrap="square" anchor="t" lIns="0" rIns="0" tIns="0" bIns="0">
            <a:spAutoFit/>
          </a:bodyPr>
          <a:lstStyle/>
          <a:p>
            <a:pPr algn="l">
              <a:lnSpc>
                <a:spcPct val="100000"/>
              </a:lnSpc>
              <a:spcBef>
                <a:spcPts val="0"/>
              </a:spcBef>
              <a:spcAft>
                <a:spcPts val="200"/>
              </a:spcAft>
            </a:pPr>
            <a:r>
              <a:rPr sz="1000" b="1" i="0" u="none" spc="60">
                <a:solidFill>
                  <a:srgbClr val="E6D3A3"/>
                </a:solidFill>
                <a:latin typeface="Calibri Light"/>
              </a:rPr>
              <a:t>SANCTIFICATION</a:t>
            </a:r>
          </a:p>
          <a:p>
            <a:pPr algn="l">
              <a:lnSpc>
                <a:spcPct val="105000"/>
              </a:lnSpc>
              <a:spcBef>
                <a:spcPts val="0"/>
              </a:spcBef>
              <a:spcAft>
                <a:spcPts val="200"/>
              </a:spcAft>
            </a:pPr>
            <a:r>
              <a:rPr sz="930" b="0" i="1" u="none">
                <a:solidFill>
                  <a:srgbClr val="C9CDD6"/>
                </a:solidFill>
                <a:latin typeface="Palatino Linotype"/>
              </a:rPr>
              <a:t>made holy in practice</a:t>
            </a:r>
          </a:p>
          <a:p>
            <a:pPr algn="l">
              <a:lnSpc>
                <a:spcPct val="100000"/>
              </a:lnSpc>
              <a:spcBef>
                <a:spcPts val="0"/>
              </a:spcBef>
              <a:spcAft>
                <a:spcPts val="0"/>
              </a:spcAft>
            </a:pPr>
            <a:r>
              <a:rPr sz="830" b="0" i="0" u="none">
                <a:solidFill>
                  <a:srgbClr val="9AA5BC"/>
                </a:solidFill>
                <a:latin typeface="Calibri"/>
              </a:rPr>
              <a:t>1 Thess. 5:23</a:t>
            </a:r>
          </a:p>
        </p:txBody>
      </p:sp>
      <p:cxnSp>
        <p:nvCxnSpPr>
          <p:cNvPr id="26" name="Connector 25"/>
          <p:cNvCxnSpPr/>
          <p:nvPr/>
        </p:nvCxnSpPr>
        <p:spPr>
          <a:xfrm>
            <a:off x="9684867" y="4379976"/>
            <a:ext cx="246888" cy="0"/>
          </a:xfrm>
          <a:prstGeom prst="line">
            <a:avLst/>
          </a:prstGeom>
          <a:ln w="1778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950043" y="3794760"/>
            <a:ext cx="1572768" cy="1170432"/>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950043" y="3794760"/>
            <a:ext cx="157276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0068915" y="3904488"/>
            <a:ext cx="1335024" cy="987552"/>
          </a:xfrm>
          <a:prstGeom prst="rect">
            <a:avLst/>
          </a:prstGeom>
          <a:noFill/>
        </p:spPr>
        <p:txBody>
          <a:bodyPr wrap="square" anchor="t" lIns="0" rIns="0" tIns="0" bIns="0">
            <a:spAutoFit/>
          </a:bodyPr>
          <a:lstStyle/>
          <a:p>
            <a:pPr algn="l">
              <a:lnSpc>
                <a:spcPct val="100000"/>
              </a:lnSpc>
              <a:spcBef>
                <a:spcPts val="0"/>
              </a:spcBef>
              <a:spcAft>
                <a:spcPts val="200"/>
              </a:spcAft>
            </a:pPr>
            <a:r>
              <a:rPr sz="1000" b="1" i="0" u="none" spc="60">
                <a:solidFill>
                  <a:srgbClr val="E6D3A3"/>
                </a:solidFill>
                <a:latin typeface="Calibri Light"/>
              </a:rPr>
              <a:t>GLORIFICATION</a:t>
            </a:r>
          </a:p>
          <a:p>
            <a:pPr algn="l">
              <a:lnSpc>
                <a:spcPct val="105000"/>
              </a:lnSpc>
              <a:spcBef>
                <a:spcPts val="0"/>
              </a:spcBef>
              <a:spcAft>
                <a:spcPts val="200"/>
              </a:spcAft>
            </a:pPr>
            <a:r>
              <a:rPr sz="930" b="0" i="1" u="none">
                <a:solidFill>
                  <a:srgbClr val="C9CDD6"/>
                </a:solidFill>
                <a:latin typeface="Palatino Linotype"/>
              </a:rPr>
              <a:t>perfected in glory</a:t>
            </a:r>
          </a:p>
          <a:p>
            <a:pPr algn="l">
              <a:lnSpc>
                <a:spcPct val="100000"/>
              </a:lnSpc>
              <a:spcBef>
                <a:spcPts val="0"/>
              </a:spcBef>
              <a:spcAft>
                <a:spcPts val="0"/>
              </a:spcAft>
            </a:pPr>
            <a:r>
              <a:rPr sz="830" b="0" i="0" u="none">
                <a:solidFill>
                  <a:srgbClr val="9AA5BC"/>
                </a:solidFill>
                <a:latin typeface="Calibri"/>
              </a:rPr>
              <a:t>Rom. 8:30</a:t>
            </a:r>
          </a:p>
        </p:txBody>
      </p:sp>
      <p:sp>
        <p:nvSpPr>
          <p:cNvPr id="30" name="TextBox 29"/>
          <p:cNvSpPr txBox="1"/>
          <p:nvPr/>
        </p:nvSpPr>
        <p:spPr>
          <a:xfrm>
            <a:off x="668883" y="2148840"/>
            <a:ext cx="10853928" cy="548640"/>
          </a:xfrm>
          <a:prstGeom prst="rect">
            <a:avLst/>
          </a:prstGeom>
          <a:noFill/>
        </p:spPr>
        <p:txBody>
          <a:bodyPr wrap="square" anchor="t" lIns="0" rIns="0" tIns="0" bIns="0">
            <a:spAutoFit/>
          </a:bodyPr>
          <a:lstStyle/>
          <a:p>
            <a:pPr algn="ctr">
              <a:lnSpc>
                <a:spcPct val="100000"/>
              </a:lnSpc>
              <a:spcBef>
                <a:spcPts val="0"/>
              </a:spcBef>
              <a:spcAft>
                <a:spcPts val="0"/>
              </a:spcAft>
            </a:pPr>
            <a:r>
              <a:rPr sz="1050" b="1" i="0" u="none" spc="260">
                <a:solidFill>
                  <a:srgbClr val="C9A45C"/>
                </a:solidFill>
                <a:latin typeface="Calibri Light"/>
              </a:rPr>
              <a:t>GRACE ALONE THROUGH FAITH — UNION WITH CHRIST</a:t>
            </a:r>
          </a:p>
        </p:txBody>
      </p:sp>
      <p:cxnSp>
        <p:nvCxnSpPr>
          <p:cNvPr id="31" name="Connector 30"/>
          <p:cNvCxnSpPr/>
          <p:nvPr/>
        </p:nvCxnSpPr>
        <p:spPr>
          <a:xfrm>
            <a:off x="668883" y="2834640"/>
            <a:ext cx="10853928" cy="0"/>
          </a:xfrm>
          <a:prstGeom prst="line">
            <a:avLst/>
          </a:prstGeom>
          <a:ln w="11430">
            <a:solidFill>
              <a:srgbClr val="A67F3B"/>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68883" y="5257800"/>
            <a:ext cx="10853928" cy="640080"/>
          </a:xfrm>
          <a:prstGeom prst="rect">
            <a:avLst/>
          </a:prstGeom>
          <a:noFill/>
        </p:spPr>
        <p:txBody>
          <a:bodyPr wrap="square" anchor="t" lIns="0" rIns="0" tIns="0" bIns="0">
            <a:spAutoFit/>
          </a:bodyPr>
          <a:lstStyle/>
          <a:p>
            <a:pPr algn="ctr">
              <a:lnSpc>
                <a:spcPct val="130000"/>
              </a:lnSpc>
              <a:spcBef>
                <a:spcPts val="0"/>
              </a:spcBef>
              <a:spcAft>
                <a:spcPts val="0"/>
              </a:spcAft>
            </a:pPr>
            <a:r>
              <a:rPr sz="1150" b="0" i="1" u="none">
                <a:solidFill>
                  <a:srgbClr val="C9CDD6"/>
                </a:solidFill>
                <a:latin typeface="Palatino Linotype"/>
              </a:rPr>
              <a:t>Each work is distinct yet inseparable: one salvific act of the Triune God, applied progressively to the believer.</a:t>
            </a:r>
          </a:p>
        </p:txBody>
      </p:sp>
      <p:sp>
        <p:nvSpPr>
          <p:cNvPr id="33" name="Rectangle 32"/>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239572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2592324"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278892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2985515"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182112"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3378708"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3575303"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08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Soteriology: The Doctrine of Salvation</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Salvation is the work of God, accomplished in Christ and applied by the Spirit, and received by faith.</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order of salvation runs from the election to the glorification, the works of grace by which the believer is made alive.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Justification is the forensic declaration of righteousness on the ground of the imputed righteousness of Christ, by faith alone.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Sanctification is the progressive making holy, and glorification is the final perfection in the likeness of Christ.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salvation is the application of the work of Christ to the sinner; it is the ground of the Christian's assurance and of the Church's witness, and it flows directly from the person and work of Christ.</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application of the work of Christ to the sinner, the programme turns to the community in which the saved are gathered: the doctrine of the Church.</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09 · Ecclesiology: The Doctrine of the Church</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09</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ECCLESIOLOGY: THE DOCTRINE OF THE CHURCH</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application of the work of Christ to the sinner, the programme turns to the community in which the saved are gathered: the doctrine of the Church.</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9418319" y="3323844"/>
            <a:ext cx="548640" cy="548640"/>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15400" y="2820924"/>
            <a:ext cx="1554480" cy="1554480"/>
          </a:xfrm>
          <a:prstGeom prst="ellipse">
            <a:avLst/>
          </a:prstGeom>
          <a:no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321040" y="2226564"/>
            <a:ext cx="2743200" cy="2743200"/>
          </a:xfrm>
          <a:prstGeom prst="ellipse">
            <a:avLst/>
          </a:prstGeom>
          <a:noFill/>
          <a:ln w="10160">
            <a:solidFill>
              <a:srgbClr val="6E7A9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0652760" y="3598164"/>
            <a:ext cx="274320"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692640" y="4558284"/>
            <a:ext cx="0" cy="27432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8458200" y="3598164"/>
            <a:ext cx="274319" cy="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692640" y="2363724"/>
            <a:ext cx="0" cy="274320"/>
          </a:xfrm>
          <a:prstGeom prst="line">
            <a:avLst/>
          </a:prstGeom>
          <a:ln w="1270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09</a:t>
            </a:r>
          </a:p>
        </p:txBody>
      </p:sp>
      <p:sp>
        <p:nvSpPr>
          <p:cNvPr id="13" name="TextBox 12"/>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09</a:t>
            </a:r>
          </a:p>
        </p:txBody>
      </p:sp>
      <p:sp>
        <p:nvSpPr>
          <p:cNvPr id="14" name="TextBox 13"/>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ECCLESIOLOGY: THE DOCTRINE OF THE CHURCH</a:t>
            </a:r>
          </a:p>
        </p:txBody>
      </p:sp>
      <p:cxnSp>
        <p:nvCxnSpPr>
          <p:cNvPr id="15" name="Connector 14"/>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nature, marks, government, ordinances, worship, discipline and mission of the body of Christ.</a:t>
            </a:r>
          </a:p>
        </p:txBody>
      </p:sp>
      <p:sp>
        <p:nvSpPr>
          <p:cNvPr id="17" name="Rectangle 16"/>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09</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ECCLESIOLOGY: THE DOCTRINE OF THE CHURCH</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Ecclesiology: The Doctrine of the Church</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Ecclesiology is the doctrine of the Church: its nature, its marks, its government, its ministries, its ordinances, its worship, its discipline, and its mission. It treats the community in which the saved are gathered and in which the work of the redemption is applied and displayed.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Church is the body of Christ, the temple of the Holy Spirit, and the family of God. The New Testament presents the Church as the community of the redeemed, gathered by the Spirit around the word and the ordinances, and sent into the world as the witness of the gospel.</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Church is the ground of the Christian's communal life and of the Church's witness. It answers the questions of what the Church is, how it is governed, and how it is to live and to witness in the world.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nature, marks, government, ordinances, worship, discipline and mission of the Church as the body of Christ.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Definition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109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is the body of Christ, the community of the redeemed, gathered by the Spirit around the word and the ordinances (1 Cor 12:27; Eph 1:22-23). It is at once a spiritual reality — the invisible body of the elect — and a visible community — the congregation of believers on earth. The Church is the temple of the Holy Spirit (1 Cor 3:16), the family of God (Eph 2:19), and the bride of Christ (Rev 19:7). The nature of the Church is to be the community of the redeemed, in which the word is preached, the ordinances are administered, and the work of the redemption is applied and displayed.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Church as the body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invisible body of the elect and the visible community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Church as the temple of the Spirit and the family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community of the redeemed around the word and the ordinances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12:27</a:t>
            </a:r>
          </a:p>
          <a:p>
            <a:pPr algn="l">
              <a:lnSpc>
                <a:spcPct val="108000"/>
              </a:lnSpc>
              <a:spcBef>
                <a:spcPts val="0"/>
              </a:spcBef>
              <a:spcAft>
                <a:spcPts val="250"/>
              </a:spcAft>
            </a:pPr>
            <a:r>
              <a:rPr sz="1000" b="0" i="1" u="none">
                <a:solidFill>
                  <a:srgbClr val="232A38"/>
                </a:solidFill>
                <a:latin typeface="Calibri"/>
              </a:rPr>
              <a:t>Ephesians 1:22-23</a:t>
            </a:r>
          </a:p>
          <a:p>
            <a:pPr algn="l">
              <a:lnSpc>
                <a:spcPct val="108000"/>
              </a:lnSpc>
              <a:spcBef>
                <a:spcPts val="0"/>
              </a:spcBef>
              <a:spcAft>
                <a:spcPts val="250"/>
              </a:spcAft>
            </a:pPr>
            <a:r>
              <a:rPr sz="1000" b="0" i="1" u="none">
                <a:solidFill>
                  <a:srgbClr val="232A38"/>
                </a:solidFill>
                <a:latin typeface="Calibri"/>
              </a:rPr>
              <a:t>1 Corinthians 3:16</a:t>
            </a:r>
          </a:p>
          <a:p>
            <a:pPr algn="l">
              <a:lnSpc>
                <a:spcPct val="108000"/>
              </a:lnSpc>
              <a:spcBef>
                <a:spcPts val="0"/>
              </a:spcBef>
              <a:spcAft>
                <a:spcPts val="250"/>
              </a:spcAft>
            </a:pPr>
            <a:r>
              <a:rPr sz="1000" b="0" i="1" u="none">
                <a:solidFill>
                  <a:srgbClr val="232A38"/>
                </a:solidFill>
                <a:latin typeface="Calibri"/>
              </a:rPr>
              <a:t>Ephesians 2:19</a:t>
            </a:r>
          </a:p>
          <a:p>
            <a:pPr algn="l">
              <a:lnSpc>
                <a:spcPct val="110000"/>
              </a:lnSpc>
              <a:spcBef>
                <a:spcPts val="400"/>
              </a:spcBef>
              <a:spcAft>
                <a:spcPts val="0"/>
              </a:spcAft>
            </a:pPr>
            <a:r>
              <a:rPr sz="950" b="0" i="0" u="none">
                <a:solidFill>
                  <a:srgbClr val="4C566B"/>
                </a:solidFill>
                <a:latin typeface="Calibri"/>
              </a:rPr>
              <a:t>The doctrine of the Church is the ground of the Christian's communal life and of the Church's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is the body of Christ — the community of the redeemed gathered by the Spirit around the word and the ordinances.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Unity, Holiness and Catholicity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is one, holy, and catholic — the three attributes confessed in the Nicene Creed. The unity of the Church is the oneness of the body of Christ, the ground of which is the one Spirit, the one Lord, and the one baptism (Eph 4:4-6). The holiness of the Church is the moral and spiritual character of the body, set apart for God and marked by the holiness of its members. The catholicity of the Church is its universality — it is not confined to one place or one age but extends over the whole world and the whole of history. The three attributes are the ground of the Church's self-understanding and of its ecumenical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the oneness of the body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holiness: the moral and spiritual character of the body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catholicity: the universality of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self-understanding and ecumenical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4:4-6</a:t>
            </a:r>
          </a:p>
          <a:p>
            <a:pPr algn="l">
              <a:lnSpc>
                <a:spcPct val="108000"/>
              </a:lnSpc>
              <a:spcBef>
                <a:spcPts val="0"/>
              </a:spcBef>
              <a:spcAft>
                <a:spcPts val="250"/>
              </a:spcAft>
            </a:pPr>
            <a:r>
              <a:rPr sz="1000" b="0" i="1" u="none">
                <a:solidFill>
                  <a:srgbClr val="232A38"/>
                </a:solidFill>
                <a:latin typeface="Calibri"/>
              </a:rPr>
              <a:t>1 Corinthians 12:12-13</a:t>
            </a:r>
          </a:p>
          <a:p>
            <a:pPr algn="l">
              <a:lnSpc>
                <a:spcPct val="108000"/>
              </a:lnSpc>
              <a:spcBef>
                <a:spcPts val="0"/>
              </a:spcBef>
              <a:spcAft>
                <a:spcPts val="250"/>
              </a:spcAft>
            </a:pPr>
            <a:r>
              <a:rPr sz="1000" b="0" i="1" u="none">
                <a:solidFill>
                  <a:srgbClr val="232A38"/>
                </a:solidFill>
                <a:latin typeface="Calibri"/>
              </a:rPr>
              <a:t>John 17:20-23</a:t>
            </a:r>
          </a:p>
          <a:p>
            <a:pPr algn="l">
              <a:lnSpc>
                <a:spcPct val="108000"/>
              </a:lnSpc>
              <a:spcBef>
                <a:spcPts val="0"/>
              </a:spcBef>
              <a:spcAft>
                <a:spcPts val="250"/>
              </a:spcAft>
            </a:pPr>
            <a:r>
              <a:rPr sz="1000" b="0" i="1" u="none">
                <a:solidFill>
                  <a:srgbClr val="232A38"/>
                </a:solidFill>
                <a:latin typeface="Calibri"/>
              </a:rPr>
              <a:t>Acts 2:42-47</a:t>
            </a:r>
          </a:p>
          <a:p>
            <a:pPr algn="l">
              <a:lnSpc>
                <a:spcPct val="110000"/>
              </a:lnSpc>
              <a:spcBef>
                <a:spcPts val="400"/>
              </a:spcBef>
              <a:spcAft>
                <a:spcPts val="0"/>
              </a:spcAft>
            </a:pPr>
            <a:r>
              <a:rPr sz="950" b="0" i="0" u="none">
                <a:solidFill>
                  <a:srgbClr val="4C566B"/>
                </a:solidFill>
                <a:latin typeface="Calibri"/>
              </a:rPr>
              <a:t>The attributes of the Church are confessed in the Nicene Creed and are the ground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is one, holy and catholic — the attributes confessed in the Creed and the ground of the Church's self-understanding.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Visible and Invisible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distinction between the visible and the invisible Church is the distinction between the Church as the visible community of professed believers on earth, and the Church as the invisible body of the elect known only to God. The visible Church includes both the genuine believers and the professed believers who are not yet truly converted; the invisible Church includes only the elect, the true believers. The distinction is the ground of the Church's discipline and of its hope: the visible Church is the community in which the ordinances are administered, and the invisible Church is the body of the redeemed that will be perfected in the age to come. The two are not two churches but two aspects of the one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visible Church: the community of professed believers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invisible Church: the body of the elect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discipline and of its hope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Two aspects of the one Church, not two churches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13:24-30</a:t>
            </a:r>
          </a:p>
          <a:p>
            <a:pPr algn="l">
              <a:lnSpc>
                <a:spcPct val="108000"/>
              </a:lnSpc>
              <a:spcBef>
                <a:spcPts val="0"/>
              </a:spcBef>
              <a:spcAft>
                <a:spcPts val="250"/>
              </a:spcAft>
            </a:pPr>
            <a:r>
              <a:rPr sz="1000" b="0" i="1" u="none">
                <a:solidFill>
                  <a:srgbClr val="232A38"/>
                </a:solidFill>
                <a:latin typeface="Calibri"/>
              </a:rPr>
              <a:t>John 10:16</a:t>
            </a:r>
          </a:p>
          <a:p>
            <a:pPr algn="l">
              <a:lnSpc>
                <a:spcPct val="108000"/>
              </a:lnSpc>
              <a:spcBef>
                <a:spcPts val="0"/>
              </a:spcBef>
              <a:spcAft>
                <a:spcPts val="250"/>
              </a:spcAft>
            </a:pPr>
            <a:r>
              <a:rPr sz="1000" b="0" i="1" u="none">
                <a:solidFill>
                  <a:srgbClr val="232A38"/>
                </a:solidFill>
                <a:latin typeface="Calibri"/>
              </a:rPr>
              <a:t>Philippians 3:20</a:t>
            </a:r>
          </a:p>
          <a:p>
            <a:pPr algn="l">
              <a:lnSpc>
                <a:spcPct val="108000"/>
              </a:lnSpc>
              <a:spcBef>
                <a:spcPts val="0"/>
              </a:spcBef>
              <a:spcAft>
                <a:spcPts val="250"/>
              </a:spcAft>
            </a:pPr>
            <a:r>
              <a:rPr sz="1000" b="0" i="1" u="none">
                <a:solidFill>
                  <a:srgbClr val="232A38"/>
                </a:solidFill>
                <a:latin typeface="Calibri"/>
              </a:rPr>
              <a:t>1 Corinthians 12:13</a:t>
            </a:r>
          </a:p>
          <a:p>
            <a:pPr algn="l">
              <a:lnSpc>
                <a:spcPct val="110000"/>
              </a:lnSpc>
              <a:spcBef>
                <a:spcPts val="400"/>
              </a:spcBef>
              <a:spcAft>
                <a:spcPts val="0"/>
              </a:spcAft>
            </a:pPr>
            <a:r>
              <a:rPr sz="950" b="0" i="0" u="none">
                <a:solidFill>
                  <a:srgbClr val="4C566B"/>
                </a:solidFill>
                <a:latin typeface="Calibri"/>
              </a:rPr>
              <a:t>The distinction between the visible and the invisible Church is the ground of the Church's discipline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visible and the invisible Church are two aspects of the one Church — the community of professed believers and the body of the elect.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Government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government of the Church is the ordering of the community for the administration of the word, the ordinances, and the discipline. The Scripture presents several forms of government: the episcopal (government by the bishop), the presbyterian (government by the elders or presbyters), and the congregational (government by the congregation). The Reformed tradition affirms the presbyterian form, in which the elders (both teaching and ruling) govern the congregation under the headship of Christ. The government of the Church is to be ordered for the good of the community and the glory of God, and it is always under the lordship of Christ, the head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forms: episcopal, presbyterian, congregational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Reformed affirmation of the presbyterian form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elders: the teaching and the ruling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government under the lordship of Christ, the head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14:23</a:t>
            </a:r>
          </a:p>
          <a:p>
            <a:pPr algn="l">
              <a:lnSpc>
                <a:spcPct val="108000"/>
              </a:lnSpc>
              <a:spcBef>
                <a:spcPts val="0"/>
              </a:spcBef>
              <a:spcAft>
                <a:spcPts val="250"/>
              </a:spcAft>
            </a:pPr>
            <a:r>
              <a:rPr sz="1000" b="0" i="1" u="none">
                <a:solidFill>
                  <a:srgbClr val="232A38"/>
                </a:solidFill>
                <a:latin typeface="Calibri"/>
              </a:rPr>
              <a:t>Acts 20:17-28</a:t>
            </a:r>
          </a:p>
          <a:p>
            <a:pPr algn="l">
              <a:lnSpc>
                <a:spcPct val="108000"/>
              </a:lnSpc>
              <a:spcBef>
                <a:spcPts val="0"/>
              </a:spcBef>
              <a:spcAft>
                <a:spcPts val="250"/>
              </a:spcAft>
            </a:pPr>
            <a:r>
              <a:rPr sz="1000" b="0" i="1" u="none">
                <a:solidFill>
                  <a:srgbClr val="232A38"/>
                </a:solidFill>
                <a:latin typeface="Calibri"/>
              </a:rPr>
              <a:t>1 Timothy 3:1-7</a:t>
            </a:r>
          </a:p>
          <a:p>
            <a:pPr algn="l">
              <a:lnSpc>
                <a:spcPct val="108000"/>
              </a:lnSpc>
              <a:spcBef>
                <a:spcPts val="0"/>
              </a:spcBef>
              <a:spcAft>
                <a:spcPts val="250"/>
              </a:spcAft>
            </a:pPr>
            <a:r>
              <a:rPr sz="1000" b="0" i="1" u="none">
                <a:solidFill>
                  <a:srgbClr val="232A38"/>
                </a:solidFill>
                <a:latin typeface="Calibri"/>
              </a:rPr>
              <a:t>Titus 1:5-9</a:t>
            </a:r>
          </a:p>
          <a:p>
            <a:pPr algn="l">
              <a:lnSpc>
                <a:spcPct val="110000"/>
              </a:lnSpc>
              <a:spcBef>
                <a:spcPts val="400"/>
              </a:spcBef>
              <a:spcAft>
                <a:spcPts val="0"/>
              </a:spcAft>
            </a:pPr>
            <a:r>
              <a:rPr sz="950" b="0" i="0" u="none">
                <a:solidFill>
                  <a:srgbClr val="4C566B"/>
                </a:solidFill>
                <a:latin typeface="Calibri"/>
              </a:rPr>
              <a:t>The forms of church government are to be ordered for the good of the community and the glory of God, under the headship of Christ.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is governed by its elders under the headship of Christ, ordered for the good of the community and the glory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Ministries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ministries of the Church are the offices by which the community is built up and the work of the redemption is applied. The Scripture presents the apostles, the prophets, the evangelists, the pastors and the teachers (Eph 4:11) as the fivefold ministry given to the Church for its equipping. The apostolic ministry was foundational and ceased with the close of the canonical age; the other ministries continue in the Church. The ministry of the pastor is the preaching of the word, the administration of the ordinances, and the shepherding of the flock. The doctrine of the ministries is the ground of the Church's order and of the equipping of the saints for the work of the ministry.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fivefold ministry: apostles, prophets, evangelists, pastors, teachers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cessation of the apostolic and prophetic ministries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ministry of the pastor: preaching, ordinances, shepherding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equipping of the saints for the work of the ministry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4:11-12</a:t>
            </a:r>
          </a:p>
          <a:p>
            <a:pPr algn="l">
              <a:lnSpc>
                <a:spcPct val="108000"/>
              </a:lnSpc>
              <a:spcBef>
                <a:spcPts val="0"/>
              </a:spcBef>
              <a:spcAft>
                <a:spcPts val="250"/>
              </a:spcAft>
            </a:pPr>
            <a:r>
              <a:rPr sz="1000" b="0" i="1" u="none">
                <a:solidFill>
                  <a:srgbClr val="232A38"/>
                </a:solidFill>
                <a:latin typeface="Calibri"/>
              </a:rPr>
              <a:t>1 Timothy 3:1-7</a:t>
            </a:r>
          </a:p>
          <a:p>
            <a:pPr algn="l">
              <a:lnSpc>
                <a:spcPct val="108000"/>
              </a:lnSpc>
              <a:spcBef>
                <a:spcPts val="0"/>
              </a:spcBef>
              <a:spcAft>
                <a:spcPts val="250"/>
              </a:spcAft>
            </a:pPr>
            <a:r>
              <a:rPr sz="1000" b="0" i="1" u="none">
                <a:solidFill>
                  <a:srgbClr val="232A38"/>
                </a:solidFill>
                <a:latin typeface="Calibri"/>
              </a:rPr>
              <a:t>Titus 1:5-9</a:t>
            </a:r>
          </a:p>
          <a:p>
            <a:pPr algn="l">
              <a:lnSpc>
                <a:spcPct val="108000"/>
              </a:lnSpc>
              <a:spcBef>
                <a:spcPts val="0"/>
              </a:spcBef>
              <a:spcAft>
                <a:spcPts val="250"/>
              </a:spcAft>
            </a:pPr>
            <a:r>
              <a:rPr sz="1000" b="0" i="1" u="none">
                <a:solidFill>
                  <a:srgbClr val="232A38"/>
                </a:solidFill>
                <a:latin typeface="Calibri"/>
              </a:rPr>
              <a:t>Acts 6:2-4</a:t>
            </a:r>
          </a:p>
          <a:p>
            <a:pPr algn="l">
              <a:lnSpc>
                <a:spcPct val="110000"/>
              </a:lnSpc>
              <a:spcBef>
                <a:spcPts val="400"/>
              </a:spcBef>
              <a:spcAft>
                <a:spcPts val="0"/>
              </a:spcAft>
            </a:pPr>
            <a:r>
              <a:rPr sz="950" b="0" i="0" u="none">
                <a:solidFill>
                  <a:srgbClr val="4C566B"/>
                </a:solidFill>
                <a:latin typeface="Calibri"/>
              </a:rPr>
              <a:t>The doctrine of the ministries is the ground of the Church's order and of the equipping of the saints.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ministries of the Church are the offices by which the community is built up and the saints are equipped for the work of the ministry.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Baptism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Baptism is the ordinance of the New Testament in which the believer is buried with Christ and raised with him, and is incorporated into the body of Christ (Rom 6:3-5; 1 Cor 12:13). It is the sign and seal of the covenant of grace, and it is the entrance-ordinance into the visible Church. The doctrine of baptism is to be held in balance: it is not the means of the salvation but the sign of the salvation already accomplished in Christ; it is to be administered to the believer and to the children of believers; and it is to be administered once, in the name of the Father, the Son, and the Holy Spirit. The modes of baptism (sprinkling and immersion) are a matter of practice, not of doctrine.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Baptism as the sign and seal of the covenant of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burial and the raising with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entrance-ordinance into the visible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administration to the believer and the children of believers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6:3-5</a:t>
            </a:r>
          </a:p>
          <a:p>
            <a:pPr algn="l">
              <a:lnSpc>
                <a:spcPct val="108000"/>
              </a:lnSpc>
              <a:spcBef>
                <a:spcPts val="0"/>
              </a:spcBef>
              <a:spcAft>
                <a:spcPts val="250"/>
              </a:spcAft>
            </a:pPr>
            <a:r>
              <a:rPr sz="1000" b="0" i="1" u="none">
                <a:solidFill>
                  <a:srgbClr val="232A38"/>
                </a:solidFill>
                <a:latin typeface="Calibri"/>
              </a:rPr>
              <a:t>1 Corinthians 12:13</a:t>
            </a:r>
          </a:p>
          <a:p>
            <a:pPr algn="l">
              <a:lnSpc>
                <a:spcPct val="108000"/>
              </a:lnSpc>
              <a:spcBef>
                <a:spcPts val="0"/>
              </a:spcBef>
              <a:spcAft>
                <a:spcPts val="250"/>
              </a:spcAft>
            </a:pPr>
            <a:r>
              <a:rPr sz="1000" b="0" i="1" u="none">
                <a:solidFill>
                  <a:srgbClr val="232A38"/>
                </a:solidFill>
                <a:latin typeface="Calibri"/>
              </a:rPr>
              <a:t>Matthew 28:19</a:t>
            </a:r>
          </a:p>
          <a:p>
            <a:pPr algn="l">
              <a:lnSpc>
                <a:spcPct val="108000"/>
              </a:lnSpc>
              <a:spcBef>
                <a:spcPts val="0"/>
              </a:spcBef>
              <a:spcAft>
                <a:spcPts val="250"/>
              </a:spcAft>
            </a:pPr>
            <a:r>
              <a:rPr sz="1000" b="0" i="1" u="none">
                <a:solidFill>
                  <a:srgbClr val="232A38"/>
                </a:solidFill>
                <a:latin typeface="Calibri"/>
              </a:rPr>
              <a:t>Acts 2:38-41</a:t>
            </a:r>
          </a:p>
          <a:p>
            <a:pPr algn="l">
              <a:lnSpc>
                <a:spcPct val="110000"/>
              </a:lnSpc>
              <a:spcBef>
                <a:spcPts val="400"/>
              </a:spcBef>
              <a:spcAft>
                <a:spcPts val="0"/>
              </a:spcAft>
            </a:pPr>
            <a:r>
              <a:rPr sz="950" b="0" i="0" u="none">
                <a:solidFill>
                  <a:srgbClr val="4C566B"/>
                </a:solidFill>
                <a:latin typeface="Calibri"/>
              </a:rPr>
              <a:t>The doctrine of baptism is to be held in balance: it is the sign of the salvation, not the means of it.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Baptism is the sign and seal of the covenant of grace, the burial and raising with Christ, and the entrance into the visible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Doctrine of the Lord's Supper</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Lord's Supper is the ordinance of the New Testament in which the believer partakes of the bread and the cup as the signs and seals of the body and the blood of Christ (1 Cor 11:23-26). It is the memorial of the death of Christ, the proclamation of that death until he comes, and the means by which the believer is fed upon Christ and nourished in the life of grace. The doctrine of the Lord's Supper is to be held in balance: the bread and the cup are not changed into the body and the blood of Christ (against the Roman Catholic transubstantiation) nor are they merely symbolic (against the purely memorialist view); they are the signs and seals of the real presence of Christ by the Spirit. The ordinance is to be administered to the believers who have been examined and found worthy.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Lord's Supper as the memorial and the proclamation of the death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signs and seals of the body and the blood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real presence of Christ by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feeding of the believer upon Christ in the life of grace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11:23-26</a:t>
            </a:r>
          </a:p>
          <a:p>
            <a:pPr algn="l">
              <a:lnSpc>
                <a:spcPct val="108000"/>
              </a:lnSpc>
              <a:spcBef>
                <a:spcPts val="0"/>
              </a:spcBef>
              <a:spcAft>
                <a:spcPts val="250"/>
              </a:spcAft>
            </a:pPr>
            <a:r>
              <a:rPr sz="1000" b="0" i="1" u="none">
                <a:solidFill>
                  <a:srgbClr val="232A38"/>
                </a:solidFill>
                <a:latin typeface="Calibri"/>
              </a:rPr>
              <a:t>Luke 22:19-20</a:t>
            </a:r>
          </a:p>
          <a:p>
            <a:pPr algn="l">
              <a:lnSpc>
                <a:spcPct val="108000"/>
              </a:lnSpc>
              <a:spcBef>
                <a:spcPts val="0"/>
              </a:spcBef>
              <a:spcAft>
                <a:spcPts val="250"/>
              </a:spcAft>
            </a:pPr>
            <a:r>
              <a:rPr sz="1000" b="0" i="1" u="none">
                <a:solidFill>
                  <a:srgbClr val="232A38"/>
                </a:solidFill>
                <a:latin typeface="Calibri"/>
              </a:rPr>
              <a:t>John 6:53-58</a:t>
            </a:r>
          </a:p>
          <a:p>
            <a:pPr algn="l">
              <a:lnSpc>
                <a:spcPct val="108000"/>
              </a:lnSpc>
              <a:spcBef>
                <a:spcPts val="0"/>
              </a:spcBef>
              <a:spcAft>
                <a:spcPts val="250"/>
              </a:spcAft>
            </a:pPr>
            <a:r>
              <a:rPr sz="1000" b="0" i="1" u="none">
                <a:solidFill>
                  <a:srgbClr val="232A38"/>
                </a:solidFill>
                <a:latin typeface="Calibri"/>
              </a:rPr>
              <a:t>Acts 2:42</a:t>
            </a:r>
          </a:p>
          <a:p>
            <a:pPr algn="l">
              <a:lnSpc>
                <a:spcPct val="110000"/>
              </a:lnSpc>
              <a:spcBef>
                <a:spcPts val="400"/>
              </a:spcBef>
              <a:spcAft>
                <a:spcPts val="0"/>
              </a:spcAft>
            </a:pPr>
            <a:r>
              <a:rPr sz="950" b="0" i="0" u="none">
                <a:solidFill>
                  <a:srgbClr val="4C566B"/>
                </a:solidFill>
                <a:latin typeface="Calibri"/>
              </a:rPr>
              <a:t>The doctrine of the Lord's Supper was defined at the Reformation against the Roman Catholic transubstantiation and the Zwinglian memorialism.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Lord's Supper is the sign and seal of the real presence of Christ by the Spirit, the memorial of his death and the means of the believer's nourishment.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Sacraments and Ordinances: A Comparative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Roman Catholic, Orthodox, and Protestant traditions differ in their number and their understanding of the sacraments. The Roman Catholic Church affirms seven sacraments; the Orthodox Church affirms the same; the Protestant traditions affirm two ordinances — baptism and the Lord's Supper. The difference is not merely numerical but theological: the Roman Catholic and Orthodox traditions understand the sacraments as the means of the grace ex opere operato (by the work worked), while the Protestant traditions understand the ordinances as the signs and seals of the grace received by faith. The comparative study is to be held in the light of the Scripture and the confession of the faith, and it is to be conducted in a spirit of ecumenical charity.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seven sacraments of the Roman Catholic and Orthodox traditions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two ordinances of the Protestant traditions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 opere operato and the sign-and-seal understandings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comparative study in a spirit of ecumenical charity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28:19</a:t>
            </a:r>
          </a:p>
          <a:p>
            <a:pPr algn="l">
              <a:lnSpc>
                <a:spcPct val="108000"/>
              </a:lnSpc>
              <a:spcBef>
                <a:spcPts val="0"/>
              </a:spcBef>
              <a:spcAft>
                <a:spcPts val="250"/>
              </a:spcAft>
            </a:pPr>
            <a:r>
              <a:rPr sz="1000" b="0" i="1" u="none">
                <a:solidFill>
                  <a:srgbClr val="232A38"/>
                </a:solidFill>
                <a:latin typeface="Calibri"/>
              </a:rPr>
              <a:t>Luke 22:19-20</a:t>
            </a:r>
          </a:p>
          <a:p>
            <a:pPr algn="l">
              <a:lnSpc>
                <a:spcPct val="108000"/>
              </a:lnSpc>
              <a:spcBef>
                <a:spcPts val="0"/>
              </a:spcBef>
              <a:spcAft>
                <a:spcPts val="250"/>
              </a:spcAft>
            </a:pPr>
            <a:r>
              <a:rPr sz="1000" b="0" i="1" u="none">
                <a:solidFill>
                  <a:srgbClr val="232A38"/>
                </a:solidFill>
                <a:latin typeface="Calibri"/>
              </a:rPr>
              <a:t>Ephesians 5:25-27</a:t>
            </a:r>
          </a:p>
          <a:p>
            <a:pPr algn="l">
              <a:lnSpc>
                <a:spcPct val="108000"/>
              </a:lnSpc>
              <a:spcBef>
                <a:spcPts val="0"/>
              </a:spcBef>
              <a:spcAft>
                <a:spcPts val="250"/>
              </a:spcAft>
            </a:pPr>
            <a:r>
              <a:rPr sz="1000" b="0" i="1" u="none">
                <a:solidFill>
                  <a:srgbClr val="232A38"/>
                </a:solidFill>
                <a:latin typeface="Calibri"/>
              </a:rPr>
              <a:t>1 Timothy 4:14</a:t>
            </a:r>
          </a:p>
          <a:p>
            <a:pPr algn="l">
              <a:lnSpc>
                <a:spcPct val="110000"/>
              </a:lnSpc>
              <a:spcBef>
                <a:spcPts val="400"/>
              </a:spcBef>
              <a:spcAft>
                <a:spcPts val="0"/>
              </a:spcAft>
            </a:pPr>
            <a:r>
              <a:rPr sz="950" b="0" i="0" u="none">
                <a:solidFill>
                  <a:srgbClr val="4C566B"/>
                </a:solidFill>
                <a:latin typeface="Calibri"/>
              </a:rPr>
              <a:t>The comparative study of the sacraments is to be held in the light of the Scripture and conducted in a spirit of ecumenical charity.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traditions differ in the number and the understanding of the sacraments; the Protestant understanding is that of the signs and seals of the grace received by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Worship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worship of the Church is the assembly of the community in which the word is preached, the ordinances are administered, and the people of God give thanks and praise to the triune God. The worship of the Church is governed by the regulative principle — that which is not appointed by the word of God is not to be added to the worship (Deut 12:32; 1 Cor 14:40). The elements of the worship are the preaching of the word, the singing of the psalms and hymns, the prayer, and the administration of the ordinances. The worship of the Church is the ground of the Christian's devotion and of the Church's witness to the world, and it is the chief work of the community.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worship as the assembly of the community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regulative principle of the worship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elements: the word, the song, the prayer, the ordinances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worship as the chief work of the community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Deuteronomy 12:32</a:t>
            </a:r>
          </a:p>
          <a:p>
            <a:pPr algn="l">
              <a:lnSpc>
                <a:spcPct val="108000"/>
              </a:lnSpc>
              <a:spcBef>
                <a:spcPts val="0"/>
              </a:spcBef>
              <a:spcAft>
                <a:spcPts val="250"/>
              </a:spcAft>
            </a:pPr>
            <a:r>
              <a:rPr sz="1000" b="0" i="1" u="none">
                <a:solidFill>
                  <a:srgbClr val="232A38"/>
                </a:solidFill>
                <a:latin typeface="Calibri"/>
              </a:rPr>
              <a:t>1 Corinthians 14:40</a:t>
            </a:r>
          </a:p>
          <a:p>
            <a:pPr algn="l">
              <a:lnSpc>
                <a:spcPct val="108000"/>
              </a:lnSpc>
              <a:spcBef>
                <a:spcPts val="0"/>
              </a:spcBef>
              <a:spcAft>
                <a:spcPts val="250"/>
              </a:spcAft>
            </a:pPr>
            <a:r>
              <a:rPr sz="1000" b="0" i="1" u="none">
                <a:solidFill>
                  <a:srgbClr val="232A38"/>
                </a:solidFill>
                <a:latin typeface="Calibri"/>
              </a:rPr>
              <a:t>Hebrews 10:25</a:t>
            </a:r>
          </a:p>
          <a:p>
            <a:pPr algn="l">
              <a:lnSpc>
                <a:spcPct val="108000"/>
              </a:lnSpc>
              <a:spcBef>
                <a:spcPts val="0"/>
              </a:spcBef>
              <a:spcAft>
                <a:spcPts val="250"/>
              </a:spcAft>
            </a:pPr>
            <a:r>
              <a:rPr sz="1000" b="0" i="1" u="none">
                <a:solidFill>
                  <a:srgbClr val="232A38"/>
                </a:solidFill>
                <a:latin typeface="Calibri"/>
              </a:rPr>
              <a:t>Ephesians 5:19</a:t>
            </a:r>
          </a:p>
          <a:p>
            <a:pPr algn="l">
              <a:lnSpc>
                <a:spcPct val="110000"/>
              </a:lnSpc>
              <a:spcBef>
                <a:spcPts val="400"/>
              </a:spcBef>
              <a:spcAft>
                <a:spcPts val="0"/>
              </a:spcAft>
            </a:pPr>
            <a:r>
              <a:rPr sz="950" b="0" i="0" u="none">
                <a:solidFill>
                  <a:srgbClr val="4C566B"/>
                </a:solidFill>
                <a:latin typeface="Calibri"/>
              </a:rPr>
              <a:t>The doctrine of the worship is governed by the regulative principle and is the chief work of the community.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worship of the Church is the assembly in which the word is preached and the ordinances are administered, governed by the regulative principle.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Discipline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discipline of the Church is the process by which the community maintains the purity of the body and the honour of the name of Christ. It includes the correction of the offending member, the excommunication of the impenitent, and the restoration of the repentant. The Scripture commands the discipline (Matt 18:15-17; 1 Cor 5:1-13; 2 Thess 3:14-15), and it is the ground of the purity of the body and of the honour of the ordinances. The discipline is to be exercised in a spirit of love and of patience, with the goal of the restoration of the offender and the preservation of the purity of the community. The doctrine of the discipline is the ground of the Church's holiness and of its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discipline as the maintenance of the purity of the body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correction, the excommunication, and the restoration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exercise in a spirit of love and of patience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holiness and of its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18:15-17</a:t>
            </a:r>
          </a:p>
          <a:p>
            <a:pPr algn="l">
              <a:lnSpc>
                <a:spcPct val="108000"/>
              </a:lnSpc>
              <a:spcBef>
                <a:spcPts val="0"/>
              </a:spcBef>
              <a:spcAft>
                <a:spcPts val="250"/>
              </a:spcAft>
            </a:pPr>
            <a:r>
              <a:rPr sz="1000" b="0" i="1" u="none">
                <a:solidFill>
                  <a:srgbClr val="232A38"/>
                </a:solidFill>
                <a:latin typeface="Calibri"/>
              </a:rPr>
              <a:t>1 Corinthians 5:1-13</a:t>
            </a:r>
          </a:p>
          <a:p>
            <a:pPr algn="l">
              <a:lnSpc>
                <a:spcPct val="108000"/>
              </a:lnSpc>
              <a:spcBef>
                <a:spcPts val="0"/>
              </a:spcBef>
              <a:spcAft>
                <a:spcPts val="250"/>
              </a:spcAft>
            </a:pPr>
            <a:r>
              <a:rPr sz="1000" b="0" i="1" u="none">
                <a:solidFill>
                  <a:srgbClr val="232A38"/>
                </a:solidFill>
                <a:latin typeface="Calibri"/>
              </a:rPr>
              <a:t>2 Thessalonians 3:14-15</a:t>
            </a:r>
          </a:p>
          <a:p>
            <a:pPr algn="l">
              <a:lnSpc>
                <a:spcPct val="108000"/>
              </a:lnSpc>
              <a:spcBef>
                <a:spcPts val="0"/>
              </a:spcBef>
              <a:spcAft>
                <a:spcPts val="250"/>
              </a:spcAft>
            </a:pPr>
            <a:r>
              <a:rPr sz="1000" b="0" i="1" u="none">
                <a:solidFill>
                  <a:srgbClr val="232A38"/>
                </a:solidFill>
                <a:latin typeface="Calibri"/>
              </a:rPr>
              <a:t>Galatians 6:1</a:t>
            </a:r>
          </a:p>
          <a:p>
            <a:pPr algn="l">
              <a:lnSpc>
                <a:spcPct val="110000"/>
              </a:lnSpc>
              <a:spcBef>
                <a:spcPts val="400"/>
              </a:spcBef>
              <a:spcAft>
                <a:spcPts val="0"/>
              </a:spcAft>
            </a:pPr>
            <a:r>
              <a:rPr sz="950" b="0" i="0" u="none">
                <a:solidFill>
                  <a:srgbClr val="4C566B"/>
                </a:solidFill>
                <a:latin typeface="Calibri"/>
              </a:rPr>
              <a:t>The doctrine of the discipline is the ground of the Church's holiness and of the honour of the ordinances.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discipline of the Church is the process by which the community maintains the purity of the body and the honour of the name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Marks of the True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119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marks of the true Church are the characteristics by which the genuine community of the redeemed is to be distinguished from the false. The Reformed confessions give two marks: the pure preaching of the word of God, and the pure administration of the ordinances (Westminster Confession, XXV.2). To these some add the exercise of the discipline. The marks are the ground of the Church's self-identification and of its ecumenical discernment. The true Church is not defined by its size, its power, or its antiquity, but by the faithfulness with which it preaches the word and administers the ordinances. The doctrine of the marks is the ground of the Church's self-understanding and of its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marks: the pure preaching of the word and the pure administration of the ordinances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exercise of the discipline as a further mark</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self-identification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discernment of the true from the false community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2:42</a:t>
            </a:r>
          </a:p>
          <a:p>
            <a:pPr algn="l">
              <a:lnSpc>
                <a:spcPct val="108000"/>
              </a:lnSpc>
              <a:spcBef>
                <a:spcPts val="0"/>
              </a:spcBef>
              <a:spcAft>
                <a:spcPts val="250"/>
              </a:spcAft>
            </a:pPr>
            <a:r>
              <a:rPr sz="1000" b="0" i="1" u="none">
                <a:solidFill>
                  <a:srgbClr val="232A38"/>
                </a:solidFill>
                <a:latin typeface="Calibri"/>
              </a:rPr>
              <a:t>2 Timothy 4:2</a:t>
            </a:r>
          </a:p>
          <a:p>
            <a:pPr algn="l">
              <a:lnSpc>
                <a:spcPct val="108000"/>
              </a:lnSpc>
              <a:spcBef>
                <a:spcPts val="0"/>
              </a:spcBef>
              <a:spcAft>
                <a:spcPts val="250"/>
              </a:spcAft>
            </a:pPr>
            <a:r>
              <a:rPr sz="1000" b="0" i="1" u="none">
                <a:solidFill>
                  <a:srgbClr val="232A38"/>
                </a:solidFill>
                <a:latin typeface="Calibri"/>
              </a:rPr>
              <a:t>Hebrews 10:25</a:t>
            </a:r>
          </a:p>
          <a:p>
            <a:pPr algn="l">
              <a:lnSpc>
                <a:spcPct val="108000"/>
              </a:lnSpc>
              <a:spcBef>
                <a:spcPts val="0"/>
              </a:spcBef>
              <a:spcAft>
                <a:spcPts val="250"/>
              </a:spcAft>
            </a:pPr>
            <a:r>
              <a:rPr sz="1000" b="0" i="1" u="none">
                <a:solidFill>
                  <a:srgbClr val="232A38"/>
                </a:solidFill>
                <a:latin typeface="Calibri"/>
              </a:rPr>
              <a:t>Matthew 28:19-20</a:t>
            </a:r>
          </a:p>
          <a:p>
            <a:pPr algn="l">
              <a:lnSpc>
                <a:spcPct val="110000"/>
              </a:lnSpc>
              <a:spcBef>
                <a:spcPts val="400"/>
              </a:spcBef>
              <a:spcAft>
                <a:spcPts val="0"/>
              </a:spcAft>
            </a:pPr>
            <a:r>
              <a:rPr sz="950" b="0" i="0" u="none">
                <a:solidFill>
                  <a:srgbClr val="4C566B"/>
                </a:solidFill>
                <a:latin typeface="Calibri"/>
              </a:rPr>
              <a:t>The doctrine of the marks of the true Church is the ground of the Church's self-understanding and of its ecumenical discernment.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marks of the true Church are the pure preaching of the word and the pure administration of the ordinances, the ground of its self-identification.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09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Mission and Vocation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mission of the Church is the witness of the community to the world, the proclamation of the gospel and the display of the life of grace. The vocation of the Church is to be the light of the world and the salt of the earth (Matt 5:13-16), and to make disciples of all nations (Matt 28:19-20). The mission of the Church is grounded in the mission of Christ and in the command of the risen Lord, and it is the work of the whole community, not only of the ministers. The doctrine of the mission is the ground of the Church's witness and of its hope, and it is the motivation of the Christian's life and of the Church's activity in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mission as the witness of the community to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vocation: the light of the world and the salt of the earth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command to make disciples of all nations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work of the whole community, grounded in the mission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5:13-16</a:t>
            </a:r>
          </a:p>
          <a:p>
            <a:pPr algn="l">
              <a:lnSpc>
                <a:spcPct val="108000"/>
              </a:lnSpc>
              <a:spcBef>
                <a:spcPts val="0"/>
              </a:spcBef>
              <a:spcAft>
                <a:spcPts val="250"/>
              </a:spcAft>
            </a:pPr>
            <a:r>
              <a:rPr sz="1000" b="0" i="1" u="none">
                <a:solidFill>
                  <a:srgbClr val="232A38"/>
                </a:solidFill>
                <a:latin typeface="Calibri"/>
              </a:rPr>
              <a:t>Matthew 28:19-20</a:t>
            </a:r>
          </a:p>
          <a:p>
            <a:pPr algn="l">
              <a:lnSpc>
                <a:spcPct val="108000"/>
              </a:lnSpc>
              <a:spcBef>
                <a:spcPts val="0"/>
              </a:spcBef>
              <a:spcAft>
                <a:spcPts val="250"/>
              </a:spcAft>
            </a:pPr>
            <a:r>
              <a:rPr sz="1000" b="0" i="1" u="none">
                <a:solidFill>
                  <a:srgbClr val="232A38"/>
                </a:solidFill>
                <a:latin typeface="Calibri"/>
              </a:rPr>
              <a:t>Acts 1:8</a:t>
            </a:r>
          </a:p>
          <a:p>
            <a:pPr algn="l">
              <a:lnSpc>
                <a:spcPct val="108000"/>
              </a:lnSpc>
              <a:spcBef>
                <a:spcPts val="0"/>
              </a:spcBef>
              <a:spcAft>
                <a:spcPts val="250"/>
              </a:spcAft>
            </a:pPr>
            <a:r>
              <a:rPr sz="1000" b="0" i="1" u="none">
                <a:solidFill>
                  <a:srgbClr val="232A38"/>
                </a:solidFill>
                <a:latin typeface="Calibri"/>
              </a:rPr>
              <a:t>2 Corinthians 5:20</a:t>
            </a:r>
          </a:p>
          <a:p>
            <a:pPr algn="l">
              <a:lnSpc>
                <a:spcPct val="110000"/>
              </a:lnSpc>
              <a:spcBef>
                <a:spcPts val="400"/>
              </a:spcBef>
              <a:spcAft>
                <a:spcPts val="0"/>
              </a:spcAft>
            </a:pPr>
            <a:r>
              <a:rPr sz="950" b="0" i="0" u="none">
                <a:solidFill>
                  <a:srgbClr val="4C566B"/>
                </a:solidFill>
                <a:latin typeface="Calibri"/>
              </a:rPr>
              <a:t>The doctrine of the mission is the ground of the Church's witness and the motivation of the Christian's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mission of the Church is the witness to the world, the proclamation of the gospel and the display of the life of grace, grounded in the mission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09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Ecclesiology: The Doctrine of the Church</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Church is the body of Christ — one, holy and catholic, the community of the redeemed gathered by the Spirit.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Church is governed by its elders under the headship of Christ, with the fivefold ministry for its equipping.</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ordinances — baptism and the Lord's Supper — are the signs and seals of the grace received by faith.</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worship, the discipline and the mission are the works of the community, grounded in the word and in the command of Christ.</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Church is the community in which the work of the redemption is applied and displayed; it flows from the doctrines of salvation and of the Spirit, and it is the ground of the Christian's communal life and of the Church's witness.</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Church in its nature and its works, the programme turns to the goal of the whole: the doctrine of the last things.</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10 · Eschatology: The Doctrine of Last Things</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10</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ESCHATOLOGY: THE DOCTRINE OF LAST THINGS</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Church in its nature and its works, the programme turns to the goal of the whole: the doctrine of the last things.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flipV="1">
            <a:off x="9692640" y="3049524"/>
            <a:ext cx="0" cy="160020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8940341" y="3026664"/>
            <a:ext cx="752299" cy="434340"/>
          </a:xfrm>
          <a:prstGeom prst="line">
            <a:avLst/>
          </a:prstGeom>
          <a:ln w="1397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692640" y="3026664"/>
            <a:ext cx="752298" cy="434340"/>
          </a:xfrm>
          <a:prstGeom prst="line">
            <a:avLst/>
          </a:prstGeom>
          <a:ln w="1397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9326880" y="2461729"/>
            <a:ext cx="365760" cy="633515"/>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692640" y="2461729"/>
            <a:ext cx="365760" cy="633515"/>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052560" y="4512564"/>
            <a:ext cx="640080" cy="32004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92640" y="4512564"/>
            <a:ext cx="640079" cy="32004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628632" y="2574036"/>
            <a:ext cx="128016" cy="128016"/>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8321040" y="4924044"/>
            <a:ext cx="274320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10</a:t>
            </a:r>
          </a:p>
        </p:txBody>
      </p:sp>
      <p:sp>
        <p:nvSpPr>
          <p:cNvPr id="15" name="TextBox 14"/>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10</a:t>
            </a:r>
          </a:p>
        </p:txBody>
      </p:sp>
      <p:sp>
        <p:nvSpPr>
          <p:cNvPr id="16" name="TextBox 15"/>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ESCHATOLOGY: THE DOCTRINE OF LAST THINGS</a:t>
            </a:r>
          </a:p>
        </p:txBody>
      </p:sp>
      <p:cxnSp>
        <p:nvCxnSpPr>
          <p:cNvPr id="17" name="Connector 16"/>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Death, the resurrection, the return of Christ, the judgement, and the new creation — the goal of the whole.</a:t>
            </a:r>
          </a:p>
        </p:txBody>
      </p:sp>
      <p:sp>
        <p:nvSpPr>
          <p:cNvPr id="19" name="Rectangle 18"/>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78892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10</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ESCHATOLOGY: THE DOCTRINE OF LAST THINGS</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Eschatology: The Doctrine of Last Things</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Eschatology is the doctrine of the last things: death and the intermediate state, the resurrection of the dead, the second coming of Christ, the final judgement, and the new heaven and the new earth. It treats the goal of the whole of redemption and the hope of the believer.</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Scripture is eschatological from beginning to end: the promise of the seed (Gen 3:15) finds its fulfilment in the return of Christ and the new creation. The New Testament presents the last things as the goal of the Church's hope and the motivation of the Christian life.</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last things is the ground of the Christian's hope and of his holy living. It answers the questions that every person must face — death, judgement, and the final destiny of the soul — and it is the motivation of the Church's witness.</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last things — death, the resurrection, the second coming, the judgement, and the new creation — as the goal of the whole of redemption.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Scope of Eschatology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Eschatology is the doctrine of the last things, the branch of theology that treats the final destiny of the individual and of the world. It includes the doctrine of death and the intermediate state, the resurrection of the dead, the second coming of Christ, the final judgement, and the new heaven and the new earth. The scope of eschatology is both individual — the destiny of the soul — and cosmic — the destiny of the whole creation. The doctrine is grounded in the promise of the Scripture and in the work of Christ, and it is the ground of the Christian's hope and of his holy living.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Eschatology as the doctrine of the last things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individual and the cosmic scope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in the promise of the Scripture and the work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Christian's hope and of his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Revelation 21-22</a:t>
            </a:r>
          </a:p>
          <a:p>
            <a:pPr algn="l">
              <a:lnSpc>
                <a:spcPct val="108000"/>
              </a:lnSpc>
              <a:spcBef>
                <a:spcPts val="0"/>
              </a:spcBef>
              <a:spcAft>
                <a:spcPts val="250"/>
              </a:spcAft>
            </a:pPr>
            <a:r>
              <a:rPr sz="1000" b="0" i="1" u="none">
                <a:solidFill>
                  <a:srgbClr val="232A38"/>
                </a:solidFill>
                <a:latin typeface="Calibri"/>
              </a:rPr>
              <a:t>1 Corinthians 15</a:t>
            </a:r>
          </a:p>
          <a:p>
            <a:pPr algn="l">
              <a:lnSpc>
                <a:spcPct val="108000"/>
              </a:lnSpc>
              <a:spcBef>
                <a:spcPts val="0"/>
              </a:spcBef>
              <a:spcAft>
                <a:spcPts val="250"/>
              </a:spcAft>
            </a:pPr>
            <a:r>
              <a:rPr sz="1000" b="0" i="1" u="none">
                <a:solidFill>
                  <a:srgbClr val="232A38"/>
                </a:solidFill>
                <a:latin typeface="Calibri"/>
              </a:rPr>
              <a:t>2 Peter 3</a:t>
            </a:r>
          </a:p>
          <a:p>
            <a:pPr algn="l">
              <a:lnSpc>
                <a:spcPct val="108000"/>
              </a:lnSpc>
              <a:spcBef>
                <a:spcPts val="0"/>
              </a:spcBef>
              <a:spcAft>
                <a:spcPts val="250"/>
              </a:spcAft>
            </a:pPr>
            <a:r>
              <a:rPr sz="1000" b="0" i="1" u="none">
                <a:solidFill>
                  <a:srgbClr val="232A38"/>
                </a:solidFill>
                <a:latin typeface="Calibri"/>
              </a:rPr>
              <a:t>Romans 8:18-25</a:t>
            </a:r>
          </a:p>
          <a:p>
            <a:pPr algn="l">
              <a:lnSpc>
                <a:spcPct val="110000"/>
              </a:lnSpc>
              <a:spcBef>
                <a:spcPts val="400"/>
              </a:spcBef>
              <a:spcAft>
                <a:spcPts val="0"/>
              </a:spcAft>
            </a:pPr>
            <a:r>
              <a:rPr sz="950" b="0" i="0" u="none">
                <a:solidFill>
                  <a:srgbClr val="4C566B"/>
                </a:solidFill>
                <a:latin typeface="Calibri"/>
              </a:rPr>
              <a:t>The doctrine of the last things is the goal of the whole of redemption and the ground of the Christian's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Eschatology is the doctrine of the last things — the final destiny of the individual and of the world — the goal of the whole of redemption.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Death and the Intermediate State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Death is the separation of the soul from the body, and it is the consequence of the fall (Gen 2:17; Rom 6:23). For the believer, death is not the end but the entrance into the presence of the Lord (2 Cor 5:8; Phil 1:23). The intermediate state is the condition of the soul between the death and the resurrection of the body, and it is a state of conscious existence in the presence of Christ (Luke 23:43; 2 Cor 5:6-8). The doctrine of the intermediate state is the ground of the Christian's confidence in the death and of his hope of the resurrection. The sleep of the soul (soul-sleep) is a minority view, not the teaching of the Scripture.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Death as the separation of the soul from the body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death of the believer as the entrance into the presence of the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intermediate state as the conscious existence with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confidence in the death and the hope of the resurrection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Corinthians 5:6-8</a:t>
            </a:r>
          </a:p>
          <a:p>
            <a:pPr algn="l">
              <a:lnSpc>
                <a:spcPct val="108000"/>
              </a:lnSpc>
              <a:spcBef>
                <a:spcPts val="0"/>
              </a:spcBef>
              <a:spcAft>
                <a:spcPts val="250"/>
              </a:spcAft>
            </a:pPr>
            <a:r>
              <a:rPr sz="1000" b="0" i="1" u="none">
                <a:solidFill>
                  <a:srgbClr val="232A38"/>
                </a:solidFill>
                <a:latin typeface="Calibri"/>
              </a:rPr>
              <a:t>Philippians 1:23</a:t>
            </a:r>
          </a:p>
          <a:p>
            <a:pPr algn="l">
              <a:lnSpc>
                <a:spcPct val="108000"/>
              </a:lnSpc>
              <a:spcBef>
                <a:spcPts val="0"/>
              </a:spcBef>
              <a:spcAft>
                <a:spcPts val="250"/>
              </a:spcAft>
            </a:pPr>
            <a:r>
              <a:rPr sz="1000" b="0" i="1" u="none">
                <a:solidFill>
                  <a:srgbClr val="232A38"/>
                </a:solidFill>
                <a:latin typeface="Calibri"/>
              </a:rPr>
              <a:t>Luke 23:43</a:t>
            </a:r>
          </a:p>
          <a:p>
            <a:pPr algn="l">
              <a:lnSpc>
                <a:spcPct val="108000"/>
              </a:lnSpc>
              <a:spcBef>
                <a:spcPts val="0"/>
              </a:spcBef>
              <a:spcAft>
                <a:spcPts val="250"/>
              </a:spcAft>
            </a:pPr>
            <a:r>
              <a:rPr sz="1000" b="0" i="1" u="none">
                <a:solidFill>
                  <a:srgbClr val="232A38"/>
                </a:solidFill>
                <a:latin typeface="Calibri"/>
              </a:rPr>
              <a:t>Romans 6:23</a:t>
            </a:r>
          </a:p>
          <a:p>
            <a:pPr algn="l">
              <a:lnSpc>
                <a:spcPct val="110000"/>
              </a:lnSpc>
              <a:spcBef>
                <a:spcPts val="400"/>
              </a:spcBef>
              <a:spcAft>
                <a:spcPts val="0"/>
              </a:spcAft>
            </a:pPr>
            <a:r>
              <a:rPr sz="950" b="0" i="0" u="none">
                <a:solidFill>
                  <a:srgbClr val="4C566B"/>
                </a:solidFill>
                <a:latin typeface="Calibri"/>
              </a:rPr>
              <a:t>The doctrine of the intermediate state is the ground of the Christian's confidence in the death and of his hope of the resurrection.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For the believer, death is the entrance into the presence of the Lord, and the intermediate state is the conscious existence with Christ until the resurrection.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Resurrection of the Dead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resurrection of the dead is the doctrine that the dead will be raised, the righteous to the resurrection of life and the unrighteous to the resurrection of judgement (John 5:28-29). The resurrection is the work of God, grounded in the resurrection of Christ, who is the 'firstfruits of those who have fallen asleep' (1 Cor 15:20). The resurrection is both the individual — the raising of the dead to a new mode of existence — and the corporate — the raising of the whole community of the redeemed. The doctrine of the resurrection is the ground of the Christian hope and of the confidence that the body is not to be despised but to be glorified.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resurrection of the righteous and of the unrighteous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in the resurrection of Christ, the firstfruits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individual and the corporate aspects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hope and the glorification of the body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5:28-29</a:t>
            </a:r>
          </a:p>
          <a:p>
            <a:pPr algn="l">
              <a:lnSpc>
                <a:spcPct val="108000"/>
              </a:lnSpc>
              <a:spcBef>
                <a:spcPts val="0"/>
              </a:spcBef>
              <a:spcAft>
                <a:spcPts val="250"/>
              </a:spcAft>
            </a:pPr>
            <a:r>
              <a:rPr sz="1000" b="0" i="1" u="none">
                <a:solidFill>
                  <a:srgbClr val="232A38"/>
                </a:solidFill>
                <a:latin typeface="Calibri"/>
              </a:rPr>
              <a:t>1 Corinthians 15:20-23</a:t>
            </a:r>
          </a:p>
          <a:p>
            <a:pPr algn="l">
              <a:lnSpc>
                <a:spcPct val="108000"/>
              </a:lnSpc>
              <a:spcBef>
                <a:spcPts val="0"/>
              </a:spcBef>
              <a:spcAft>
                <a:spcPts val="250"/>
              </a:spcAft>
            </a:pPr>
            <a:r>
              <a:rPr sz="1000" b="0" i="1" u="none">
                <a:solidFill>
                  <a:srgbClr val="232A38"/>
                </a:solidFill>
                <a:latin typeface="Calibri"/>
              </a:rPr>
              <a:t>1 Thessalonians 4:14-17</a:t>
            </a:r>
          </a:p>
          <a:p>
            <a:pPr algn="l">
              <a:lnSpc>
                <a:spcPct val="108000"/>
              </a:lnSpc>
              <a:spcBef>
                <a:spcPts val="0"/>
              </a:spcBef>
              <a:spcAft>
                <a:spcPts val="250"/>
              </a:spcAft>
            </a:pPr>
            <a:r>
              <a:rPr sz="1000" b="0" i="1" u="none">
                <a:solidFill>
                  <a:srgbClr val="232A38"/>
                </a:solidFill>
                <a:latin typeface="Calibri"/>
              </a:rPr>
              <a:t>Romans 8:11</a:t>
            </a:r>
          </a:p>
          <a:p>
            <a:pPr algn="l">
              <a:lnSpc>
                <a:spcPct val="110000"/>
              </a:lnSpc>
              <a:spcBef>
                <a:spcPts val="400"/>
              </a:spcBef>
              <a:spcAft>
                <a:spcPts val="0"/>
              </a:spcAft>
            </a:pPr>
            <a:r>
              <a:rPr sz="950" b="0" i="0" u="none">
                <a:solidFill>
                  <a:srgbClr val="4C566B"/>
                </a:solidFill>
                <a:latin typeface="Calibri"/>
              </a:rPr>
              <a:t>The doctrine of the resurrection is the ground of the Christian hope and of the confidence that the body is to be glorified.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dead will be raised — the righteous to life and the unrighteous to judgement — grounded in the resurrection of Christ, the firstfruits.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Rapture of the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rapture of the Church is the doctrine that, before the second coming of Christ in glory, the living believers will be caught up together with the dead in Christ to meet the Lord in the air (1 Thess 4:16-17). The doctrine is grounded in the promise of the Scripture and in the work of Christ, who will 'change our lowly body that it may be fashioned like his glorious body' (Phil 3:21). The timing of the rapture in relation to the tribulation is a matter of debate among the various positions (pre-tribulation, mid-tribulation, post-tribulation), but the reality of the rapture is the ground of the Christian's hope and of his watchfulness. The doctrine is to be held in the light of the whole of the Scripture and the confession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catching up of the living and the dead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grounding in the promise of the Scripture and the work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timing: the pre-, mid-, and post-tribulation positions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hope and the watchfulness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Thessalonians 4:16-17</a:t>
            </a:r>
          </a:p>
          <a:p>
            <a:pPr algn="l">
              <a:lnSpc>
                <a:spcPct val="108000"/>
              </a:lnSpc>
              <a:spcBef>
                <a:spcPts val="0"/>
              </a:spcBef>
              <a:spcAft>
                <a:spcPts val="250"/>
              </a:spcAft>
            </a:pPr>
            <a:r>
              <a:rPr sz="1000" b="0" i="1" u="none">
                <a:solidFill>
                  <a:srgbClr val="232A38"/>
                </a:solidFill>
                <a:latin typeface="Calibri"/>
              </a:rPr>
              <a:t>Philippians 3:21</a:t>
            </a:r>
          </a:p>
          <a:p>
            <a:pPr algn="l">
              <a:lnSpc>
                <a:spcPct val="108000"/>
              </a:lnSpc>
              <a:spcBef>
                <a:spcPts val="0"/>
              </a:spcBef>
              <a:spcAft>
                <a:spcPts val="250"/>
              </a:spcAft>
            </a:pPr>
            <a:r>
              <a:rPr sz="1000" b="0" i="1" u="none">
                <a:solidFill>
                  <a:srgbClr val="232A38"/>
                </a:solidFill>
                <a:latin typeface="Calibri"/>
              </a:rPr>
              <a:t>John 14:3</a:t>
            </a:r>
          </a:p>
          <a:p>
            <a:pPr algn="l">
              <a:lnSpc>
                <a:spcPct val="108000"/>
              </a:lnSpc>
              <a:spcBef>
                <a:spcPts val="0"/>
              </a:spcBef>
              <a:spcAft>
                <a:spcPts val="250"/>
              </a:spcAft>
            </a:pPr>
            <a:r>
              <a:rPr sz="1000" b="0" i="1" u="none">
                <a:solidFill>
                  <a:srgbClr val="232A38"/>
                </a:solidFill>
                <a:latin typeface="Calibri"/>
              </a:rPr>
              <a:t>Revelation 3:3</a:t>
            </a:r>
          </a:p>
          <a:p>
            <a:pPr algn="l">
              <a:lnSpc>
                <a:spcPct val="110000"/>
              </a:lnSpc>
              <a:spcBef>
                <a:spcPts val="400"/>
              </a:spcBef>
              <a:spcAft>
                <a:spcPts val="0"/>
              </a:spcAft>
            </a:pPr>
            <a:r>
              <a:rPr sz="950" b="0" i="0" u="none">
                <a:solidFill>
                  <a:srgbClr val="4C566B"/>
                </a:solidFill>
                <a:latin typeface="Calibri"/>
              </a:rPr>
              <a:t>The doctrine of the rapture is the ground of the Christian's hope and of his watchfulness for the return of the Lord.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will be caught up to meet the Lord in the air, the ground of the Christian's hope and of his watchfulness for the return of the Lord.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Millennium and the Major Views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millennium is the period of a thousand years mentioned in Revelation 20:1-6, and it is the subject of three major views. Premillennialism holds that Christ will return before the millennium, which will be a literal thousand-year reign on earth. Postmillennialism holds that the millennium is the present age, in which the gospel will triumph before the return of Christ. Amillennialism holds that the millennium is not a literal future period but the present age, the church age, in which Christ reigns by his Spirit. The three views are to be held in the light of the whole of the Scripture, and the responsible position is to affirm the return of Christ and the ultimate triumph of the kingdom, while leaving the details of the millennium open to the light of the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millennium of Revelation 20:1-6</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Premillennialism: the return before a literal thousand-year reign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Postmillennialism: the triumph of the gospel before the return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Amillennialism: the present age as the millennium</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Revelation 20:1-6</a:t>
            </a:r>
          </a:p>
          <a:p>
            <a:pPr algn="l">
              <a:lnSpc>
                <a:spcPct val="108000"/>
              </a:lnSpc>
              <a:spcBef>
                <a:spcPts val="0"/>
              </a:spcBef>
              <a:spcAft>
                <a:spcPts val="250"/>
              </a:spcAft>
            </a:pPr>
            <a:r>
              <a:rPr sz="1000" b="0" i="1" u="none">
                <a:solidFill>
                  <a:srgbClr val="232A38"/>
                </a:solidFill>
                <a:latin typeface="Calibri"/>
              </a:rPr>
              <a:t>Daniel 7:13-14</a:t>
            </a:r>
          </a:p>
          <a:p>
            <a:pPr algn="l">
              <a:lnSpc>
                <a:spcPct val="108000"/>
              </a:lnSpc>
              <a:spcBef>
                <a:spcPts val="0"/>
              </a:spcBef>
              <a:spcAft>
                <a:spcPts val="250"/>
              </a:spcAft>
            </a:pPr>
            <a:r>
              <a:rPr sz="1000" b="0" i="1" u="none">
                <a:solidFill>
                  <a:srgbClr val="232A38"/>
                </a:solidFill>
                <a:latin typeface="Calibri"/>
              </a:rPr>
              <a:t>Isaiah 2:2-4</a:t>
            </a:r>
          </a:p>
          <a:p>
            <a:pPr algn="l">
              <a:lnSpc>
                <a:spcPct val="108000"/>
              </a:lnSpc>
              <a:spcBef>
                <a:spcPts val="0"/>
              </a:spcBef>
              <a:spcAft>
                <a:spcPts val="250"/>
              </a:spcAft>
            </a:pPr>
            <a:r>
              <a:rPr sz="1000" b="0" i="1" u="none">
                <a:solidFill>
                  <a:srgbClr val="232A38"/>
                </a:solidFill>
                <a:latin typeface="Calibri"/>
              </a:rPr>
              <a:t>Matthew 25:31-46</a:t>
            </a:r>
          </a:p>
          <a:p>
            <a:pPr algn="l">
              <a:lnSpc>
                <a:spcPct val="110000"/>
              </a:lnSpc>
              <a:spcBef>
                <a:spcPts val="400"/>
              </a:spcBef>
              <a:spcAft>
                <a:spcPts val="0"/>
              </a:spcAft>
            </a:pPr>
            <a:r>
              <a:rPr sz="950" b="0" i="0" u="none">
                <a:solidFill>
                  <a:srgbClr val="4C566B"/>
                </a:solidFill>
                <a:latin typeface="Calibri"/>
              </a:rPr>
              <a:t>The doctrine of the millennium is to be held in the light of the whole of the Scripture, affirming the return of Christ and the triumph of the kingdom.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millennium is the subject of three major views; the responsible position is to affirm the return of Christ and the triumph of the kingdom.</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Second Coming of Christ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second coming of Christ is the doctrine that the risen and ascended Lord will come again, visibly and in power, to judge the living and the dead and to consummate the kingdom of God. The coming is certain, personal, and visible — 'the Lord himself will descend from heaven with a shout of command' (1 Thess 4:16). It is the ground of the Christian hope and the motivation of the Christian life. The doctrine of the second coming is the eschatological counterpart of the incarnation: as Christ came in humility, so he will come in glory. The doctrine is to be held with the watchfulness of the Scripture, without the speculation of the dates.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certain, personal and visible return of the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coming in power to judge the living and the dead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consummation of the kingdom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eschatological counterpart of the incarnation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24:30</a:t>
            </a:r>
          </a:p>
          <a:p>
            <a:pPr algn="l">
              <a:lnSpc>
                <a:spcPct val="108000"/>
              </a:lnSpc>
              <a:spcBef>
                <a:spcPts val="0"/>
              </a:spcBef>
              <a:spcAft>
                <a:spcPts val="250"/>
              </a:spcAft>
            </a:pPr>
            <a:r>
              <a:rPr sz="1000" b="0" i="1" u="none">
                <a:solidFill>
                  <a:srgbClr val="232A38"/>
                </a:solidFill>
                <a:latin typeface="Calibri"/>
              </a:rPr>
              <a:t>Matthew 25:31</a:t>
            </a:r>
          </a:p>
          <a:p>
            <a:pPr algn="l">
              <a:lnSpc>
                <a:spcPct val="108000"/>
              </a:lnSpc>
              <a:spcBef>
                <a:spcPts val="0"/>
              </a:spcBef>
              <a:spcAft>
                <a:spcPts val="250"/>
              </a:spcAft>
            </a:pPr>
            <a:r>
              <a:rPr sz="1000" b="0" i="1" u="none">
                <a:solidFill>
                  <a:srgbClr val="232A38"/>
                </a:solidFill>
                <a:latin typeface="Calibri"/>
              </a:rPr>
              <a:t>1 Thessalonians 4:16</a:t>
            </a:r>
          </a:p>
          <a:p>
            <a:pPr algn="l">
              <a:lnSpc>
                <a:spcPct val="108000"/>
              </a:lnSpc>
              <a:spcBef>
                <a:spcPts val="0"/>
              </a:spcBef>
              <a:spcAft>
                <a:spcPts val="250"/>
              </a:spcAft>
            </a:pPr>
            <a:r>
              <a:rPr sz="1000" b="0" i="1" u="none">
                <a:solidFill>
                  <a:srgbClr val="232A38"/>
                </a:solidFill>
                <a:latin typeface="Calibri"/>
              </a:rPr>
              <a:t>Acts 1:11</a:t>
            </a:r>
          </a:p>
          <a:p>
            <a:pPr algn="l">
              <a:lnSpc>
                <a:spcPct val="110000"/>
              </a:lnSpc>
              <a:spcBef>
                <a:spcPts val="400"/>
              </a:spcBef>
              <a:spcAft>
                <a:spcPts val="0"/>
              </a:spcAft>
            </a:pPr>
            <a:r>
              <a:rPr sz="950" b="0" i="0" u="none">
                <a:solidFill>
                  <a:srgbClr val="4C566B"/>
                </a:solidFill>
                <a:latin typeface="Calibri"/>
              </a:rPr>
              <a:t>The doctrine of the second coming is the ground of the Christian hope and the motivation of the Christian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Lord Jesus will come again, visibly and in power, to judge the world and to consummate the kingdom — the ground of the Christian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Final Judgement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final judgement is the act of God in which Christ, as the judge of the world, will judge the living and the dead, and will give to every person according to his works (Rev 20:12; Rom 2:6). The judgement is both the justification of the believer — the declaration of his innocence on the ground of the work of Christ — and the condemnation of the unbelieved — the declaration of their guilt on the ground of their own works. The doctrine of the final judgement is the ground of the Christian's hope and of his holy living, and it is the motivation of the witness to the world. The judgement is certain, and it is the ground of the seriousness of the present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judgement of the living and the dead by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justification of the believer and the condemnation of the unbelieved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giving to every person according to his works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hope, the holy living, and the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Revelation 20:12</a:t>
            </a:r>
          </a:p>
          <a:p>
            <a:pPr algn="l">
              <a:lnSpc>
                <a:spcPct val="108000"/>
              </a:lnSpc>
              <a:spcBef>
                <a:spcPts val="0"/>
              </a:spcBef>
              <a:spcAft>
                <a:spcPts val="250"/>
              </a:spcAft>
            </a:pPr>
            <a:r>
              <a:rPr sz="1000" b="0" i="1" u="none">
                <a:solidFill>
                  <a:srgbClr val="232A38"/>
                </a:solidFill>
                <a:latin typeface="Calibri"/>
              </a:rPr>
              <a:t>Romans 2:6</a:t>
            </a:r>
          </a:p>
          <a:p>
            <a:pPr algn="l">
              <a:lnSpc>
                <a:spcPct val="108000"/>
              </a:lnSpc>
              <a:spcBef>
                <a:spcPts val="0"/>
              </a:spcBef>
              <a:spcAft>
                <a:spcPts val="250"/>
              </a:spcAft>
            </a:pPr>
            <a:r>
              <a:rPr sz="1000" b="0" i="1" u="none">
                <a:solidFill>
                  <a:srgbClr val="232A38"/>
                </a:solidFill>
                <a:latin typeface="Calibri"/>
              </a:rPr>
              <a:t>John 5:22-29</a:t>
            </a:r>
          </a:p>
          <a:p>
            <a:pPr algn="l">
              <a:lnSpc>
                <a:spcPct val="108000"/>
              </a:lnSpc>
              <a:spcBef>
                <a:spcPts val="0"/>
              </a:spcBef>
              <a:spcAft>
                <a:spcPts val="250"/>
              </a:spcAft>
            </a:pPr>
            <a:r>
              <a:rPr sz="1000" b="0" i="1" u="none">
                <a:solidFill>
                  <a:srgbClr val="232A38"/>
                </a:solidFill>
                <a:latin typeface="Calibri"/>
              </a:rPr>
              <a:t>Matthew 25:31-46</a:t>
            </a:r>
          </a:p>
          <a:p>
            <a:pPr algn="l">
              <a:lnSpc>
                <a:spcPct val="110000"/>
              </a:lnSpc>
              <a:spcBef>
                <a:spcPts val="400"/>
              </a:spcBef>
              <a:spcAft>
                <a:spcPts val="0"/>
              </a:spcAft>
            </a:pPr>
            <a:r>
              <a:rPr sz="950" b="0" i="0" u="none">
                <a:solidFill>
                  <a:srgbClr val="4C566B"/>
                </a:solidFill>
                <a:latin typeface="Calibri"/>
              </a:rPr>
              <a:t>The doctrine of the final judgement is the ground of the Christian's hope and of his holy living.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 will judge the living and the dead, giving to every person according to his works — the ground of the hope and the motivation of the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Heaven: The Blessed State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Heaven is the blessed state of the redeemed in the presence of God, the goal of the whole of redemption and the home of the soul. The Scripture presents heaven as the presence of the Father, the enjoyment of the communion of the saints, and the rest from the labours of the life (Rev 21:3-4; 22:3-5). The heaven of the believer is not a place of boredom or of inactivity but the fullness of the joy of the presence of God. The doctrine of heaven is the ground of the Christian's hope and of his contentment in the trial, and it is the motivation of the Christian's holy living. The believer is a stranger and an exile on earth, but he has a city whose builder and maker is God (Heb 11:10, 16).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Heaven as the presence of the Father and the communion of the saints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rest from the labours of the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fullness of the joy of the presence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hope, the contentment, and the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Revelation 21:3-4</a:t>
            </a:r>
          </a:p>
          <a:p>
            <a:pPr algn="l">
              <a:lnSpc>
                <a:spcPct val="108000"/>
              </a:lnSpc>
              <a:spcBef>
                <a:spcPts val="0"/>
              </a:spcBef>
              <a:spcAft>
                <a:spcPts val="250"/>
              </a:spcAft>
            </a:pPr>
            <a:r>
              <a:rPr sz="1000" b="0" i="1" u="none">
                <a:solidFill>
                  <a:srgbClr val="232A38"/>
                </a:solidFill>
                <a:latin typeface="Calibri"/>
              </a:rPr>
              <a:t>John 14:2-3</a:t>
            </a:r>
          </a:p>
          <a:p>
            <a:pPr algn="l">
              <a:lnSpc>
                <a:spcPct val="108000"/>
              </a:lnSpc>
              <a:spcBef>
                <a:spcPts val="0"/>
              </a:spcBef>
              <a:spcAft>
                <a:spcPts val="250"/>
              </a:spcAft>
            </a:pPr>
            <a:r>
              <a:rPr sz="1000" b="0" i="1" u="none">
                <a:solidFill>
                  <a:srgbClr val="232A38"/>
                </a:solidFill>
                <a:latin typeface="Calibri"/>
              </a:rPr>
              <a:t>2 Corinthians 5:1-10</a:t>
            </a:r>
          </a:p>
          <a:p>
            <a:pPr algn="l">
              <a:lnSpc>
                <a:spcPct val="108000"/>
              </a:lnSpc>
              <a:spcBef>
                <a:spcPts val="0"/>
              </a:spcBef>
              <a:spcAft>
                <a:spcPts val="250"/>
              </a:spcAft>
            </a:pPr>
            <a:r>
              <a:rPr sz="1000" b="0" i="1" u="none">
                <a:solidFill>
                  <a:srgbClr val="232A38"/>
                </a:solidFill>
                <a:latin typeface="Calibri"/>
              </a:rPr>
              <a:t>Hebrews 11:10, 16</a:t>
            </a:r>
          </a:p>
          <a:p>
            <a:pPr algn="l">
              <a:lnSpc>
                <a:spcPct val="110000"/>
              </a:lnSpc>
              <a:spcBef>
                <a:spcPts val="400"/>
              </a:spcBef>
              <a:spcAft>
                <a:spcPts val="0"/>
              </a:spcAft>
            </a:pPr>
            <a:r>
              <a:rPr sz="950" b="0" i="0" u="none">
                <a:solidFill>
                  <a:srgbClr val="4C566B"/>
                </a:solidFill>
                <a:latin typeface="Calibri"/>
              </a:rPr>
              <a:t>The doctrine of heaven is the ground of the Christian's hope and of his contentment in the trial.</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Heaven is the blessed state of the redeemed in the presence of God, the goal of the redemption and the home of the soul.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Hell: The State of the Damned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129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Hell is the state of the condemned, the final separation of the unrepentant from the presence of God, and the punishment of the works of the sin (Rev 20:15; 21:8). The Scripture describes hell in the language of the fire, the darkness, and the weeping and the gnashing of teeth (Matt 8:12; 13:42, 50; 25:41). The doctrine of hell is the ground of the seriousness of the present life and of the urgency of the witness to the world. It is the sobering counterpart of the doctrine of heaven, and it is the ground of the Christian's compassion for the lost. The doctrine is to be held with the seriousness of the Scripture and the compassion of the gospel.</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Hell as the final separation from the presence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punishment of the works of the sin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language of the fire, the darkness, and the weeping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seriousness of the life and the compassion for the lost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8:12</a:t>
            </a:r>
          </a:p>
          <a:p>
            <a:pPr algn="l">
              <a:lnSpc>
                <a:spcPct val="108000"/>
              </a:lnSpc>
              <a:spcBef>
                <a:spcPts val="0"/>
              </a:spcBef>
              <a:spcAft>
                <a:spcPts val="250"/>
              </a:spcAft>
            </a:pPr>
            <a:r>
              <a:rPr sz="1000" b="0" i="1" u="none">
                <a:solidFill>
                  <a:srgbClr val="232A38"/>
                </a:solidFill>
                <a:latin typeface="Calibri"/>
              </a:rPr>
              <a:t>Matthew 25:41</a:t>
            </a:r>
          </a:p>
          <a:p>
            <a:pPr algn="l">
              <a:lnSpc>
                <a:spcPct val="108000"/>
              </a:lnSpc>
              <a:spcBef>
                <a:spcPts val="0"/>
              </a:spcBef>
              <a:spcAft>
                <a:spcPts val="250"/>
              </a:spcAft>
            </a:pPr>
            <a:r>
              <a:rPr sz="1000" b="0" i="1" u="none">
                <a:solidFill>
                  <a:srgbClr val="232A38"/>
                </a:solidFill>
                <a:latin typeface="Calibri"/>
              </a:rPr>
              <a:t>Revelation 20:15</a:t>
            </a:r>
          </a:p>
          <a:p>
            <a:pPr algn="l">
              <a:lnSpc>
                <a:spcPct val="108000"/>
              </a:lnSpc>
              <a:spcBef>
                <a:spcPts val="0"/>
              </a:spcBef>
              <a:spcAft>
                <a:spcPts val="250"/>
              </a:spcAft>
            </a:pPr>
            <a:r>
              <a:rPr sz="1000" b="0" i="1" u="none">
                <a:solidFill>
                  <a:srgbClr val="232A38"/>
                </a:solidFill>
                <a:latin typeface="Calibri"/>
              </a:rPr>
              <a:t>2 Thessalonians 1:9</a:t>
            </a:r>
          </a:p>
          <a:p>
            <a:pPr algn="l">
              <a:lnSpc>
                <a:spcPct val="110000"/>
              </a:lnSpc>
              <a:spcBef>
                <a:spcPts val="400"/>
              </a:spcBef>
              <a:spcAft>
                <a:spcPts val="0"/>
              </a:spcAft>
            </a:pPr>
            <a:r>
              <a:rPr sz="950" b="0" i="0" u="none">
                <a:solidFill>
                  <a:srgbClr val="4C566B"/>
                </a:solidFill>
                <a:latin typeface="Calibri"/>
              </a:rPr>
              <a:t>The doctrine of hell is the sobering counterpart of the doctrine of heaven and the ground of the Christian's compassion for the lost.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Hell is the final separation of the unrepentant from the presence of God, the ground of the seriousness of the life and the urgency of the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New Heaven and the New Earth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new heaven and the new earth are the final state of the redeemed creation, the goal of the whole of the redemptive history (Rev 21:1; Isa 65:17). The new creation is not the annihilation of the present creation but its redemption and its transformation — 'the creation itself will be set free from its bondage to corruption' (Rom 8:21). The new heaven and the new earth are the home of the redeemed, where God will dwell with his people and 'wipe away every tear' (Rev 21:3-4). The doctrine of the new creation is the ground of the Christian's hope for the body and for the world, and it is the motivation of the Christian's care for the natural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new heaven and the new earth as the final state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redemption and the transformation of the present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dwelling of God with his people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hope for the body and for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Revelation 21:1</a:t>
            </a:r>
          </a:p>
          <a:p>
            <a:pPr algn="l">
              <a:lnSpc>
                <a:spcPct val="108000"/>
              </a:lnSpc>
              <a:spcBef>
                <a:spcPts val="0"/>
              </a:spcBef>
              <a:spcAft>
                <a:spcPts val="250"/>
              </a:spcAft>
            </a:pPr>
            <a:r>
              <a:rPr sz="1000" b="0" i="1" u="none">
                <a:solidFill>
                  <a:srgbClr val="232A38"/>
                </a:solidFill>
                <a:latin typeface="Calibri"/>
              </a:rPr>
              <a:t>Isaiah 65:17</a:t>
            </a:r>
          </a:p>
          <a:p>
            <a:pPr algn="l">
              <a:lnSpc>
                <a:spcPct val="108000"/>
              </a:lnSpc>
              <a:spcBef>
                <a:spcPts val="0"/>
              </a:spcBef>
              <a:spcAft>
                <a:spcPts val="250"/>
              </a:spcAft>
            </a:pPr>
            <a:r>
              <a:rPr sz="1000" b="0" i="1" u="none">
                <a:solidFill>
                  <a:srgbClr val="232A38"/>
                </a:solidFill>
                <a:latin typeface="Calibri"/>
              </a:rPr>
              <a:t>Romans 8:21</a:t>
            </a:r>
          </a:p>
          <a:p>
            <a:pPr algn="l">
              <a:lnSpc>
                <a:spcPct val="108000"/>
              </a:lnSpc>
              <a:spcBef>
                <a:spcPts val="0"/>
              </a:spcBef>
              <a:spcAft>
                <a:spcPts val="250"/>
              </a:spcAft>
            </a:pPr>
            <a:r>
              <a:rPr sz="1000" b="0" i="1" u="none">
                <a:solidFill>
                  <a:srgbClr val="232A38"/>
                </a:solidFill>
                <a:latin typeface="Calibri"/>
              </a:rPr>
              <a:t>2 Peter 3:13</a:t>
            </a:r>
          </a:p>
          <a:p>
            <a:pPr algn="l">
              <a:lnSpc>
                <a:spcPct val="110000"/>
              </a:lnSpc>
              <a:spcBef>
                <a:spcPts val="400"/>
              </a:spcBef>
              <a:spcAft>
                <a:spcPts val="0"/>
              </a:spcAft>
            </a:pPr>
            <a:r>
              <a:rPr sz="950" b="0" i="0" u="none">
                <a:solidFill>
                  <a:srgbClr val="4C566B"/>
                </a:solidFill>
                <a:latin typeface="Calibri"/>
              </a:rPr>
              <a:t>The doctrine of the new creation is the ground of the Christian's hope for the body and for the world, and of his care for the natural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new heaven and the new earth are the final state of the redeemed creation, where God will dwell with his people and make all things new.</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Christian Hope and Its Practical Value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Christian hope is the confident expectation of the return of Christ and of the inheritance of the glory (Rom 8:24; Tit 2:13). It is the ground of the Christian's contentment in the trial, his endurance in the weakness, and his holiness in the present life (1 John 3:2-3; Heb 10:19-25). The hope is not a passive waiting but an active watchfulness, a holy living, and a witness to the world. The practical value of the hope is that it grounds the Christian's confidence in the death, his endurance in the trial, and his motivation for the witness. The doctrine of the hope is the ground of the Christian's life and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hope as the confident expectation of the return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contentment, the endurance, and the holiness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active watchfulness and the witness to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confidence in the death and the motivation for the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8:24</a:t>
            </a:r>
          </a:p>
          <a:p>
            <a:pPr algn="l">
              <a:lnSpc>
                <a:spcPct val="108000"/>
              </a:lnSpc>
              <a:spcBef>
                <a:spcPts val="0"/>
              </a:spcBef>
              <a:spcAft>
                <a:spcPts val="250"/>
              </a:spcAft>
            </a:pPr>
            <a:r>
              <a:rPr sz="1000" b="0" i="1" u="none">
                <a:solidFill>
                  <a:srgbClr val="232A38"/>
                </a:solidFill>
                <a:latin typeface="Calibri"/>
              </a:rPr>
              <a:t>Titus 2:13</a:t>
            </a:r>
          </a:p>
          <a:p>
            <a:pPr algn="l">
              <a:lnSpc>
                <a:spcPct val="108000"/>
              </a:lnSpc>
              <a:spcBef>
                <a:spcPts val="0"/>
              </a:spcBef>
              <a:spcAft>
                <a:spcPts val="250"/>
              </a:spcAft>
            </a:pPr>
            <a:r>
              <a:rPr sz="1000" b="0" i="1" u="none">
                <a:solidFill>
                  <a:srgbClr val="232A38"/>
                </a:solidFill>
                <a:latin typeface="Calibri"/>
              </a:rPr>
              <a:t>1 John 3:2-3</a:t>
            </a:r>
          </a:p>
          <a:p>
            <a:pPr algn="l">
              <a:lnSpc>
                <a:spcPct val="108000"/>
              </a:lnSpc>
              <a:spcBef>
                <a:spcPts val="0"/>
              </a:spcBef>
              <a:spcAft>
                <a:spcPts val="250"/>
              </a:spcAft>
            </a:pPr>
            <a:r>
              <a:rPr sz="1000" b="0" i="1" u="none">
                <a:solidFill>
                  <a:srgbClr val="232A38"/>
                </a:solidFill>
                <a:latin typeface="Calibri"/>
              </a:rPr>
              <a:t>Hebrews 10:19-25</a:t>
            </a:r>
          </a:p>
          <a:p>
            <a:pPr algn="l">
              <a:lnSpc>
                <a:spcPct val="110000"/>
              </a:lnSpc>
              <a:spcBef>
                <a:spcPts val="400"/>
              </a:spcBef>
              <a:spcAft>
                <a:spcPts val="0"/>
              </a:spcAft>
            </a:pPr>
            <a:r>
              <a:rPr sz="950" b="0" i="0" u="none">
                <a:solidFill>
                  <a:srgbClr val="4C566B"/>
                </a:solidFill>
                <a:latin typeface="Calibri"/>
              </a:rPr>
              <a:t>The doctrine of the Christian hope is the ground of the Christian's life and of the Church's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hope is the confident expectation of the return of Christ, the ground of the contentment, the endurance, and the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10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Last Things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module has brought the doctrine of the last things to a summary. The last things include death and the intermediate state, the resurrection of the dead, the rapture of the Church, the second coming of Christ, the final judgement, heaven, hell, and the new heaven and the new earth. The doctrine of the last things is the goal of the whole of redemption and the ground of the Christian's hope and of his holy living. The believer is to live in the light of the last things — with the confidence in the death, the endurance in the trial, the watchfulness for the return, and the witness to the world. The last things are the goal of the whole, and they are the ground of the Christian's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last things: death, the resurrection, the rapture, the return, the judgement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Heaven, hell, and the new heaven and the new earth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goal of the whole of redemption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Christian's hope and of his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15</a:t>
            </a:r>
          </a:p>
          <a:p>
            <a:pPr algn="l">
              <a:lnSpc>
                <a:spcPct val="108000"/>
              </a:lnSpc>
              <a:spcBef>
                <a:spcPts val="0"/>
              </a:spcBef>
              <a:spcAft>
                <a:spcPts val="250"/>
              </a:spcAft>
            </a:pPr>
            <a:r>
              <a:rPr sz="1000" b="0" i="1" u="none">
                <a:solidFill>
                  <a:srgbClr val="232A38"/>
                </a:solidFill>
                <a:latin typeface="Calibri"/>
              </a:rPr>
              <a:t>Revelation 20-22</a:t>
            </a:r>
          </a:p>
          <a:p>
            <a:pPr algn="l">
              <a:lnSpc>
                <a:spcPct val="108000"/>
              </a:lnSpc>
              <a:spcBef>
                <a:spcPts val="0"/>
              </a:spcBef>
              <a:spcAft>
                <a:spcPts val="250"/>
              </a:spcAft>
            </a:pPr>
            <a:r>
              <a:rPr sz="1000" b="0" i="1" u="none">
                <a:solidFill>
                  <a:srgbClr val="232A38"/>
                </a:solidFill>
                <a:latin typeface="Calibri"/>
              </a:rPr>
              <a:t>2 Peter 3</a:t>
            </a:r>
          </a:p>
          <a:p>
            <a:pPr algn="l">
              <a:lnSpc>
                <a:spcPct val="108000"/>
              </a:lnSpc>
              <a:spcBef>
                <a:spcPts val="0"/>
              </a:spcBef>
              <a:spcAft>
                <a:spcPts val="250"/>
              </a:spcAft>
            </a:pPr>
            <a:r>
              <a:rPr sz="1000" b="0" i="1" u="none">
                <a:solidFill>
                  <a:srgbClr val="232A38"/>
                </a:solidFill>
                <a:latin typeface="Calibri"/>
              </a:rPr>
              <a:t>Romans 8:18-25</a:t>
            </a:r>
          </a:p>
          <a:p>
            <a:pPr algn="l">
              <a:lnSpc>
                <a:spcPct val="110000"/>
              </a:lnSpc>
              <a:spcBef>
                <a:spcPts val="400"/>
              </a:spcBef>
              <a:spcAft>
                <a:spcPts val="0"/>
              </a:spcAft>
            </a:pPr>
            <a:r>
              <a:rPr sz="950" b="0" i="0" u="none">
                <a:solidFill>
                  <a:srgbClr val="4C566B"/>
                </a:solidFill>
                <a:latin typeface="Calibri"/>
              </a:rPr>
              <a:t>The doctrine of the last things is the goal of the whole of redemption and the ground of the Christian's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last things are the goal of the whole of redemption, and they are the ground of the Christian's hope and of his holy living in the light of the return of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10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Eschatology: The Doctrine of Last Things</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For the believer, death is the entrance into the presence of the Lord, and the intermediate state is the conscious existence with Christ.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dead will be raised, the Church will be caught up, and Christ will return in power to judge the world.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final state is the new heaven and the new earth, where God will dwell with his people and make all things new.</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doctrine of the last things is the ground of the Christian's hope, his contentment in the trial, and his witness to the world.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last things is the goal of the whole of redemption; it flows from the person and work of Christ and from the doctrine of the Church, and it is the ground of the Christian's hope and of his holy living.</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goal of the whole, the programme turns to the life that the Christian is to live in the light of that hope: the Christian life and spiritual formation.</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11 · The Christian Life and Spiritual Formation</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11</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 CHRISTIAN LIFE AND SPIRITUAL FORMATION</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goal of the whole, the programme turns to the life that the Christian is to live in the light of that hope: the Christian life and spiritual formation.</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321040" y="2179929"/>
            <a:ext cx="2743200" cy="2406700"/>
          </a:xfrm>
          <a:prstGeom prst="rect">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 name="Connector 4"/>
          <p:cNvCxnSpPr/>
          <p:nvPr/>
        </p:nvCxnSpPr>
        <p:spPr>
          <a:xfrm>
            <a:off x="87782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321040" y="2581046"/>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2354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321040" y="2982163"/>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926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3383280"/>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1498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21040" y="3784396"/>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07040" y="2179929"/>
            <a:ext cx="0" cy="2406701"/>
          </a:xfrm>
          <a:prstGeom prst="line">
            <a:avLst/>
          </a:prstGeom>
          <a:ln w="762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321040" y="4185513"/>
            <a:ext cx="2743200" cy="0"/>
          </a:xfrm>
          <a:prstGeom prst="line">
            <a:avLst/>
          </a:prstGeom>
          <a:ln w="762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11</a:t>
            </a:r>
          </a:p>
        </p:txBody>
      </p:sp>
      <p:sp>
        <p:nvSpPr>
          <p:cNvPr id="17" name="TextBox 16"/>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11</a:t>
            </a:r>
          </a:p>
        </p:txBody>
      </p:sp>
      <p:sp>
        <p:nvSpPr>
          <p:cNvPr id="18" name="TextBox 17"/>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 CHRISTIAN LIFE AND SPIRITUAL FORMATION</a:t>
            </a:r>
          </a:p>
        </p:txBody>
      </p:sp>
      <p:cxnSp>
        <p:nvCxnSpPr>
          <p:cNvPr id="19" name="Connector 18"/>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daily walk of the believer: the law of God, prayer, the means of grace, temptation, and stewardship.</a:t>
            </a:r>
          </a:p>
        </p:txBody>
      </p:sp>
      <p:sp>
        <p:nvSpPr>
          <p:cNvPr id="21" name="Rectangle 20"/>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985515"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11</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 CHRISTIAN LIFE AND SPIRITUAL FORMATION</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 Christian Life and Spiritual Formation</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treats the Christian life as it is to be lived in the world: the believer's relation to the law of God, the practice of prayer, the means of spiritual growth, the victory over temptation, and the stewardship of the gifts of God. It is the practical side of the doctrine of sanctification.</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Christian life is the outworking of the salvation accomplished in Christ. The epistles are full of exhortations to the holy living. It is not a system of self-improvement but the life of the one who is in Christ.</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Christian life is the ground of the daily walk and of the spiritual formation of the believer. It answers the practical questions of the life — how to pray, how to grow, how to overcome temptation, and how to steward the gifts of God.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Christian life as the daily walk of the believer in Christ, and to adopt the means of spiritual growth that the Scripture appoints.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of the Christian Life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Christian life is the life of the believer in Christ, and it is the outworking of the salvation that God has accomplished. It is not a system of self-improvement but the life of the one who is in Christ, a new creation in him (2 Cor 5:17). The Christian life is marked by the union with Christ, the indwelling of the Spirit, and the growth in the likeness of the Son. It is a life of grace, not of merit, and it is the ground of the Christian's holiness and of his witness to the world. The nature of the Christian life is to be the life of the one who has been made alive in Christ and is being conformed to his image.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life as the life in Christ, the new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marks: the union with Christ, the indwelling of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life of grace, not of merit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holiness and the witness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Corinthians 5:17</a:t>
            </a:r>
          </a:p>
          <a:p>
            <a:pPr algn="l">
              <a:lnSpc>
                <a:spcPct val="108000"/>
              </a:lnSpc>
              <a:spcBef>
                <a:spcPts val="0"/>
              </a:spcBef>
              <a:spcAft>
                <a:spcPts val="250"/>
              </a:spcAft>
            </a:pPr>
            <a:r>
              <a:rPr sz="1000" b="0" i="1" u="none">
                <a:solidFill>
                  <a:srgbClr val="232A38"/>
                </a:solidFill>
                <a:latin typeface="Calibri"/>
              </a:rPr>
              <a:t>Galatians 2:20</a:t>
            </a:r>
          </a:p>
          <a:p>
            <a:pPr algn="l">
              <a:lnSpc>
                <a:spcPct val="108000"/>
              </a:lnSpc>
              <a:spcBef>
                <a:spcPts val="0"/>
              </a:spcBef>
              <a:spcAft>
                <a:spcPts val="250"/>
              </a:spcAft>
            </a:pPr>
            <a:r>
              <a:rPr sz="1000" b="0" i="1" u="none">
                <a:solidFill>
                  <a:srgbClr val="232A38"/>
                </a:solidFill>
                <a:latin typeface="Calibri"/>
              </a:rPr>
              <a:t>Romans 6:3-11</a:t>
            </a:r>
          </a:p>
          <a:p>
            <a:pPr algn="l">
              <a:lnSpc>
                <a:spcPct val="108000"/>
              </a:lnSpc>
              <a:spcBef>
                <a:spcPts val="0"/>
              </a:spcBef>
              <a:spcAft>
                <a:spcPts val="250"/>
              </a:spcAft>
            </a:pPr>
            <a:r>
              <a:rPr sz="1000" b="0" i="1" u="none">
                <a:solidFill>
                  <a:srgbClr val="232A38"/>
                </a:solidFill>
                <a:latin typeface="Calibri"/>
              </a:rPr>
              <a:t>Philippians 3:10</a:t>
            </a:r>
          </a:p>
          <a:p>
            <a:pPr algn="l">
              <a:lnSpc>
                <a:spcPct val="110000"/>
              </a:lnSpc>
              <a:spcBef>
                <a:spcPts val="400"/>
              </a:spcBef>
              <a:spcAft>
                <a:spcPts val="0"/>
              </a:spcAft>
            </a:pPr>
            <a:r>
              <a:rPr sz="950" b="0" i="0" u="none">
                <a:solidFill>
                  <a:srgbClr val="4C566B"/>
                </a:solidFill>
                <a:latin typeface="Calibri"/>
              </a:rPr>
              <a:t>The doctrine of the Christian life is the practical side of the doctrine of sanctification and the ground of the daily walk.</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life is the life of the one who is in Christ — a new creation, marked by the union with Christ and the indwelling of the Spirit.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Christian's Relation to the Law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Christian's relation to the law of God is to be understood in the light of the three uses of the law. The law is the mirror that shows the sinner his sin (the first use), the bond that restrains the evil in the world (the second use), and the guide to the holy living of the believer (the third use). The believer is not under the law as a covenant of works but he is under the law as the rule of life (Rom 7:6; 8:2-4). The law is the will of God, and the believer walks in it not to earn the salvation but as the grateful response to the grace received. The doctrine of the law is the ground of the Christian's holiness and of his order in the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three uses of the law: the mirror, the bond, the guide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believer under the law as the rule of life, not as a covenant of works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law as the will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grateful response to the grace received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7:6</a:t>
            </a:r>
          </a:p>
          <a:p>
            <a:pPr algn="l">
              <a:lnSpc>
                <a:spcPct val="108000"/>
              </a:lnSpc>
              <a:spcBef>
                <a:spcPts val="0"/>
              </a:spcBef>
              <a:spcAft>
                <a:spcPts val="250"/>
              </a:spcAft>
            </a:pPr>
            <a:r>
              <a:rPr sz="1000" b="0" i="1" u="none">
                <a:solidFill>
                  <a:srgbClr val="232A38"/>
                </a:solidFill>
                <a:latin typeface="Calibri"/>
              </a:rPr>
              <a:t>Romans 8:2-4</a:t>
            </a:r>
          </a:p>
          <a:p>
            <a:pPr algn="l">
              <a:lnSpc>
                <a:spcPct val="108000"/>
              </a:lnSpc>
              <a:spcBef>
                <a:spcPts val="0"/>
              </a:spcBef>
              <a:spcAft>
                <a:spcPts val="250"/>
              </a:spcAft>
            </a:pPr>
            <a:r>
              <a:rPr sz="1000" b="0" i="1" u="none">
                <a:solidFill>
                  <a:srgbClr val="232A38"/>
                </a:solidFill>
                <a:latin typeface="Calibri"/>
              </a:rPr>
              <a:t>Galatians 5:13-14</a:t>
            </a:r>
          </a:p>
          <a:p>
            <a:pPr algn="l">
              <a:lnSpc>
                <a:spcPct val="108000"/>
              </a:lnSpc>
              <a:spcBef>
                <a:spcPts val="0"/>
              </a:spcBef>
              <a:spcAft>
                <a:spcPts val="250"/>
              </a:spcAft>
            </a:pPr>
            <a:r>
              <a:rPr sz="1000" b="0" i="1" u="none">
                <a:solidFill>
                  <a:srgbClr val="232A38"/>
                </a:solidFill>
                <a:latin typeface="Calibri"/>
              </a:rPr>
              <a:t>Psalm 119</a:t>
            </a:r>
          </a:p>
          <a:p>
            <a:pPr algn="l">
              <a:lnSpc>
                <a:spcPct val="110000"/>
              </a:lnSpc>
              <a:spcBef>
                <a:spcPts val="400"/>
              </a:spcBef>
              <a:spcAft>
                <a:spcPts val="0"/>
              </a:spcAft>
            </a:pPr>
            <a:r>
              <a:rPr sz="950" b="0" i="0" u="none">
                <a:solidFill>
                  <a:srgbClr val="4C566B"/>
                </a:solidFill>
                <a:latin typeface="Calibri"/>
              </a:rPr>
              <a:t>The doctrine of the law is the ground of the Christian's holiness and of his order in the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believer is not under the law as a covenant of works but as the rule of life, the grateful response to the grace received in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Prayer: Its Nature and Practice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Prayer is the communication of the believer with God, and it is the chief means of the Christian's communion with his Saviour. The nature of prayer is the address to the triune God — the Father, through the Son, in the Spirit — and it includes the adoration, the confession, the thanksgiving, and the supplication (the ACTS of prayer). The practice of prayer is to be regular, earnest, and in accordance with the will of God (Matt 6:9-13; 1 Tim 2:1-8). The Scripture gives the pattern of the Lord's Prayer and the promise of the answer to the prayer of the righteous. The doctrine of prayer is the ground of the Christian's dependence on God and of his communion with his Saviour.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Prayer as the communication of the believer with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address to the triune God: Father, through the Son, in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elements: adoration, confession, thanksgiving, supplication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pattern of the Lord's Prayer and the promise of the answer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6:9-13</a:t>
            </a:r>
          </a:p>
          <a:p>
            <a:pPr algn="l">
              <a:lnSpc>
                <a:spcPct val="108000"/>
              </a:lnSpc>
              <a:spcBef>
                <a:spcPts val="0"/>
              </a:spcBef>
              <a:spcAft>
                <a:spcPts val="250"/>
              </a:spcAft>
            </a:pPr>
            <a:r>
              <a:rPr sz="1000" b="0" i="1" u="none">
                <a:solidFill>
                  <a:srgbClr val="232A38"/>
                </a:solidFill>
                <a:latin typeface="Calibri"/>
              </a:rPr>
              <a:t>1 Timothy 2:1-8</a:t>
            </a:r>
          </a:p>
          <a:p>
            <a:pPr algn="l">
              <a:lnSpc>
                <a:spcPct val="108000"/>
              </a:lnSpc>
              <a:spcBef>
                <a:spcPts val="0"/>
              </a:spcBef>
              <a:spcAft>
                <a:spcPts val="250"/>
              </a:spcAft>
            </a:pPr>
            <a:r>
              <a:rPr sz="1000" b="0" i="1" u="none">
                <a:solidFill>
                  <a:srgbClr val="232A38"/>
                </a:solidFill>
                <a:latin typeface="Calibri"/>
              </a:rPr>
              <a:t>Philippians 4:6-7</a:t>
            </a:r>
          </a:p>
          <a:p>
            <a:pPr algn="l">
              <a:lnSpc>
                <a:spcPct val="108000"/>
              </a:lnSpc>
              <a:spcBef>
                <a:spcPts val="0"/>
              </a:spcBef>
              <a:spcAft>
                <a:spcPts val="250"/>
              </a:spcAft>
            </a:pPr>
            <a:r>
              <a:rPr sz="1000" b="0" i="1" u="none">
                <a:solidFill>
                  <a:srgbClr val="232A38"/>
                </a:solidFill>
                <a:latin typeface="Calibri"/>
              </a:rPr>
              <a:t>James 5:16</a:t>
            </a:r>
          </a:p>
          <a:p>
            <a:pPr algn="l">
              <a:lnSpc>
                <a:spcPct val="110000"/>
              </a:lnSpc>
              <a:spcBef>
                <a:spcPts val="400"/>
              </a:spcBef>
              <a:spcAft>
                <a:spcPts val="0"/>
              </a:spcAft>
            </a:pPr>
            <a:r>
              <a:rPr sz="950" b="0" i="0" u="none">
                <a:solidFill>
                  <a:srgbClr val="4C566B"/>
                </a:solidFill>
                <a:latin typeface="Calibri"/>
              </a:rPr>
              <a:t>The doctrine of prayer is the ground of the Christian's dependence on God and of his communion with his Saviour.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Prayer is the communication of the believer with the triune God, the chief means of the communion with the Saviour and the ground of the dependence on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Means of Spiritual Growth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means of spiritual growth are the ways by which the Spirit works in the life of the believer to conform him to the image of Christ. The chief means are the word of God, the prayer, the ordinances (the baptism and the Lord's Supper), and the fellowship of the saints. The word is the primary means, for it is the food of the soul and the sword of the Spirit (Heb 4:12; Eph 6:17). The prayer is the means of the communion with God, and the ordinances are the means of the grace received by faith. The fellowship of the saints is the means of the mutual edification and the common worship. The doctrine of the means of grace is the ground of the Christian's growth and of his order in the life.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word of God as the primary means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prayer as the means of the communion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ordinances as the means of the grace received by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fellowship of the saints as the means of the mutual edification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Hebrews 4:12</a:t>
            </a:r>
          </a:p>
          <a:p>
            <a:pPr algn="l">
              <a:lnSpc>
                <a:spcPct val="108000"/>
              </a:lnSpc>
              <a:spcBef>
                <a:spcPts val="0"/>
              </a:spcBef>
              <a:spcAft>
                <a:spcPts val="250"/>
              </a:spcAft>
            </a:pPr>
            <a:r>
              <a:rPr sz="1000" b="0" i="1" u="none">
                <a:solidFill>
                  <a:srgbClr val="232A38"/>
                </a:solidFill>
                <a:latin typeface="Calibri"/>
              </a:rPr>
              <a:t>Ephesians 6:17</a:t>
            </a:r>
          </a:p>
          <a:p>
            <a:pPr algn="l">
              <a:lnSpc>
                <a:spcPct val="108000"/>
              </a:lnSpc>
              <a:spcBef>
                <a:spcPts val="0"/>
              </a:spcBef>
              <a:spcAft>
                <a:spcPts val="250"/>
              </a:spcAft>
            </a:pPr>
            <a:r>
              <a:rPr sz="1000" b="0" i="1" u="none">
                <a:solidFill>
                  <a:srgbClr val="232A38"/>
                </a:solidFill>
                <a:latin typeface="Calibri"/>
              </a:rPr>
              <a:t>Acts 2:42</a:t>
            </a:r>
          </a:p>
          <a:p>
            <a:pPr algn="l">
              <a:lnSpc>
                <a:spcPct val="108000"/>
              </a:lnSpc>
              <a:spcBef>
                <a:spcPts val="0"/>
              </a:spcBef>
              <a:spcAft>
                <a:spcPts val="250"/>
              </a:spcAft>
            </a:pPr>
            <a:r>
              <a:rPr sz="1000" b="0" i="1" u="none">
                <a:solidFill>
                  <a:srgbClr val="232A38"/>
                </a:solidFill>
                <a:latin typeface="Calibri"/>
              </a:rPr>
              <a:t>Psalm 1:2-3</a:t>
            </a:r>
          </a:p>
          <a:p>
            <a:pPr algn="l">
              <a:lnSpc>
                <a:spcPct val="110000"/>
              </a:lnSpc>
              <a:spcBef>
                <a:spcPts val="400"/>
              </a:spcBef>
              <a:spcAft>
                <a:spcPts val="0"/>
              </a:spcAft>
            </a:pPr>
            <a:r>
              <a:rPr sz="950" b="0" i="0" u="none">
                <a:solidFill>
                  <a:srgbClr val="4C566B"/>
                </a:solidFill>
                <a:latin typeface="Calibri"/>
              </a:rPr>
              <a:t>The doctrine of the means of grace is the ground of the Christian's growth and of his order in the life.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means of spiritual growth are the word, the prayer, the ordinances, and the fellowship of the saints, the ways by which the Spirit conforms the believer to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Temptation and the Victory of the Christian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Temptation is the enticement to sin, and it is the work of the world, the flesh, and the devil (James 1:14-15; 1 John 2:16; Eph 6:11). The Christian is not exempt from the temptation but he is enabled to overcome it by the grace of God and the power of the Spirit. The victory of the Christian is the victory of the one who is in Christ, and it is grounded in the provision of God — 'no temptation has overtaken you except such as is common to man; but God is faithful, who will not let you be tempted beyond your ability, but with the temptation will also make the way of escape' (1 Cor 10:13). The doctrine of the victory is the ground of the Christian's confidence in the trial and of his watchfulness.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Temptation as the enticement to sin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three sources: the world, the flesh, the devil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provision of God and the way of escape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confidence in the trial and the watchfulness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10:13</a:t>
            </a:r>
          </a:p>
          <a:p>
            <a:pPr algn="l">
              <a:lnSpc>
                <a:spcPct val="108000"/>
              </a:lnSpc>
              <a:spcBef>
                <a:spcPts val="0"/>
              </a:spcBef>
              <a:spcAft>
                <a:spcPts val="250"/>
              </a:spcAft>
            </a:pPr>
            <a:r>
              <a:rPr sz="1000" b="0" i="1" u="none">
                <a:solidFill>
                  <a:srgbClr val="232A38"/>
                </a:solidFill>
                <a:latin typeface="Calibri"/>
              </a:rPr>
              <a:t>James 1:14-15</a:t>
            </a:r>
          </a:p>
          <a:p>
            <a:pPr algn="l">
              <a:lnSpc>
                <a:spcPct val="108000"/>
              </a:lnSpc>
              <a:spcBef>
                <a:spcPts val="0"/>
              </a:spcBef>
              <a:spcAft>
                <a:spcPts val="250"/>
              </a:spcAft>
            </a:pPr>
            <a:r>
              <a:rPr sz="1000" b="0" i="1" u="none">
                <a:solidFill>
                  <a:srgbClr val="232A38"/>
                </a:solidFill>
                <a:latin typeface="Calibri"/>
              </a:rPr>
              <a:t>1 John 2:16</a:t>
            </a:r>
          </a:p>
          <a:p>
            <a:pPr algn="l">
              <a:lnSpc>
                <a:spcPct val="108000"/>
              </a:lnSpc>
              <a:spcBef>
                <a:spcPts val="0"/>
              </a:spcBef>
              <a:spcAft>
                <a:spcPts val="250"/>
              </a:spcAft>
            </a:pPr>
            <a:r>
              <a:rPr sz="1000" b="0" i="1" u="none">
                <a:solidFill>
                  <a:srgbClr val="232A38"/>
                </a:solidFill>
                <a:latin typeface="Calibri"/>
              </a:rPr>
              <a:t>Ephesians 6:11</a:t>
            </a:r>
          </a:p>
          <a:p>
            <a:pPr algn="l">
              <a:lnSpc>
                <a:spcPct val="110000"/>
              </a:lnSpc>
              <a:spcBef>
                <a:spcPts val="400"/>
              </a:spcBef>
              <a:spcAft>
                <a:spcPts val="0"/>
              </a:spcAft>
            </a:pPr>
            <a:r>
              <a:rPr sz="950" b="0" i="0" u="none">
                <a:solidFill>
                  <a:srgbClr val="4C566B"/>
                </a:solidFill>
                <a:latin typeface="Calibri"/>
              </a:rPr>
              <a:t>The doctrine of the victory over temptation is the ground of the Christian's confidence in the trial and of his watchfulness.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is enabled to overcome the temptation by the grace of God and the power of the Spirit, with the way of escape that God provides.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Perseverance and Endurance in the Faith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Perseverance is the continuing in the faith to the end, and endurance is the sustaining of the believer in the trial and in the weakness. The Scripture commands the believer to 'endure to the end' (Matt 24:13) and to 'finish the race with endurance' (Heb 12:1). The perseverance of the believer is the work of God, who keeps him by his power (1 Pet 1:5), and it is the ground of the assurance of the Christian. The endurance in the trial is the means by which the believer is conformed to the image of Christ and is made perfect in the faith (James 1:2-4). The doctrine of the perseverance and the endurance is the ground of the Christian's confidence and of his holy living.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Perseverance as the continuing in the faith to the end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Endurance as the sustaining in the trial and the weakness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work of God who keeps the believer by his power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assurance and the holy living</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24:13</a:t>
            </a:r>
          </a:p>
          <a:p>
            <a:pPr algn="l">
              <a:lnSpc>
                <a:spcPct val="108000"/>
              </a:lnSpc>
              <a:spcBef>
                <a:spcPts val="0"/>
              </a:spcBef>
              <a:spcAft>
                <a:spcPts val="250"/>
              </a:spcAft>
            </a:pPr>
            <a:r>
              <a:rPr sz="1000" b="0" i="1" u="none">
                <a:solidFill>
                  <a:srgbClr val="232A38"/>
                </a:solidFill>
                <a:latin typeface="Calibri"/>
              </a:rPr>
              <a:t>Hebrews 12:1</a:t>
            </a:r>
          </a:p>
          <a:p>
            <a:pPr algn="l">
              <a:lnSpc>
                <a:spcPct val="108000"/>
              </a:lnSpc>
              <a:spcBef>
                <a:spcPts val="0"/>
              </a:spcBef>
              <a:spcAft>
                <a:spcPts val="250"/>
              </a:spcAft>
            </a:pPr>
            <a:r>
              <a:rPr sz="1000" b="0" i="1" u="none">
                <a:solidFill>
                  <a:srgbClr val="232A38"/>
                </a:solidFill>
                <a:latin typeface="Calibri"/>
              </a:rPr>
              <a:t>1 Peter 1:5</a:t>
            </a:r>
          </a:p>
          <a:p>
            <a:pPr algn="l">
              <a:lnSpc>
                <a:spcPct val="108000"/>
              </a:lnSpc>
              <a:spcBef>
                <a:spcPts val="0"/>
              </a:spcBef>
              <a:spcAft>
                <a:spcPts val="250"/>
              </a:spcAft>
            </a:pPr>
            <a:r>
              <a:rPr sz="1000" b="0" i="1" u="none">
                <a:solidFill>
                  <a:srgbClr val="232A38"/>
                </a:solidFill>
                <a:latin typeface="Calibri"/>
              </a:rPr>
              <a:t>James 1:2-4</a:t>
            </a:r>
          </a:p>
          <a:p>
            <a:pPr algn="l">
              <a:lnSpc>
                <a:spcPct val="110000"/>
              </a:lnSpc>
              <a:spcBef>
                <a:spcPts val="400"/>
              </a:spcBef>
              <a:spcAft>
                <a:spcPts val="0"/>
              </a:spcAft>
            </a:pPr>
            <a:r>
              <a:rPr sz="950" b="0" i="0" u="none">
                <a:solidFill>
                  <a:srgbClr val="4C566B"/>
                </a:solidFill>
                <a:latin typeface="Calibri"/>
              </a:rPr>
              <a:t>The doctrine of the perseverance and the endurance is the ground of the Christian's confidence and of his holy living.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believer is kept by the power of God to persevere in the faith to the end, the ground of the assurance and the endurance in the trial.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Trials and Sufferings of the Christian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139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trials and sufferings of the Christian are the means by which God conforms the believer to the image of Christ and refines the faith (1 Pet 1:6-7; Jas 1:2-4). The Scripture does not promise the absence of the trial but it promises the presence of God in the trial and the ultimate good of the sufferings (Rom 8:28; 2 Cor 4:17-18). The sufferings of the Christian are the participation in the sufferings of Christ (Phil 3:10; 1 Pet 4:13), and they are the ground of the sympathy of the believer and of the glory that is to be revealed. The doctrine of the trials is the ground of the Christian's contentment in the weakness and of his hope in the suffering.</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trials as the means of the conformity to the image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presence of God in the trial and the ultimate good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participation in the sufferings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contentment in the weakness and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8:28</a:t>
            </a:r>
          </a:p>
          <a:p>
            <a:pPr algn="l">
              <a:lnSpc>
                <a:spcPct val="108000"/>
              </a:lnSpc>
              <a:spcBef>
                <a:spcPts val="0"/>
              </a:spcBef>
              <a:spcAft>
                <a:spcPts val="250"/>
              </a:spcAft>
            </a:pPr>
            <a:r>
              <a:rPr sz="1000" b="0" i="1" u="none">
                <a:solidFill>
                  <a:srgbClr val="232A38"/>
                </a:solidFill>
                <a:latin typeface="Calibri"/>
              </a:rPr>
              <a:t>2 Corinthians 4:17-18</a:t>
            </a:r>
          </a:p>
          <a:p>
            <a:pPr algn="l">
              <a:lnSpc>
                <a:spcPct val="108000"/>
              </a:lnSpc>
              <a:spcBef>
                <a:spcPts val="0"/>
              </a:spcBef>
              <a:spcAft>
                <a:spcPts val="250"/>
              </a:spcAft>
            </a:pPr>
            <a:r>
              <a:rPr sz="1000" b="0" i="1" u="none">
                <a:solidFill>
                  <a:srgbClr val="232A38"/>
                </a:solidFill>
                <a:latin typeface="Calibri"/>
              </a:rPr>
              <a:t>1 Peter 1:6-7</a:t>
            </a:r>
          </a:p>
          <a:p>
            <a:pPr algn="l">
              <a:lnSpc>
                <a:spcPct val="108000"/>
              </a:lnSpc>
              <a:spcBef>
                <a:spcPts val="0"/>
              </a:spcBef>
              <a:spcAft>
                <a:spcPts val="250"/>
              </a:spcAft>
            </a:pPr>
            <a:r>
              <a:rPr sz="1000" b="0" i="1" u="none">
                <a:solidFill>
                  <a:srgbClr val="232A38"/>
                </a:solidFill>
                <a:latin typeface="Calibri"/>
              </a:rPr>
              <a:t>Philippians 3:10</a:t>
            </a:r>
          </a:p>
          <a:p>
            <a:pPr algn="l">
              <a:lnSpc>
                <a:spcPct val="110000"/>
              </a:lnSpc>
              <a:spcBef>
                <a:spcPts val="400"/>
              </a:spcBef>
              <a:spcAft>
                <a:spcPts val="0"/>
              </a:spcAft>
            </a:pPr>
            <a:r>
              <a:rPr sz="950" b="0" i="0" u="none">
                <a:solidFill>
                  <a:srgbClr val="4C566B"/>
                </a:solidFill>
                <a:latin typeface="Calibri"/>
              </a:rPr>
              <a:t>The doctrine of the trials is the ground of the Christian's contentment in the weakness and of his hope in the suffering.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trials of the Christian are the means by which God conforms the believer to the image of Christ, with the presence of God and the ultimate good of the sufferings.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Devotion and Christian Discipline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Devotion is the daily commitment of the believer to the things of God, and Christian discipline is the ordering of the life for the glory of God. The devotion includes the daily reading of the word, the prayer, the meditation, and the examination of the conscience. The Christian discipline is the training of the body and the mind for the holy living (1 Tim 4:7-8; Heb 5:14). The devotion and the discipline are the means by which the believer grows in the grace and in the knowledge of the Saviour (2 Pet 3:18), and they are the ground of the maturity of the Christian. The doctrine of the devotion and the discipline is the practical side of the doctrine of sanctification.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Devotion as the daily commitment to the things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Christian discipline as the training for the holy living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means of the growth in the grace and the knowledge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maturity of the Christian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Timothy 4:7-8</a:t>
            </a:r>
          </a:p>
          <a:p>
            <a:pPr algn="l">
              <a:lnSpc>
                <a:spcPct val="108000"/>
              </a:lnSpc>
              <a:spcBef>
                <a:spcPts val="0"/>
              </a:spcBef>
              <a:spcAft>
                <a:spcPts val="250"/>
              </a:spcAft>
            </a:pPr>
            <a:r>
              <a:rPr sz="1000" b="0" i="1" u="none">
                <a:solidFill>
                  <a:srgbClr val="232A38"/>
                </a:solidFill>
                <a:latin typeface="Calibri"/>
              </a:rPr>
              <a:t>Hebrews 5:14</a:t>
            </a:r>
          </a:p>
          <a:p>
            <a:pPr algn="l">
              <a:lnSpc>
                <a:spcPct val="108000"/>
              </a:lnSpc>
              <a:spcBef>
                <a:spcPts val="0"/>
              </a:spcBef>
              <a:spcAft>
                <a:spcPts val="250"/>
              </a:spcAft>
            </a:pPr>
            <a:r>
              <a:rPr sz="1000" b="0" i="1" u="none">
                <a:solidFill>
                  <a:srgbClr val="232A38"/>
                </a:solidFill>
                <a:latin typeface="Calibri"/>
              </a:rPr>
              <a:t>2 Peter 3:18</a:t>
            </a:r>
          </a:p>
          <a:p>
            <a:pPr algn="l">
              <a:lnSpc>
                <a:spcPct val="108000"/>
              </a:lnSpc>
              <a:spcBef>
                <a:spcPts val="0"/>
              </a:spcBef>
              <a:spcAft>
                <a:spcPts val="250"/>
              </a:spcAft>
            </a:pPr>
            <a:r>
              <a:rPr sz="1000" b="0" i="1" u="none">
                <a:solidFill>
                  <a:srgbClr val="232A38"/>
                </a:solidFill>
                <a:latin typeface="Calibri"/>
              </a:rPr>
              <a:t>Psalm 1:2-3</a:t>
            </a:r>
          </a:p>
          <a:p>
            <a:pPr algn="l">
              <a:lnSpc>
                <a:spcPct val="110000"/>
              </a:lnSpc>
              <a:spcBef>
                <a:spcPts val="400"/>
              </a:spcBef>
              <a:spcAft>
                <a:spcPts val="0"/>
              </a:spcAft>
            </a:pPr>
            <a:r>
              <a:rPr sz="950" b="0" i="0" u="none">
                <a:solidFill>
                  <a:srgbClr val="4C566B"/>
                </a:solidFill>
                <a:latin typeface="Calibri"/>
              </a:rPr>
              <a:t>The doctrine of the devotion and the discipline is the practical side of the doctrine of sanctification and the ground of the maturity.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devotion and the Christian discipline are the means by which the believer grows in the grace and in the knowledge of the Saviour, the ground of the maturity.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Christian Stewardship of Time, Money and Talent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Christian stewardship is the management of the gifts of God — the time, the money, and the talent — for the glory of God and the good of the neighbour. The time is to be redeemed, 'redeeming the time, because the days are evil' (Eph 5:16). The money is to be given with the generosity of the gospel (2 Cor 9:6-8; Matt 6:19-21). The talent is to be developed for the service of the King (Matt 25:14-30). The doctrine of the stewardship is the ground of the Christian's order in the life and of his witness to the world. The believer is the steward of the gifts of God, and he is to manage them for the glory of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time to be redeemed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money to be given with the generosity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talent to be developed for the service of the King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order in the life and the witness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5:16</a:t>
            </a:r>
          </a:p>
          <a:p>
            <a:pPr algn="l">
              <a:lnSpc>
                <a:spcPct val="108000"/>
              </a:lnSpc>
              <a:spcBef>
                <a:spcPts val="0"/>
              </a:spcBef>
              <a:spcAft>
                <a:spcPts val="250"/>
              </a:spcAft>
            </a:pPr>
            <a:r>
              <a:rPr sz="1000" b="0" i="1" u="none">
                <a:solidFill>
                  <a:srgbClr val="232A38"/>
                </a:solidFill>
                <a:latin typeface="Calibri"/>
              </a:rPr>
              <a:t>2 Corinthians 9:6-8</a:t>
            </a:r>
          </a:p>
          <a:p>
            <a:pPr algn="l">
              <a:lnSpc>
                <a:spcPct val="108000"/>
              </a:lnSpc>
              <a:spcBef>
                <a:spcPts val="0"/>
              </a:spcBef>
              <a:spcAft>
                <a:spcPts val="250"/>
              </a:spcAft>
            </a:pPr>
            <a:r>
              <a:rPr sz="1000" b="0" i="1" u="none">
                <a:solidFill>
                  <a:srgbClr val="232A38"/>
                </a:solidFill>
                <a:latin typeface="Calibri"/>
              </a:rPr>
              <a:t>Matthew 25:14-30</a:t>
            </a:r>
          </a:p>
          <a:p>
            <a:pPr algn="l">
              <a:lnSpc>
                <a:spcPct val="108000"/>
              </a:lnSpc>
              <a:spcBef>
                <a:spcPts val="0"/>
              </a:spcBef>
              <a:spcAft>
                <a:spcPts val="250"/>
              </a:spcAft>
            </a:pPr>
            <a:r>
              <a:rPr sz="1000" b="0" i="1" u="none">
                <a:solidFill>
                  <a:srgbClr val="232A38"/>
                </a:solidFill>
                <a:latin typeface="Calibri"/>
              </a:rPr>
              <a:t>1 Peter 4:10</a:t>
            </a:r>
          </a:p>
          <a:p>
            <a:pPr algn="l">
              <a:lnSpc>
                <a:spcPct val="110000"/>
              </a:lnSpc>
              <a:spcBef>
                <a:spcPts val="400"/>
              </a:spcBef>
              <a:spcAft>
                <a:spcPts val="0"/>
              </a:spcAft>
            </a:pPr>
            <a:r>
              <a:rPr sz="950" b="0" i="0" u="none">
                <a:solidFill>
                  <a:srgbClr val="4C566B"/>
                </a:solidFill>
                <a:latin typeface="Calibri"/>
              </a:rPr>
              <a:t>The doctrine of the stewardship is the ground of the Christian's order in the life and of his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is the steward of the gifts of God — the time, the money, and the talent — to be managed for the glory of God and the good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Christian Joy and Contentment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joy is the joy that is in Christ, and it is the fruit of the Spirit and the ground of the Christian's witness (John 15:11; 17:13; Gal 5:22). The contentment is the sufficiency of the believer in Christ, independent of the circumstances (Phil 4:11-13; 1 Tim 6:6-8). The joy and the contentment are the marks of the mature Christian and the ground of the witness to the world. The Scripture presents the joy of the believer in the midst of the trial (1 Pet 1:6-9) and the contentment of the one who knows the Saviour (Phil 3:8). The doctrine of the joy and the contentment is the ground of the Christian's witness and of his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Christian joy as the joy that is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contentment as the sufficiency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marks of the mature Christian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witness to the world and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15:11</a:t>
            </a:r>
          </a:p>
          <a:p>
            <a:pPr algn="l">
              <a:lnSpc>
                <a:spcPct val="108000"/>
              </a:lnSpc>
              <a:spcBef>
                <a:spcPts val="0"/>
              </a:spcBef>
              <a:spcAft>
                <a:spcPts val="250"/>
              </a:spcAft>
            </a:pPr>
            <a:r>
              <a:rPr sz="1000" b="0" i="1" u="none">
                <a:solidFill>
                  <a:srgbClr val="232A38"/>
                </a:solidFill>
                <a:latin typeface="Calibri"/>
              </a:rPr>
              <a:t>Philippians 4:11-13</a:t>
            </a:r>
          </a:p>
          <a:p>
            <a:pPr algn="l">
              <a:lnSpc>
                <a:spcPct val="108000"/>
              </a:lnSpc>
              <a:spcBef>
                <a:spcPts val="0"/>
              </a:spcBef>
              <a:spcAft>
                <a:spcPts val="250"/>
              </a:spcAft>
            </a:pPr>
            <a:r>
              <a:rPr sz="1000" b="0" i="1" u="none">
                <a:solidFill>
                  <a:srgbClr val="232A38"/>
                </a:solidFill>
                <a:latin typeface="Calibri"/>
              </a:rPr>
              <a:t>1 Timothy 6:6-8</a:t>
            </a:r>
          </a:p>
          <a:p>
            <a:pPr algn="l">
              <a:lnSpc>
                <a:spcPct val="108000"/>
              </a:lnSpc>
              <a:spcBef>
                <a:spcPts val="0"/>
              </a:spcBef>
              <a:spcAft>
                <a:spcPts val="250"/>
              </a:spcAft>
            </a:pPr>
            <a:r>
              <a:rPr sz="1000" b="0" i="1" u="none">
                <a:solidFill>
                  <a:srgbClr val="232A38"/>
                </a:solidFill>
                <a:latin typeface="Calibri"/>
              </a:rPr>
              <a:t>1 Peter 1:6-9</a:t>
            </a:r>
          </a:p>
          <a:p>
            <a:pPr algn="l">
              <a:lnSpc>
                <a:spcPct val="110000"/>
              </a:lnSpc>
              <a:spcBef>
                <a:spcPts val="400"/>
              </a:spcBef>
              <a:spcAft>
                <a:spcPts val="0"/>
              </a:spcAft>
            </a:pPr>
            <a:r>
              <a:rPr sz="950" b="0" i="0" u="none">
                <a:solidFill>
                  <a:srgbClr val="4C566B"/>
                </a:solidFill>
                <a:latin typeface="Calibri"/>
              </a:rPr>
              <a:t>The doctrine of the joy and the contentment is the ground of the Christian's witness and of his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joy and contentment are the fruit of the Spirit and the marks of the mature Christian, the ground of the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Family in the Formation of the Christian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family is the primary context of the formation of the Christian, and it is the first school of the faith. The Scripture commands the parents to bring up the children in the training and the instruction of the Lord (Eph 6:4; Deut 6:6-9; Prov 22:6). The family is the place of the daily devotion, the mutual edification, and the example of the holy living. The marriage is the covenant of the love of Christ and the Church (Eph 5:25-33), and the home is the church in miniature. The doctrine of the family is the ground of the Christian's communal life and of the formation of the next generation of the believers.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family as the primary context of the formation of the Christian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training and the instruction of the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marriage as the covenant of the love of Christ and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home as the church in miniature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6:4</a:t>
            </a:r>
          </a:p>
          <a:p>
            <a:pPr algn="l">
              <a:lnSpc>
                <a:spcPct val="108000"/>
              </a:lnSpc>
              <a:spcBef>
                <a:spcPts val="0"/>
              </a:spcBef>
              <a:spcAft>
                <a:spcPts val="250"/>
              </a:spcAft>
            </a:pPr>
            <a:r>
              <a:rPr sz="1000" b="0" i="1" u="none">
                <a:solidFill>
                  <a:srgbClr val="232A38"/>
                </a:solidFill>
                <a:latin typeface="Calibri"/>
              </a:rPr>
              <a:t>Deuteronomy 6:6-9</a:t>
            </a:r>
          </a:p>
          <a:p>
            <a:pPr algn="l">
              <a:lnSpc>
                <a:spcPct val="108000"/>
              </a:lnSpc>
              <a:spcBef>
                <a:spcPts val="0"/>
              </a:spcBef>
              <a:spcAft>
                <a:spcPts val="250"/>
              </a:spcAft>
            </a:pPr>
            <a:r>
              <a:rPr sz="1000" b="0" i="1" u="none">
                <a:solidFill>
                  <a:srgbClr val="232A38"/>
                </a:solidFill>
                <a:latin typeface="Calibri"/>
              </a:rPr>
              <a:t>Proverbs 22:6</a:t>
            </a:r>
          </a:p>
          <a:p>
            <a:pPr algn="l">
              <a:lnSpc>
                <a:spcPct val="108000"/>
              </a:lnSpc>
              <a:spcBef>
                <a:spcPts val="0"/>
              </a:spcBef>
              <a:spcAft>
                <a:spcPts val="250"/>
              </a:spcAft>
            </a:pPr>
            <a:r>
              <a:rPr sz="1000" b="0" i="1" u="none">
                <a:solidFill>
                  <a:srgbClr val="232A38"/>
                </a:solidFill>
                <a:latin typeface="Calibri"/>
              </a:rPr>
              <a:t>Ephesians 5:25-33</a:t>
            </a:r>
          </a:p>
          <a:p>
            <a:pPr algn="l">
              <a:lnSpc>
                <a:spcPct val="110000"/>
              </a:lnSpc>
              <a:spcBef>
                <a:spcPts val="400"/>
              </a:spcBef>
              <a:spcAft>
                <a:spcPts val="0"/>
              </a:spcAft>
            </a:pPr>
            <a:r>
              <a:rPr sz="950" b="0" i="0" u="none">
                <a:solidFill>
                  <a:srgbClr val="4C566B"/>
                </a:solidFill>
                <a:latin typeface="Calibri"/>
              </a:rPr>
              <a:t>The doctrine of the family is the ground of the Christian's communal life and of the formation of the next generation.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family is the primary context of the formation of the Christian, the first school of the faith and the place of the daily devotion and the example.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11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Living the Christian Life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module has brought the doctrine of the Christian life to a summary. The Christian life is the life of the one who is in Christ, and it is to be lived in the light of the word, by the means of the grace, and for the glory of God. The believer is to walk in the law of God as the rule of life, to pray with the regularity and the earnestness of the gospel, to grow by the means of the grace, to overcome the temptation by the power of the Spirit, and to steward the gifts of God for the glory of God. The Christian life is the outworking of the salvation, and it is the ground of the witness to the world. The doctrine of the Christian life is the practical side of the whole of the theology.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life as the life in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walking in the law, the prayer, and the means of the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victory over the temptation by the power of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stewardship of the gifts of God for the glory of God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12:1-2</a:t>
            </a:r>
          </a:p>
          <a:p>
            <a:pPr algn="l">
              <a:lnSpc>
                <a:spcPct val="108000"/>
              </a:lnSpc>
              <a:spcBef>
                <a:spcPts val="0"/>
              </a:spcBef>
              <a:spcAft>
                <a:spcPts val="250"/>
              </a:spcAft>
            </a:pPr>
            <a:r>
              <a:rPr sz="1000" b="0" i="1" u="none">
                <a:solidFill>
                  <a:srgbClr val="232A38"/>
                </a:solidFill>
                <a:latin typeface="Calibri"/>
              </a:rPr>
              <a:t>Galatians 5:16-25</a:t>
            </a:r>
          </a:p>
          <a:p>
            <a:pPr algn="l">
              <a:lnSpc>
                <a:spcPct val="108000"/>
              </a:lnSpc>
              <a:spcBef>
                <a:spcPts val="0"/>
              </a:spcBef>
              <a:spcAft>
                <a:spcPts val="250"/>
              </a:spcAft>
            </a:pPr>
            <a:r>
              <a:rPr sz="1000" b="0" i="1" u="none">
                <a:solidFill>
                  <a:srgbClr val="232A38"/>
                </a:solidFill>
                <a:latin typeface="Calibri"/>
              </a:rPr>
              <a:t>Ephesians 4:1-16</a:t>
            </a:r>
          </a:p>
          <a:p>
            <a:pPr algn="l">
              <a:lnSpc>
                <a:spcPct val="108000"/>
              </a:lnSpc>
              <a:spcBef>
                <a:spcPts val="0"/>
              </a:spcBef>
              <a:spcAft>
                <a:spcPts val="250"/>
              </a:spcAft>
            </a:pPr>
            <a:r>
              <a:rPr sz="1000" b="0" i="1" u="none">
                <a:solidFill>
                  <a:srgbClr val="232A38"/>
                </a:solidFill>
                <a:latin typeface="Calibri"/>
              </a:rPr>
              <a:t>Colossians 3:1-17</a:t>
            </a:r>
          </a:p>
          <a:p>
            <a:pPr algn="l">
              <a:lnSpc>
                <a:spcPct val="110000"/>
              </a:lnSpc>
              <a:spcBef>
                <a:spcPts val="400"/>
              </a:spcBef>
              <a:spcAft>
                <a:spcPts val="0"/>
              </a:spcAft>
            </a:pPr>
            <a:r>
              <a:rPr sz="950" b="0" i="0" u="none">
                <a:solidFill>
                  <a:srgbClr val="4C566B"/>
                </a:solidFill>
                <a:latin typeface="Calibri"/>
              </a:rPr>
              <a:t>The doctrine of the Christian life is the practical side of the whole of the theology and the ground of the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life is the life of the one who is in Christ, to be lived in the light of the word, by the means of the grace, and for the glory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11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 Christian Life and Spiritual Formation</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Christian life is the life of the one who is in Christ, the new creation, marked by the union with Christ and the indwelling of the Spirit.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believer walks in the law as the rule of life, prays with the earnestness of the gospel, and grows by the means of the grace.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temptation is overcome by the power of the Spirit, the trial is borne with the contentment of the gospel, and the gifts of God are stewarded for his glory.</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Christian life is the outworking of the salvation and the ground of the witness to the world.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Christian life is the practical side of the doctrines of sanctification and of the Spirit; it flows from the person and work of Christ and is the ground of the witness of the Church.</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Christian life in its daily walk, the programme turns to the application of the faith to the moral order: the doctrine of Christian ethics.</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12 · Christian Ethics</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12</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CHRISTIAN ETHICS</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Christian life in its daily walk, the programme turns to the application of the faith to the moral order: the doctrine of Christian ethics.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8138160" y="3039465"/>
            <a:ext cx="3108959"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0" y="3039465"/>
            <a:ext cx="0" cy="1188720"/>
          </a:xfrm>
          <a:prstGeom prst="line">
            <a:avLst/>
          </a:prstGeom>
          <a:ln w="1524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686800" y="4273905"/>
            <a:ext cx="2011680" cy="0"/>
          </a:xfrm>
          <a:prstGeom prst="line">
            <a:avLst/>
          </a:prstGeom>
          <a:ln w="1524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138160" y="3039465"/>
            <a:ext cx="0" cy="45720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863840" y="3496665"/>
            <a:ext cx="54864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7863840"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8138160"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247119" y="3039465"/>
            <a:ext cx="0" cy="45720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972799" y="3496665"/>
            <a:ext cx="548641"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0972799" y="3204057"/>
            <a:ext cx="274320"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1247119" y="3204057"/>
            <a:ext cx="274321" cy="292608"/>
          </a:xfrm>
          <a:prstGeom prst="line">
            <a:avLst/>
          </a:prstGeom>
          <a:ln w="1143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628632" y="2975457"/>
            <a:ext cx="128016" cy="128016"/>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12</a:t>
            </a:r>
          </a:p>
        </p:txBody>
      </p:sp>
      <p:sp>
        <p:nvSpPr>
          <p:cNvPr id="18" name="TextBox 17"/>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12</a:t>
            </a:r>
          </a:p>
        </p:txBody>
      </p:sp>
      <p:sp>
        <p:nvSpPr>
          <p:cNvPr id="19" name="TextBox 18"/>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CHRISTIAN ETHICS</a:t>
            </a:r>
          </a:p>
        </p:txBody>
      </p:sp>
      <p:cxnSp>
        <p:nvCxnSpPr>
          <p:cNvPr id="20" name="Connector 19"/>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moral order of the faith: the Decalogue, the Sermon on the Mount, and the application to the world.</a:t>
            </a:r>
          </a:p>
        </p:txBody>
      </p:sp>
      <p:sp>
        <p:nvSpPr>
          <p:cNvPr id="22" name="Rectangle 21"/>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182112"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12</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CHRISTIAN ETHICS</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Christian Ethics</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Christian ethics is the application of the faith to the moral order: the sources of the Christian morality, the law of God as the basis of the conduct, and the application of the faith to the personal, the social, and the public life. It treats the moral life of the believer and the moral responsibility of the Church in the world.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Christian ethics is grounded in the character of God and the work of Christ. The Decalogue is the basis of the moral order, the Sermon on the Mount the exposition of the mind of Christ. It is not a system of rules but the life of the one in Christ.</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Christian ethics is the ground of the moral life of the believer and of the moral responsibility of the Church in the world. It answers the practical questions of the life — how to live, how to work, how to relate to the neighbour, and how to engage the public life.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sources of the Christian ethics and to apply the faith to the personal, the social, and the public life in the light of the word of God.</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Sources of Christian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ethics is the study of the moral life of the believer in the light of the word of God. It is distinct from the secular ethics in that it is grounded in the character of God and in the work of Christ, and it is normative in that it is governed by the word of God. The sources of the Christian ethics are the character of God, the law of God, the example of Christ, and the teaching of the apostles. The Christian ethics is not a system of rules but the life of the one who is in Christ, and it is the ground of the moral order of the society. The doctrine of the sources is the ground of the whole of the Christian ethics.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Christian ethics as the moral life in the light of the word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from the secular ethics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sources: the character of God, the law, the example of Christ, the apostles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Micah 6:8</a:t>
            </a:r>
          </a:p>
          <a:p>
            <a:pPr algn="l">
              <a:lnSpc>
                <a:spcPct val="108000"/>
              </a:lnSpc>
              <a:spcBef>
                <a:spcPts val="0"/>
              </a:spcBef>
              <a:spcAft>
                <a:spcPts val="250"/>
              </a:spcAft>
            </a:pPr>
            <a:r>
              <a:rPr sz="1000" b="0" i="1" u="none">
                <a:solidFill>
                  <a:srgbClr val="232A38"/>
                </a:solidFill>
                <a:latin typeface="Calibri"/>
              </a:rPr>
              <a:t>Romans 12:1-2</a:t>
            </a:r>
          </a:p>
          <a:p>
            <a:pPr algn="l">
              <a:lnSpc>
                <a:spcPct val="108000"/>
              </a:lnSpc>
              <a:spcBef>
                <a:spcPts val="0"/>
              </a:spcBef>
              <a:spcAft>
                <a:spcPts val="250"/>
              </a:spcAft>
            </a:pPr>
            <a:r>
              <a:rPr sz="1000" b="0" i="1" u="none">
                <a:solidFill>
                  <a:srgbClr val="232A38"/>
                </a:solidFill>
                <a:latin typeface="Calibri"/>
              </a:rPr>
              <a:t>Matthew 5:17-20</a:t>
            </a:r>
          </a:p>
          <a:p>
            <a:pPr algn="l">
              <a:lnSpc>
                <a:spcPct val="108000"/>
              </a:lnSpc>
              <a:spcBef>
                <a:spcPts val="0"/>
              </a:spcBef>
              <a:spcAft>
                <a:spcPts val="250"/>
              </a:spcAft>
            </a:pPr>
            <a:r>
              <a:rPr sz="1000" b="0" i="1" u="none">
                <a:solidFill>
                  <a:srgbClr val="232A38"/>
                </a:solidFill>
                <a:latin typeface="Calibri"/>
              </a:rPr>
              <a:t>1 John 2:3-6</a:t>
            </a:r>
          </a:p>
          <a:p>
            <a:pPr algn="l">
              <a:lnSpc>
                <a:spcPct val="110000"/>
              </a:lnSpc>
              <a:spcBef>
                <a:spcPts val="400"/>
              </a:spcBef>
              <a:spcAft>
                <a:spcPts val="0"/>
              </a:spcAft>
            </a:pPr>
            <a:r>
              <a:rPr sz="950" b="0" i="0" u="none">
                <a:solidFill>
                  <a:srgbClr val="4C566B"/>
                </a:solidFill>
                <a:latin typeface="Calibri"/>
              </a:rPr>
              <a:t>The doctrine of the sources of the Christian ethics is the ground of the whole of the Christian moral teaching.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is grounded in the character of God and in the work of Christ, and it is the life of the one who is in Christ, the ground of the moral order.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Decalogue as the Basis of Christian Conduct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Decalogue is the summary of the moral law of God, and it is the basis of the Christian conduct. The Ten Commandments are divided into the duties to God (the first table) and the duties to the neighbour (the second table). The first table includes the commands against idolatry, the misuse of the name of God, and the neglect of the sabbath. The second table includes the commands against the murder, the adultery, the theft, the false witness, and the covetousness. The Decalogue is the summary of the moral will of God, and it is the ground of the moral order of the society. The doctrine of the Decalogue is the ground of the Christian's moral life and of the moral responsibility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Decalogue as the summary of the moral law</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first table: the duties to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second table: the duties to the neighbour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Exodus 20:1-17</a:t>
            </a:r>
          </a:p>
          <a:p>
            <a:pPr algn="l">
              <a:lnSpc>
                <a:spcPct val="108000"/>
              </a:lnSpc>
              <a:spcBef>
                <a:spcPts val="0"/>
              </a:spcBef>
              <a:spcAft>
                <a:spcPts val="250"/>
              </a:spcAft>
            </a:pPr>
            <a:r>
              <a:rPr sz="1000" b="0" i="1" u="none">
                <a:solidFill>
                  <a:srgbClr val="232A38"/>
                </a:solidFill>
                <a:latin typeface="Calibri"/>
              </a:rPr>
              <a:t>Deuteronomy 5:6-21</a:t>
            </a:r>
          </a:p>
          <a:p>
            <a:pPr algn="l">
              <a:lnSpc>
                <a:spcPct val="108000"/>
              </a:lnSpc>
              <a:spcBef>
                <a:spcPts val="0"/>
              </a:spcBef>
              <a:spcAft>
                <a:spcPts val="250"/>
              </a:spcAft>
            </a:pPr>
            <a:r>
              <a:rPr sz="1000" b="0" i="1" u="none">
                <a:solidFill>
                  <a:srgbClr val="232A38"/>
                </a:solidFill>
                <a:latin typeface="Calibri"/>
              </a:rPr>
              <a:t>Romans 13:8-10</a:t>
            </a:r>
          </a:p>
          <a:p>
            <a:pPr algn="l">
              <a:lnSpc>
                <a:spcPct val="108000"/>
              </a:lnSpc>
              <a:spcBef>
                <a:spcPts val="0"/>
              </a:spcBef>
              <a:spcAft>
                <a:spcPts val="250"/>
              </a:spcAft>
            </a:pPr>
            <a:r>
              <a:rPr sz="1000" b="0" i="1" u="none">
                <a:solidFill>
                  <a:srgbClr val="232A38"/>
                </a:solidFill>
                <a:latin typeface="Calibri"/>
              </a:rPr>
              <a:t>Matthew 19:17-19</a:t>
            </a:r>
          </a:p>
          <a:p>
            <a:pPr algn="l">
              <a:lnSpc>
                <a:spcPct val="110000"/>
              </a:lnSpc>
              <a:spcBef>
                <a:spcPts val="400"/>
              </a:spcBef>
              <a:spcAft>
                <a:spcPts val="0"/>
              </a:spcAft>
            </a:pPr>
            <a:r>
              <a:rPr sz="950" b="0" i="0" u="none">
                <a:solidFill>
                  <a:srgbClr val="4C566B"/>
                </a:solidFill>
                <a:latin typeface="Calibri"/>
              </a:rPr>
              <a:t>The Decalogue is the summary of the moral law of God and the ground of the moral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Decalogue is the summary of the moral law of God, the basis of the Christian conduct and the ground of the moral order of the society.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Sermon on the Mount as Christian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Sermon on the Mount is the exposition of the mind of Christ, and it is the summary of the Christian ethics. It includes the beatitudes, the exposition of the law, and the teaching on the kingdom. The beatitudes are the description of the life of the kingdom, and the exposition of the law is the fulfilment of the Decalogue in the mind of Christ (Matt 5:17-48). The Sermon on the Mount is the standard of the Christian ethics, and it is the ground of the moral life of the believer. The doctrine of the Sermon on the Mount is the ground of the Christian's holiness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Sermon on the Mount as the exposition of the mind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beatitudes as the description of the life of the kingdom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fulfilment of the law in the mind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Christian's holiness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5:1-12</a:t>
            </a:r>
          </a:p>
          <a:p>
            <a:pPr algn="l">
              <a:lnSpc>
                <a:spcPct val="108000"/>
              </a:lnSpc>
              <a:spcBef>
                <a:spcPts val="0"/>
              </a:spcBef>
              <a:spcAft>
                <a:spcPts val="250"/>
              </a:spcAft>
            </a:pPr>
            <a:r>
              <a:rPr sz="1000" b="0" i="1" u="none">
                <a:solidFill>
                  <a:srgbClr val="232A38"/>
                </a:solidFill>
                <a:latin typeface="Calibri"/>
              </a:rPr>
              <a:t>Matthew 5:17-48</a:t>
            </a:r>
          </a:p>
          <a:p>
            <a:pPr algn="l">
              <a:lnSpc>
                <a:spcPct val="108000"/>
              </a:lnSpc>
              <a:spcBef>
                <a:spcPts val="0"/>
              </a:spcBef>
              <a:spcAft>
                <a:spcPts val="250"/>
              </a:spcAft>
            </a:pPr>
            <a:r>
              <a:rPr sz="1000" b="0" i="1" u="none">
                <a:solidFill>
                  <a:srgbClr val="232A38"/>
                </a:solidFill>
                <a:latin typeface="Calibri"/>
              </a:rPr>
              <a:t>Matthew 6:1-18</a:t>
            </a:r>
          </a:p>
          <a:p>
            <a:pPr algn="l">
              <a:lnSpc>
                <a:spcPct val="108000"/>
              </a:lnSpc>
              <a:spcBef>
                <a:spcPts val="0"/>
              </a:spcBef>
              <a:spcAft>
                <a:spcPts val="250"/>
              </a:spcAft>
            </a:pPr>
            <a:r>
              <a:rPr sz="1000" b="0" i="1" u="none">
                <a:solidFill>
                  <a:srgbClr val="232A38"/>
                </a:solidFill>
                <a:latin typeface="Calibri"/>
              </a:rPr>
              <a:t>Matthew 7:1-29</a:t>
            </a:r>
          </a:p>
          <a:p>
            <a:pPr algn="l">
              <a:lnSpc>
                <a:spcPct val="110000"/>
              </a:lnSpc>
              <a:spcBef>
                <a:spcPts val="400"/>
              </a:spcBef>
              <a:spcAft>
                <a:spcPts val="0"/>
              </a:spcAft>
            </a:pPr>
            <a:r>
              <a:rPr sz="950" b="0" i="0" u="none">
                <a:solidFill>
                  <a:srgbClr val="4C566B"/>
                </a:solidFill>
                <a:latin typeface="Calibri"/>
              </a:rPr>
              <a:t>The Sermon on the Mount is the standard of the Christian ethics and the ground of the moral life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Sermon on the Mount is the exposition of the mind of Christ, the standard of the Christian ethics and the ground of the moral life of the believer.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Ethics in the New Testament Epistles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New Testament epistles are the application of the faith to the concrete situations of the life. The household codes (Eph 5:22-6:9; Col 3:18-4:1; 1 Pet 2:18-3:7) give the rules of the family life. The ethical exhortations of the epistles give the rules of the moral life — the purity, the love, the honesty, and the contentment (Rom 12-15; 1 Cor 12-14; Gal 5:13-6:10). The doctrine of the ethics of the epistles is the ground of the Christian's moral life and of the moral order of the society. The epistles are the practical side of the Christian ethics.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household codes as the rules of the family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ethical exhortations as the rules of the moral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purity, the love, the honesty, and the contentment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12:1-15:13</a:t>
            </a:r>
          </a:p>
          <a:p>
            <a:pPr algn="l">
              <a:lnSpc>
                <a:spcPct val="108000"/>
              </a:lnSpc>
              <a:spcBef>
                <a:spcPts val="0"/>
              </a:spcBef>
              <a:spcAft>
                <a:spcPts val="250"/>
              </a:spcAft>
            </a:pPr>
            <a:r>
              <a:rPr sz="1000" b="0" i="1" u="none">
                <a:solidFill>
                  <a:srgbClr val="232A38"/>
                </a:solidFill>
                <a:latin typeface="Calibri"/>
              </a:rPr>
              <a:t>1 Corinthians 12-14</a:t>
            </a:r>
          </a:p>
          <a:p>
            <a:pPr algn="l">
              <a:lnSpc>
                <a:spcPct val="108000"/>
              </a:lnSpc>
              <a:spcBef>
                <a:spcPts val="0"/>
              </a:spcBef>
              <a:spcAft>
                <a:spcPts val="250"/>
              </a:spcAft>
            </a:pPr>
            <a:r>
              <a:rPr sz="1000" b="0" i="1" u="none">
                <a:solidFill>
                  <a:srgbClr val="232A38"/>
                </a:solidFill>
                <a:latin typeface="Calibri"/>
              </a:rPr>
              <a:t>Galatians 5:13-6:10</a:t>
            </a:r>
          </a:p>
          <a:p>
            <a:pPr algn="l">
              <a:lnSpc>
                <a:spcPct val="108000"/>
              </a:lnSpc>
              <a:spcBef>
                <a:spcPts val="0"/>
              </a:spcBef>
              <a:spcAft>
                <a:spcPts val="250"/>
              </a:spcAft>
            </a:pPr>
            <a:r>
              <a:rPr sz="1000" b="0" i="1" u="none">
                <a:solidFill>
                  <a:srgbClr val="232A38"/>
                </a:solidFill>
                <a:latin typeface="Calibri"/>
              </a:rPr>
              <a:t>Ephesians 4:1-6:9</a:t>
            </a:r>
          </a:p>
          <a:p>
            <a:pPr algn="l">
              <a:lnSpc>
                <a:spcPct val="110000"/>
              </a:lnSpc>
              <a:spcBef>
                <a:spcPts val="400"/>
              </a:spcBef>
              <a:spcAft>
                <a:spcPts val="0"/>
              </a:spcAft>
            </a:pPr>
            <a:r>
              <a:rPr sz="950" b="0" i="0" u="none">
                <a:solidFill>
                  <a:srgbClr val="4C566B"/>
                </a:solidFill>
                <a:latin typeface="Calibri"/>
              </a:rPr>
              <a:t>The doctrine of the ethics of the epistles is the practical side of the Christian ethics and the ground of the moral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New Testament epistles are the application of the faith to the concrete situations of the life, the ground of the Christian's moral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Personal and Private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149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Personal and private ethics is the application of the faith to the daily life of the believer — the thought, the speech, the conduct, and the relations. The thought is to be pure (Matt 5:28; Phil 4:8), the speech is to be honest and edifying (Eph 4:25-32; Jas 3:1-12), and the conduct is to be holy (1 Pet 1:15-16). The private ethics is the ground of the public witness, for the private life of the believer is the evidence of the genuineness of the faith. The doctrine of the personal and private ethics is the ground of the Christian's daily walk and of the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purity of the thought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and the edification of the speech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holiness of the conduct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public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5:28</a:t>
            </a:r>
          </a:p>
          <a:p>
            <a:pPr algn="l">
              <a:lnSpc>
                <a:spcPct val="108000"/>
              </a:lnSpc>
              <a:spcBef>
                <a:spcPts val="0"/>
              </a:spcBef>
              <a:spcAft>
                <a:spcPts val="250"/>
              </a:spcAft>
            </a:pPr>
            <a:r>
              <a:rPr sz="1000" b="0" i="1" u="none">
                <a:solidFill>
                  <a:srgbClr val="232A38"/>
                </a:solidFill>
                <a:latin typeface="Calibri"/>
              </a:rPr>
              <a:t>Philippians 4:8</a:t>
            </a:r>
          </a:p>
          <a:p>
            <a:pPr algn="l">
              <a:lnSpc>
                <a:spcPct val="108000"/>
              </a:lnSpc>
              <a:spcBef>
                <a:spcPts val="0"/>
              </a:spcBef>
              <a:spcAft>
                <a:spcPts val="250"/>
              </a:spcAft>
            </a:pPr>
            <a:r>
              <a:rPr sz="1000" b="0" i="1" u="none">
                <a:solidFill>
                  <a:srgbClr val="232A38"/>
                </a:solidFill>
                <a:latin typeface="Calibri"/>
              </a:rPr>
              <a:t>Ephesians 4:25-32</a:t>
            </a:r>
          </a:p>
          <a:p>
            <a:pPr algn="l">
              <a:lnSpc>
                <a:spcPct val="108000"/>
              </a:lnSpc>
              <a:spcBef>
                <a:spcPts val="0"/>
              </a:spcBef>
              <a:spcAft>
                <a:spcPts val="250"/>
              </a:spcAft>
            </a:pPr>
            <a:r>
              <a:rPr sz="1000" b="0" i="1" u="none">
                <a:solidFill>
                  <a:srgbClr val="232A38"/>
                </a:solidFill>
                <a:latin typeface="Calibri"/>
              </a:rPr>
              <a:t>James 3:1-12</a:t>
            </a:r>
          </a:p>
          <a:p>
            <a:pPr algn="l">
              <a:lnSpc>
                <a:spcPct val="110000"/>
              </a:lnSpc>
              <a:spcBef>
                <a:spcPts val="400"/>
              </a:spcBef>
              <a:spcAft>
                <a:spcPts val="0"/>
              </a:spcAft>
            </a:pPr>
            <a:r>
              <a:rPr sz="950" b="0" i="0" u="none">
                <a:solidFill>
                  <a:srgbClr val="4C566B"/>
                </a:solidFill>
                <a:latin typeface="Calibri"/>
              </a:rPr>
              <a:t>The doctrine of the personal and private ethics is the ground of the Christian's daily walk and of the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personal and private ethics is the application of the faith to the daily life of the believer, the ground of the public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Christian Ethics in Business and the Economy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ethics in business and the economy is the application of the faith to the work and the economic life of the believer. The work is to be done as for the Lord (Col 3:23-24; Eph 6:5-9), and the economic life is to be governed by the honesty, the fairness, and the generosity (Prov 11:1; 2 Cor 8:9; 1 Tim 6:6-10). The Christian is the steward of the gifts of God, and he is to manage them for the glory of God and the good of the neighbour. The doctrine of the business ethics is the ground of the Christian's witness in the world of work and of the moral order of the economy.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work to be done as for the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the fairness, and the generosity of the economic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as the steward of the gifts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order of the economy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Colossians 3:23-24</a:t>
            </a:r>
          </a:p>
          <a:p>
            <a:pPr algn="l">
              <a:lnSpc>
                <a:spcPct val="108000"/>
              </a:lnSpc>
              <a:spcBef>
                <a:spcPts val="0"/>
              </a:spcBef>
              <a:spcAft>
                <a:spcPts val="250"/>
              </a:spcAft>
            </a:pPr>
            <a:r>
              <a:rPr sz="1000" b="0" i="1" u="none">
                <a:solidFill>
                  <a:srgbClr val="232A38"/>
                </a:solidFill>
                <a:latin typeface="Calibri"/>
              </a:rPr>
              <a:t>Ephesians 6:5-9</a:t>
            </a:r>
          </a:p>
          <a:p>
            <a:pPr algn="l">
              <a:lnSpc>
                <a:spcPct val="108000"/>
              </a:lnSpc>
              <a:spcBef>
                <a:spcPts val="0"/>
              </a:spcBef>
              <a:spcAft>
                <a:spcPts val="250"/>
              </a:spcAft>
            </a:pPr>
            <a:r>
              <a:rPr sz="1000" b="0" i="1" u="none">
                <a:solidFill>
                  <a:srgbClr val="232A38"/>
                </a:solidFill>
                <a:latin typeface="Calibri"/>
              </a:rPr>
              <a:t>Proverbs 11:1</a:t>
            </a:r>
          </a:p>
          <a:p>
            <a:pPr algn="l">
              <a:lnSpc>
                <a:spcPct val="108000"/>
              </a:lnSpc>
              <a:spcBef>
                <a:spcPts val="0"/>
              </a:spcBef>
              <a:spcAft>
                <a:spcPts val="250"/>
              </a:spcAft>
            </a:pPr>
            <a:r>
              <a:rPr sz="1000" b="0" i="1" u="none">
                <a:solidFill>
                  <a:srgbClr val="232A38"/>
                </a:solidFill>
                <a:latin typeface="Calibri"/>
              </a:rPr>
              <a:t>2 Corinthians 8:9</a:t>
            </a:r>
          </a:p>
          <a:p>
            <a:pPr algn="l">
              <a:lnSpc>
                <a:spcPct val="110000"/>
              </a:lnSpc>
              <a:spcBef>
                <a:spcPts val="400"/>
              </a:spcBef>
              <a:spcAft>
                <a:spcPts val="0"/>
              </a:spcAft>
            </a:pPr>
            <a:r>
              <a:rPr sz="950" b="0" i="0" u="none">
                <a:solidFill>
                  <a:srgbClr val="4C566B"/>
                </a:solidFill>
                <a:latin typeface="Calibri"/>
              </a:rPr>
              <a:t>The doctrine of the business ethics is the ground of the Christian's witness in the world of work and of the moral order of the economy.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in business is the application of the faith to the work and the economic life, the ground of the moral order of the economy.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Christian Ethics in Public Life and Politics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ethics in public life and politics is the application of the faith to the civic life of the believer and the moral responsibility of the Church in the public square. The Christian is to be a good citizen, to honour the authorities (Rom 13:1-7; 1 Pet 2:13-17), and to pray for the rulers (1 Tim 2:1-2). The Church is to be the witness of the kingdom in the public square, and it is to hold the authorities accountable to the law of God. The doctrine of the public ethics is the ground of the Christian's civic life and of the moral responsibility of the Church in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as the good citizen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honouring of the authorities and the prayer for the rulers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Church as the witness of the kingdom in the public square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13:1-7</a:t>
            </a:r>
          </a:p>
          <a:p>
            <a:pPr algn="l">
              <a:lnSpc>
                <a:spcPct val="108000"/>
              </a:lnSpc>
              <a:spcBef>
                <a:spcPts val="0"/>
              </a:spcBef>
              <a:spcAft>
                <a:spcPts val="250"/>
              </a:spcAft>
            </a:pPr>
            <a:r>
              <a:rPr sz="1000" b="0" i="1" u="none">
                <a:solidFill>
                  <a:srgbClr val="232A38"/>
                </a:solidFill>
                <a:latin typeface="Calibri"/>
              </a:rPr>
              <a:t>1 Peter 2:13-17</a:t>
            </a:r>
          </a:p>
          <a:p>
            <a:pPr algn="l">
              <a:lnSpc>
                <a:spcPct val="108000"/>
              </a:lnSpc>
              <a:spcBef>
                <a:spcPts val="0"/>
              </a:spcBef>
              <a:spcAft>
                <a:spcPts val="250"/>
              </a:spcAft>
            </a:pPr>
            <a:r>
              <a:rPr sz="1000" b="0" i="1" u="none">
                <a:solidFill>
                  <a:srgbClr val="232A38"/>
                </a:solidFill>
                <a:latin typeface="Calibri"/>
              </a:rPr>
              <a:t>1 Timothy 2:1-2</a:t>
            </a:r>
          </a:p>
          <a:p>
            <a:pPr algn="l">
              <a:lnSpc>
                <a:spcPct val="108000"/>
              </a:lnSpc>
              <a:spcBef>
                <a:spcPts val="0"/>
              </a:spcBef>
              <a:spcAft>
                <a:spcPts val="250"/>
              </a:spcAft>
            </a:pPr>
            <a:r>
              <a:rPr sz="1000" b="0" i="1" u="none">
                <a:solidFill>
                  <a:srgbClr val="232A38"/>
                </a:solidFill>
                <a:latin typeface="Calibri"/>
              </a:rPr>
              <a:t>Matthew 22:21</a:t>
            </a:r>
          </a:p>
          <a:p>
            <a:pPr algn="l">
              <a:lnSpc>
                <a:spcPct val="110000"/>
              </a:lnSpc>
              <a:spcBef>
                <a:spcPts val="400"/>
              </a:spcBef>
              <a:spcAft>
                <a:spcPts val="0"/>
              </a:spcAft>
            </a:pPr>
            <a:r>
              <a:rPr sz="950" b="0" i="0" u="none">
                <a:solidFill>
                  <a:srgbClr val="4C566B"/>
                </a:solidFill>
                <a:latin typeface="Calibri"/>
              </a:rPr>
              <a:t>The doctrine of the public ethics is the ground of the Christian's civic life and of the moral responsibility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in public life is the application of the faith to the civic life, the ground of the Christian's witness and of the moral responsibility of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Social Ethics and the Dignity of Human Life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Social ethics and the dignity of human life is the application of the faith to the social order and the defence of the dignity of the human being. The dignity of the human being is grounded in the image of God (Gen 1:26-27; 9:6), and it is the ground of the moral order of the society. The Christian is to defend the dignity of the human life from its beginning to its end, and to care for the poor, the orphan, and the widow (Isa 1:17; Jas 1:27; Matt 25:35-40). The doctrine of the social ethics is the ground of the Christian's witness in the social order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dignity of the human being grounded in the image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of the human life from its beginning to its end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care for the poor, the orphan, and the widow</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1:26-27</a:t>
            </a:r>
          </a:p>
          <a:p>
            <a:pPr algn="l">
              <a:lnSpc>
                <a:spcPct val="108000"/>
              </a:lnSpc>
              <a:spcBef>
                <a:spcPts val="0"/>
              </a:spcBef>
              <a:spcAft>
                <a:spcPts val="250"/>
              </a:spcAft>
            </a:pPr>
            <a:r>
              <a:rPr sz="1000" b="0" i="1" u="none">
                <a:solidFill>
                  <a:srgbClr val="232A38"/>
                </a:solidFill>
                <a:latin typeface="Calibri"/>
              </a:rPr>
              <a:t>Isaiah 1:17</a:t>
            </a:r>
          </a:p>
          <a:p>
            <a:pPr algn="l">
              <a:lnSpc>
                <a:spcPct val="108000"/>
              </a:lnSpc>
              <a:spcBef>
                <a:spcPts val="0"/>
              </a:spcBef>
              <a:spcAft>
                <a:spcPts val="250"/>
              </a:spcAft>
            </a:pPr>
            <a:r>
              <a:rPr sz="1000" b="0" i="1" u="none">
                <a:solidFill>
                  <a:srgbClr val="232A38"/>
                </a:solidFill>
                <a:latin typeface="Calibri"/>
              </a:rPr>
              <a:t>James 1:27</a:t>
            </a:r>
          </a:p>
          <a:p>
            <a:pPr algn="l">
              <a:lnSpc>
                <a:spcPct val="108000"/>
              </a:lnSpc>
              <a:spcBef>
                <a:spcPts val="0"/>
              </a:spcBef>
              <a:spcAft>
                <a:spcPts val="250"/>
              </a:spcAft>
            </a:pPr>
            <a:r>
              <a:rPr sz="1000" b="0" i="1" u="none">
                <a:solidFill>
                  <a:srgbClr val="232A38"/>
                </a:solidFill>
                <a:latin typeface="Calibri"/>
              </a:rPr>
              <a:t>Matthew 25:35-40</a:t>
            </a:r>
          </a:p>
          <a:p>
            <a:pPr algn="l">
              <a:lnSpc>
                <a:spcPct val="110000"/>
              </a:lnSpc>
              <a:spcBef>
                <a:spcPts val="400"/>
              </a:spcBef>
              <a:spcAft>
                <a:spcPts val="0"/>
              </a:spcAft>
            </a:pPr>
            <a:r>
              <a:rPr sz="950" b="0" i="0" u="none">
                <a:solidFill>
                  <a:srgbClr val="4C566B"/>
                </a:solidFill>
                <a:latin typeface="Calibri"/>
              </a:rPr>
              <a:t>The doctrine of the social ethics is the ground of the Christian's witness in the social order and of the moral responsibility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Social ethics is the application of the faith to the social order, grounded in the dignity of the human being and the care for the least of these.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Christian Ethics and Bioethical Issues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ethics and bioethical issues is the application of the faith to the questions of the beginning and the end of the life, and the treatment of the human body. The Christian is to hold the sanctity of the human life from its beginning (the conception) to its end (the natural death), and to care for the body as the temple of the Spirit (1 Cor 6:19-20). The bioethical issues include the questions of the abortion, the euthanasia, the medical research, and the genetic engineering. The doctrine of the bioethics is the ground of the Christian's witness in the medical and the scientific order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sanctity of the human life from its beginning to its end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body as the temple of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issues: the abortion, the euthanasia, the research, the genetics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9:6</a:t>
            </a:r>
          </a:p>
          <a:p>
            <a:pPr algn="l">
              <a:lnSpc>
                <a:spcPct val="108000"/>
              </a:lnSpc>
              <a:spcBef>
                <a:spcPts val="0"/>
              </a:spcBef>
              <a:spcAft>
                <a:spcPts val="250"/>
              </a:spcAft>
            </a:pPr>
            <a:r>
              <a:rPr sz="1000" b="0" i="1" u="none">
                <a:solidFill>
                  <a:srgbClr val="232A38"/>
                </a:solidFill>
                <a:latin typeface="Calibri"/>
              </a:rPr>
              <a:t>1 Corinthians 6:19-20</a:t>
            </a:r>
          </a:p>
          <a:p>
            <a:pPr algn="l">
              <a:lnSpc>
                <a:spcPct val="108000"/>
              </a:lnSpc>
              <a:spcBef>
                <a:spcPts val="0"/>
              </a:spcBef>
              <a:spcAft>
                <a:spcPts val="250"/>
              </a:spcAft>
            </a:pPr>
            <a:r>
              <a:rPr sz="1000" b="0" i="1" u="none">
                <a:solidFill>
                  <a:srgbClr val="232A38"/>
                </a:solidFill>
                <a:latin typeface="Calibri"/>
              </a:rPr>
              <a:t>Psalm 139:13-16</a:t>
            </a:r>
          </a:p>
          <a:p>
            <a:pPr algn="l">
              <a:lnSpc>
                <a:spcPct val="108000"/>
              </a:lnSpc>
              <a:spcBef>
                <a:spcPts val="0"/>
              </a:spcBef>
              <a:spcAft>
                <a:spcPts val="250"/>
              </a:spcAft>
            </a:pPr>
            <a:r>
              <a:rPr sz="1000" b="0" i="1" u="none">
                <a:solidFill>
                  <a:srgbClr val="232A38"/>
                </a:solidFill>
                <a:latin typeface="Calibri"/>
              </a:rPr>
              <a:t>Exodus 20:13</a:t>
            </a:r>
          </a:p>
          <a:p>
            <a:pPr algn="l">
              <a:lnSpc>
                <a:spcPct val="110000"/>
              </a:lnSpc>
              <a:spcBef>
                <a:spcPts val="400"/>
              </a:spcBef>
              <a:spcAft>
                <a:spcPts val="0"/>
              </a:spcAft>
            </a:pPr>
            <a:r>
              <a:rPr sz="950" b="0" i="0" u="none">
                <a:solidFill>
                  <a:srgbClr val="4C566B"/>
                </a:solidFill>
                <a:latin typeface="Calibri"/>
              </a:rPr>
              <a:t>The doctrine of the bioethics is the ground of the Christian's witness in the medical and the scientific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in bioethics is the application of the faith to the questions of the life, grounded in the sanctity of the human life and the dignity of the body.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Christian Ethics and the Environment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ethics and the environment is the application of the faith to the care for the natural order and the stewardship of the creation. The Christian is the steward of the creation (Gen 1:28; 2:15), and he is to care for the natural order as the gift of God (Ps 24:1; Rom 1:20). The environmental ethics is the ground of the Christian's responsibility for the creation and of the moral order of the society. The doctrine of the environmental ethics is the ground of the Christian's witness in the environmental order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as the steward of the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care for the natural order as the gift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responsibility for the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1:28</a:t>
            </a:r>
          </a:p>
          <a:p>
            <a:pPr algn="l">
              <a:lnSpc>
                <a:spcPct val="108000"/>
              </a:lnSpc>
              <a:spcBef>
                <a:spcPts val="0"/>
              </a:spcBef>
              <a:spcAft>
                <a:spcPts val="250"/>
              </a:spcAft>
            </a:pPr>
            <a:r>
              <a:rPr sz="1000" b="0" i="1" u="none">
                <a:solidFill>
                  <a:srgbClr val="232A38"/>
                </a:solidFill>
                <a:latin typeface="Calibri"/>
              </a:rPr>
              <a:t>Genesis 2:15</a:t>
            </a:r>
          </a:p>
          <a:p>
            <a:pPr algn="l">
              <a:lnSpc>
                <a:spcPct val="108000"/>
              </a:lnSpc>
              <a:spcBef>
                <a:spcPts val="0"/>
              </a:spcBef>
              <a:spcAft>
                <a:spcPts val="250"/>
              </a:spcAft>
            </a:pPr>
            <a:r>
              <a:rPr sz="1000" b="0" i="1" u="none">
                <a:solidFill>
                  <a:srgbClr val="232A38"/>
                </a:solidFill>
                <a:latin typeface="Calibri"/>
              </a:rPr>
              <a:t>Psalm 24:1</a:t>
            </a:r>
          </a:p>
          <a:p>
            <a:pPr algn="l">
              <a:lnSpc>
                <a:spcPct val="108000"/>
              </a:lnSpc>
              <a:spcBef>
                <a:spcPts val="0"/>
              </a:spcBef>
              <a:spcAft>
                <a:spcPts val="250"/>
              </a:spcAft>
            </a:pPr>
            <a:r>
              <a:rPr sz="1000" b="0" i="1" u="none">
                <a:solidFill>
                  <a:srgbClr val="232A38"/>
                </a:solidFill>
                <a:latin typeface="Calibri"/>
              </a:rPr>
              <a:t>Romans 1:20</a:t>
            </a:r>
          </a:p>
          <a:p>
            <a:pPr algn="l">
              <a:lnSpc>
                <a:spcPct val="110000"/>
              </a:lnSpc>
              <a:spcBef>
                <a:spcPts val="400"/>
              </a:spcBef>
              <a:spcAft>
                <a:spcPts val="0"/>
              </a:spcAft>
            </a:pPr>
            <a:r>
              <a:rPr sz="950" b="0" i="0" u="none">
                <a:solidFill>
                  <a:srgbClr val="4C566B"/>
                </a:solidFill>
                <a:latin typeface="Calibri"/>
              </a:rPr>
              <a:t>The doctrine of the environmental ethics is the ground of the Christian's responsibility for the creation.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and the environment is the application of the faith to the care for the natural order, grounded in the stewardship of the creation.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Marriage, Family and Human Sexuality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Marriage, family and human sexuality is the application of the faith to the institution of the marriage and the relations of the family. The marriage is the covenant of the love of Christ and the Church (Eph 5:25-33), and it is the ground of the family and the moral order of the society. The Christian is to hold the purity of the marriage and the faithfulness of the spouse (Heb 13:4; 1 Cor 6:18-20), and to care for the children in the training of the Lord (Eph 6:4). The doctrine of the marriage and the family is the ground of the moral order of the society and of the formation of the next generation.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marriage as the covenant of the love of Christ and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purity of the marriage and the faithfulness of the spouse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training of the children in the Lord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order of the society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5:25-33</a:t>
            </a:r>
          </a:p>
          <a:p>
            <a:pPr algn="l">
              <a:lnSpc>
                <a:spcPct val="108000"/>
              </a:lnSpc>
              <a:spcBef>
                <a:spcPts val="0"/>
              </a:spcBef>
              <a:spcAft>
                <a:spcPts val="250"/>
              </a:spcAft>
            </a:pPr>
            <a:r>
              <a:rPr sz="1000" b="0" i="1" u="none">
                <a:solidFill>
                  <a:srgbClr val="232A38"/>
                </a:solidFill>
                <a:latin typeface="Calibri"/>
              </a:rPr>
              <a:t>Hebrews 13:4</a:t>
            </a:r>
          </a:p>
          <a:p>
            <a:pPr algn="l">
              <a:lnSpc>
                <a:spcPct val="108000"/>
              </a:lnSpc>
              <a:spcBef>
                <a:spcPts val="0"/>
              </a:spcBef>
              <a:spcAft>
                <a:spcPts val="250"/>
              </a:spcAft>
            </a:pPr>
            <a:r>
              <a:rPr sz="1000" b="0" i="1" u="none">
                <a:solidFill>
                  <a:srgbClr val="232A38"/>
                </a:solidFill>
                <a:latin typeface="Calibri"/>
              </a:rPr>
              <a:t>1 Corinthians 6:18-20</a:t>
            </a:r>
          </a:p>
          <a:p>
            <a:pPr algn="l">
              <a:lnSpc>
                <a:spcPct val="108000"/>
              </a:lnSpc>
              <a:spcBef>
                <a:spcPts val="0"/>
              </a:spcBef>
              <a:spcAft>
                <a:spcPts val="250"/>
              </a:spcAft>
            </a:pPr>
            <a:r>
              <a:rPr sz="1000" b="0" i="1" u="none">
                <a:solidFill>
                  <a:srgbClr val="232A38"/>
                </a:solidFill>
                <a:latin typeface="Calibri"/>
              </a:rPr>
              <a:t>Ephesians 6:1-4</a:t>
            </a:r>
          </a:p>
          <a:p>
            <a:pPr algn="l">
              <a:lnSpc>
                <a:spcPct val="110000"/>
              </a:lnSpc>
              <a:spcBef>
                <a:spcPts val="400"/>
              </a:spcBef>
              <a:spcAft>
                <a:spcPts val="0"/>
              </a:spcAft>
            </a:pPr>
            <a:r>
              <a:rPr sz="950" b="0" i="0" u="none">
                <a:solidFill>
                  <a:srgbClr val="4C566B"/>
                </a:solidFill>
                <a:latin typeface="Calibri"/>
              </a:rPr>
              <a:t>The doctrine of the marriage and the family is the ground of the moral order of the society and of the formation of the next generation.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in the marriage and the family is the application of the faith to the institution of the marriage, grounded in the covenant of the love of Christ and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12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Justice, Peace and the Common Good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Justice, peace and the common good is the application of the faith to the social order and the moral responsibility of the Church in the public square. The justice is the giving to every person his due (Rom 13:7; Matt 22:21), and it is the ground of the moral order of the society. The peace is the reconciliation of the enemies and the building up of the community (Rom 12:18; Eph 2:14-16). The common good is the welfare of the whole society, and it is the goal of the moral order. The doctrine of the justice, the peace, and the common good is the ground of the Christian's witness in the public square and of the moral responsibility of the Church.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justice as the giving to every person his due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peace as the reconciliation and the building up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common good as the goal of the moral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moral responsibility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13:7</a:t>
            </a:r>
          </a:p>
          <a:p>
            <a:pPr algn="l">
              <a:lnSpc>
                <a:spcPct val="108000"/>
              </a:lnSpc>
              <a:spcBef>
                <a:spcPts val="0"/>
              </a:spcBef>
              <a:spcAft>
                <a:spcPts val="250"/>
              </a:spcAft>
            </a:pPr>
            <a:r>
              <a:rPr sz="1000" b="0" i="1" u="none">
                <a:solidFill>
                  <a:srgbClr val="232A38"/>
                </a:solidFill>
                <a:latin typeface="Calibri"/>
              </a:rPr>
              <a:t>Matthew 22:21</a:t>
            </a:r>
          </a:p>
          <a:p>
            <a:pPr algn="l">
              <a:lnSpc>
                <a:spcPct val="108000"/>
              </a:lnSpc>
              <a:spcBef>
                <a:spcPts val="0"/>
              </a:spcBef>
              <a:spcAft>
                <a:spcPts val="250"/>
              </a:spcAft>
            </a:pPr>
            <a:r>
              <a:rPr sz="1000" b="0" i="1" u="none">
                <a:solidFill>
                  <a:srgbClr val="232A38"/>
                </a:solidFill>
                <a:latin typeface="Calibri"/>
              </a:rPr>
              <a:t>Romans 12:18</a:t>
            </a:r>
          </a:p>
          <a:p>
            <a:pPr algn="l">
              <a:lnSpc>
                <a:spcPct val="108000"/>
              </a:lnSpc>
              <a:spcBef>
                <a:spcPts val="0"/>
              </a:spcBef>
              <a:spcAft>
                <a:spcPts val="250"/>
              </a:spcAft>
            </a:pPr>
            <a:r>
              <a:rPr sz="1000" b="0" i="1" u="none">
                <a:solidFill>
                  <a:srgbClr val="232A38"/>
                </a:solidFill>
                <a:latin typeface="Calibri"/>
              </a:rPr>
              <a:t>Ephesians 2:14-16</a:t>
            </a:r>
          </a:p>
          <a:p>
            <a:pPr algn="l">
              <a:lnSpc>
                <a:spcPct val="110000"/>
              </a:lnSpc>
              <a:spcBef>
                <a:spcPts val="400"/>
              </a:spcBef>
              <a:spcAft>
                <a:spcPts val="0"/>
              </a:spcAft>
            </a:pPr>
            <a:r>
              <a:rPr sz="950" b="0" i="0" u="none">
                <a:solidFill>
                  <a:srgbClr val="4C566B"/>
                </a:solidFill>
                <a:latin typeface="Calibri"/>
              </a:rPr>
              <a:t>The doctrine of the justice, the peace, and the common good is the ground of the Christian's witness in the public square.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ethics in the public square is the application of the faith to the social order, grounded in the justice, the peace, and the common good.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12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Christian Ethics</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Christian ethics is grounded in the character of God and in the work of Christ, and it is the life of the one who is in Christ.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Decalogue is the summary of the moral law, the Sermon on the Mount is the exposition of the mind of Christ, and the epistles are the application to the concrete life.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Christian is to apply the faith to the personal, the business, the public, and the social life, and to defend the dignity of the human being.</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Christian ethics is the ground of the moral order of the society and of the moral responsibility of the Church.</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Christian ethics is the practical side of the whole of the theology; it flows from the doctrines of the law, of the Christian life, and of the Church, and it is the ground of the witness of the Church in the world.</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application of the faith to the moral order, the programme turns to the extension of the faith to the nations: the doctrine of the mission of the Church.</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13 · Missiology: The Mission of the Church</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13</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MISSIOLOGY: THE MISSION OF THE CHURCH</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application of the faith to the moral order, the programme turns to the extension of the faith to the nations: the doctrine of the mission of the Church.</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flipV="1">
            <a:off x="8732519" y="3564550"/>
            <a:ext cx="32716" cy="24849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8765235" y="3332987"/>
            <a:ext cx="95916" cy="231563"/>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861151" y="3134140"/>
            <a:ext cx="152581" cy="198847"/>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9013732" y="2981559"/>
            <a:ext cx="198848" cy="152581"/>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212580" y="2885643"/>
            <a:ext cx="231562" cy="95916"/>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444142" y="2852928"/>
            <a:ext cx="248498" cy="32715"/>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692640" y="2852928"/>
            <a:ext cx="248497" cy="32715"/>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941137" y="2885643"/>
            <a:ext cx="231563" cy="95916"/>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72700" y="2981559"/>
            <a:ext cx="198847" cy="152581"/>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371547" y="3134140"/>
            <a:ext cx="152581" cy="198847"/>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24128" y="3332987"/>
            <a:ext cx="95916" cy="231563"/>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620044" y="3564550"/>
            <a:ext cx="32716" cy="248498"/>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10620044" y="3813048"/>
            <a:ext cx="32716" cy="248497"/>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95359" y="4315968"/>
            <a:ext cx="457200"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332720" y="4315968"/>
            <a:ext cx="457200"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235440" y="3721608"/>
            <a:ext cx="0" cy="5943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149840" y="3721608"/>
            <a:ext cx="0" cy="5943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35440" y="3721608"/>
            <a:ext cx="91440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637776" y="2596896"/>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183879" y="2286000"/>
            <a:ext cx="3017520" cy="3566160"/>
          </a:xfrm>
          <a:prstGeom prst="ellipse">
            <a:avLst/>
          </a:prstGeom>
          <a:noFill/>
          <a:ln w="889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13</a:t>
            </a:r>
          </a:p>
        </p:txBody>
      </p:sp>
      <p:sp>
        <p:nvSpPr>
          <p:cNvPr id="26" name="TextBox 25"/>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13</a:t>
            </a:r>
          </a:p>
        </p:txBody>
      </p:sp>
      <p:sp>
        <p:nvSpPr>
          <p:cNvPr id="27" name="TextBox 26"/>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MISSIOLOGY: THE MISSION OF THE CHURCH</a:t>
            </a:r>
          </a:p>
        </p:txBody>
      </p:sp>
      <p:cxnSp>
        <p:nvCxnSpPr>
          <p:cNvPr id="28" name="Connector 27"/>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Great Commission, the history and the methods of the mission, and the Church's witness to the nations.</a:t>
            </a:r>
          </a:p>
        </p:txBody>
      </p:sp>
      <p:sp>
        <p:nvSpPr>
          <p:cNvPr id="30" name="Rectangle 29"/>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3378708"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13</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MISSIOLOGY: THE MISSION OF THE CHURCH</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Missiology: The Mission of the Church</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Missiology is the doctrine of the mission of the Church: its nature and basis, the Great Commission, the work of the Spirit, and the history and methods of the mission. It treats the extension of the faith to the nations.</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mission of the Church is grounded in the mission of Christ and the command of the risen Lord. The New Testament presents the Church as the witness of the gospel to all nations, and the Great Commission is the mandate of the Church.</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mission is the ground of the Church's witness and of its hope. It answers the questions of why the Church exists, how it is to witness to the world, and what is the responsibility of the Church for the harvest of the nations.</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nature, the basis, the history, and the methods of the mission, and to adopt the responsibility of the Church for the harvest of the nations.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Basis of Christian 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mission is the witness of the Church to the world, the proclamation of the gospel and the display of the life of grace. The basis of the mission is the mission of God (missio Dei) — God is the missionary God, and he has sent the Son and the Spirit for the salvation of the world. The Church is sent by Christ to continue the mission of God in the world (John 20:21; Matt 28:18-20). The nature of the mission is the witness of the gospel, and it is grounded in the love of God and the command of Christ. The doctrine of the nature and the basis of the mission is the ground of the Church's witness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mission as the witness of the Church to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basis in the mission of God (missio Dei)</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sending of the Church by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in the love of God and the command of Christ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20:21</a:t>
            </a:r>
          </a:p>
          <a:p>
            <a:pPr algn="l">
              <a:lnSpc>
                <a:spcPct val="108000"/>
              </a:lnSpc>
              <a:spcBef>
                <a:spcPts val="0"/>
              </a:spcBef>
              <a:spcAft>
                <a:spcPts val="250"/>
              </a:spcAft>
            </a:pPr>
            <a:r>
              <a:rPr sz="1000" b="0" i="1" u="none">
                <a:solidFill>
                  <a:srgbClr val="232A38"/>
                </a:solidFill>
                <a:latin typeface="Calibri"/>
              </a:rPr>
              <a:t>Matthew 28:18-20</a:t>
            </a:r>
          </a:p>
          <a:p>
            <a:pPr algn="l">
              <a:lnSpc>
                <a:spcPct val="108000"/>
              </a:lnSpc>
              <a:spcBef>
                <a:spcPts val="0"/>
              </a:spcBef>
              <a:spcAft>
                <a:spcPts val="250"/>
              </a:spcAft>
            </a:pPr>
            <a:r>
              <a:rPr sz="1000" b="0" i="1" u="none">
                <a:solidFill>
                  <a:srgbClr val="232A38"/>
                </a:solidFill>
                <a:latin typeface="Calibri"/>
              </a:rPr>
              <a:t>Acts 1:8</a:t>
            </a:r>
          </a:p>
          <a:p>
            <a:pPr algn="l">
              <a:lnSpc>
                <a:spcPct val="108000"/>
              </a:lnSpc>
              <a:spcBef>
                <a:spcPts val="0"/>
              </a:spcBef>
              <a:spcAft>
                <a:spcPts val="250"/>
              </a:spcAft>
            </a:pPr>
            <a:r>
              <a:rPr sz="1000" b="0" i="1" u="none">
                <a:solidFill>
                  <a:srgbClr val="232A38"/>
                </a:solidFill>
                <a:latin typeface="Calibri"/>
              </a:rPr>
              <a:t>2 Corinthians 5:19-20</a:t>
            </a:r>
          </a:p>
          <a:p>
            <a:pPr algn="l">
              <a:lnSpc>
                <a:spcPct val="110000"/>
              </a:lnSpc>
              <a:spcBef>
                <a:spcPts val="400"/>
              </a:spcBef>
              <a:spcAft>
                <a:spcPts val="0"/>
              </a:spcAft>
            </a:pPr>
            <a:r>
              <a:rPr sz="950" b="0" i="0" u="none">
                <a:solidFill>
                  <a:srgbClr val="4C566B"/>
                </a:solidFill>
                <a:latin typeface="Calibri"/>
              </a:rPr>
              <a:t>The doctrine of the nature and the basis of the mission is the ground of the Church's witness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mission is the witness of the Church to the world, grounded in the mission of God and the command of the risen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Great Commission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Great Commission is the command of the risen Lord to his disciples to make disciples of all nations (Matt 28:18-20). It is the mandate of the Church, and it is the ground of the Church's witness to the world. The commission includes the authority of Christ (all authority in heaven and on earth), the universality of the mission (all nations), and the means of the mission (the teaching, the baptism, and the obedience). The Great Commission is the ground of the Church's mission and of its hope, and it is the motivation of the Christian's witness. The doctrine of the Great Commission is the ground of the Church's mission and of its responsibility for the harvest.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authority of Christ: all authority in heaven and on earth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universality of the mission: all nations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means: the teaching, the baptism, and the obedience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mission and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28:18-20</a:t>
            </a:r>
          </a:p>
          <a:p>
            <a:pPr algn="l">
              <a:lnSpc>
                <a:spcPct val="108000"/>
              </a:lnSpc>
              <a:spcBef>
                <a:spcPts val="0"/>
              </a:spcBef>
              <a:spcAft>
                <a:spcPts val="250"/>
              </a:spcAft>
            </a:pPr>
            <a:r>
              <a:rPr sz="1000" b="0" i="1" u="none">
                <a:solidFill>
                  <a:srgbClr val="232A38"/>
                </a:solidFill>
                <a:latin typeface="Calibri"/>
              </a:rPr>
              <a:t>Mark 16:15-16</a:t>
            </a:r>
          </a:p>
          <a:p>
            <a:pPr algn="l">
              <a:lnSpc>
                <a:spcPct val="108000"/>
              </a:lnSpc>
              <a:spcBef>
                <a:spcPts val="0"/>
              </a:spcBef>
              <a:spcAft>
                <a:spcPts val="250"/>
              </a:spcAft>
            </a:pPr>
            <a:r>
              <a:rPr sz="1000" b="0" i="1" u="none">
                <a:solidFill>
                  <a:srgbClr val="232A38"/>
                </a:solidFill>
                <a:latin typeface="Calibri"/>
              </a:rPr>
              <a:t>Luke 24:44-49</a:t>
            </a:r>
          </a:p>
          <a:p>
            <a:pPr algn="l">
              <a:lnSpc>
                <a:spcPct val="108000"/>
              </a:lnSpc>
              <a:spcBef>
                <a:spcPts val="0"/>
              </a:spcBef>
              <a:spcAft>
                <a:spcPts val="250"/>
              </a:spcAft>
            </a:pPr>
            <a:r>
              <a:rPr sz="1000" b="0" i="1" u="none">
                <a:solidFill>
                  <a:srgbClr val="232A38"/>
                </a:solidFill>
                <a:latin typeface="Calibri"/>
              </a:rPr>
              <a:t>Acts 1:8</a:t>
            </a:r>
          </a:p>
          <a:p>
            <a:pPr algn="l">
              <a:lnSpc>
                <a:spcPct val="110000"/>
              </a:lnSpc>
              <a:spcBef>
                <a:spcPts val="400"/>
              </a:spcBef>
              <a:spcAft>
                <a:spcPts val="0"/>
              </a:spcAft>
            </a:pPr>
            <a:r>
              <a:rPr sz="950" b="0" i="0" u="none">
                <a:solidFill>
                  <a:srgbClr val="4C566B"/>
                </a:solidFill>
                <a:latin typeface="Calibri"/>
              </a:rPr>
              <a:t>The Great Commission is the mandate of the Church and the ground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Great Commission is the command of the risen Lord to make disciples of all nations, the mandate of the Church and the ground of its mission.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Role of the Holy Spirit in 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159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role of the Holy Spirit in the mission is the empowerment of the witness and the conviction of the world. The Spirit is the one who gives the power to the witness (Acts 1:8), who convicts the world of sin, of righteousness, and of judgement (John 16:8-11), and who guides the Church in the mission (Acts 13:1-4; 16:6-10). The Spirit is the agent of the conversion of the sinner and the ground of the Church's power in the mission. The doctrine of the role of the Spirit in the mission is the ground of the Church's power and of its hope. The witness of the Church is the witness of the Spirit, and it is to be conducted in the power of the Spirit.</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empowerment of the witness by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conviction of the world by the Spirit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guidance of the Church in the mission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power and of its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1:8</a:t>
            </a:r>
          </a:p>
          <a:p>
            <a:pPr algn="l">
              <a:lnSpc>
                <a:spcPct val="108000"/>
              </a:lnSpc>
              <a:spcBef>
                <a:spcPts val="0"/>
              </a:spcBef>
              <a:spcAft>
                <a:spcPts val="250"/>
              </a:spcAft>
            </a:pPr>
            <a:r>
              <a:rPr sz="1000" b="0" i="1" u="none">
                <a:solidFill>
                  <a:srgbClr val="232A38"/>
                </a:solidFill>
                <a:latin typeface="Calibri"/>
              </a:rPr>
              <a:t>John 16:8-11</a:t>
            </a:r>
          </a:p>
          <a:p>
            <a:pPr algn="l">
              <a:lnSpc>
                <a:spcPct val="108000"/>
              </a:lnSpc>
              <a:spcBef>
                <a:spcPts val="0"/>
              </a:spcBef>
              <a:spcAft>
                <a:spcPts val="250"/>
              </a:spcAft>
            </a:pPr>
            <a:r>
              <a:rPr sz="1000" b="0" i="1" u="none">
                <a:solidFill>
                  <a:srgbClr val="232A38"/>
                </a:solidFill>
                <a:latin typeface="Calibri"/>
              </a:rPr>
              <a:t>Acts 13:1-4</a:t>
            </a:r>
          </a:p>
          <a:p>
            <a:pPr algn="l">
              <a:lnSpc>
                <a:spcPct val="108000"/>
              </a:lnSpc>
              <a:spcBef>
                <a:spcPts val="0"/>
              </a:spcBef>
              <a:spcAft>
                <a:spcPts val="250"/>
              </a:spcAft>
            </a:pPr>
            <a:r>
              <a:rPr sz="1000" b="0" i="1" u="none">
                <a:solidFill>
                  <a:srgbClr val="232A38"/>
                </a:solidFill>
                <a:latin typeface="Calibri"/>
              </a:rPr>
              <a:t>Acts 16:6-10</a:t>
            </a:r>
          </a:p>
          <a:p>
            <a:pPr algn="l">
              <a:lnSpc>
                <a:spcPct val="110000"/>
              </a:lnSpc>
              <a:spcBef>
                <a:spcPts val="400"/>
              </a:spcBef>
              <a:spcAft>
                <a:spcPts val="0"/>
              </a:spcAft>
            </a:pPr>
            <a:r>
              <a:rPr sz="950" b="0" i="0" u="none">
                <a:solidFill>
                  <a:srgbClr val="4C566B"/>
                </a:solidFill>
                <a:latin typeface="Calibri"/>
              </a:rPr>
              <a:t>The doctrine of the role of the Spirit in the mission is the ground of the Church's power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Holy Spirit empowers the witness, convicts the world, and guides the Church in the mission, the ground of the Church's power.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History of Missions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history of missions is the story of the extension of the faith to the nations, from the apostolic age to the present. The apostolic age saw the extension of the faith to the Mediterranean world (Acts 1-28). The medieval period saw the mission to the Slavic peoples and the crusades. The Reformation saw the renewal of the mission and the sending of the missionaries to the world. The modern mission began in the late eighteenth century with the sending of the missionaries to the heathen lands (William Carey, 1793). The twentieth century saw the great missionary movements and the extension of the faith to the whole world. The history of the missions is the history of the work of God in the world, and it is the ground of the Church's hope and of its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apostolic age: the extension to the Mediterranean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medieval and the Reformation missions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modern mission from the late eighteenth century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work of God in the world and the ground of the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1:8</a:t>
            </a:r>
          </a:p>
          <a:p>
            <a:pPr algn="l">
              <a:lnSpc>
                <a:spcPct val="108000"/>
              </a:lnSpc>
              <a:spcBef>
                <a:spcPts val="0"/>
              </a:spcBef>
              <a:spcAft>
                <a:spcPts val="250"/>
              </a:spcAft>
            </a:pPr>
            <a:r>
              <a:rPr sz="1000" b="0" i="1" u="none">
                <a:solidFill>
                  <a:srgbClr val="232A38"/>
                </a:solidFill>
                <a:latin typeface="Calibri"/>
              </a:rPr>
              <a:t>Acts 13:1-4</a:t>
            </a:r>
          </a:p>
          <a:p>
            <a:pPr algn="l">
              <a:lnSpc>
                <a:spcPct val="108000"/>
              </a:lnSpc>
              <a:spcBef>
                <a:spcPts val="0"/>
              </a:spcBef>
              <a:spcAft>
                <a:spcPts val="250"/>
              </a:spcAft>
            </a:pPr>
            <a:r>
              <a:rPr sz="1000" b="0" i="1" u="none">
                <a:solidFill>
                  <a:srgbClr val="232A38"/>
                </a:solidFill>
                <a:latin typeface="Calibri"/>
              </a:rPr>
              <a:t>Romans 15:20-21</a:t>
            </a:r>
          </a:p>
          <a:p>
            <a:pPr algn="l">
              <a:lnSpc>
                <a:spcPct val="108000"/>
              </a:lnSpc>
              <a:spcBef>
                <a:spcPts val="0"/>
              </a:spcBef>
              <a:spcAft>
                <a:spcPts val="250"/>
              </a:spcAft>
            </a:pPr>
            <a:r>
              <a:rPr sz="1000" b="0" i="1" u="none">
                <a:solidFill>
                  <a:srgbClr val="232A38"/>
                </a:solidFill>
                <a:latin typeface="Calibri"/>
              </a:rPr>
              <a:t>1 Corinthians 9:22-23</a:t>
            </a:r>
          </a:p>
          <a:p>
            <a:pPr algn="l">
              <a:lnSpc>
                <a:spcPct val="110000"/>
              </a:lnSpc>
              <a:spcBef>
                <a:spcPts val="400"/>
              </a:spcBef>
              <a:spcAft>
                <a:spcPts val="0"/>
              </a:spcAft>
            </a:pPr>
            <a:r>
              <a:rPr sz="950" b="0" i="0" u="none">
                <a:solidFill>
                  <a:srgbClr val="4C566B"/>
                </a:solidFill>
                <a:latin typeface="Calibri"/>
              </a:rPr>
              <a:t>The history of the missions is the history of the work of God in the world and the ground of the Church's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history of missions is the story of the extension of the faith to the nations, from the apostolic age to the present, the work of God in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Methods of Mission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methods of mission are the ways by which the Church witnesses to the world. The chief methods are the proclamation of the gospel (the kerygma), the display of the life of grace (the demonstration), and the meeting of the needs of the world (the service). The proclamation is the primary method, for the gospel is the power of God to the salvation of everyone who believes (Rom 1:16). The demonstration is the display of the life of the one who is in Christ, and the service is the meeting of the physical and the social needs of the world. The methods of the mission are to be held in the balance, with the proclamation as the primary method and the demonstration and the service as the supporting methods. The doctrine of the methods is the ground of the Church's witness and of its effectiveness.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proclamation of the gospel as the primary method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display of the life of grace as the demonstration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meeting of the needs of the world as the service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effectiveness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1:16</a:t>
            </a:r>
          </a:p>
          <a:p>
            <a:pPr algn="l">
              <a:lnSpc>
                <a:spcPct val="108000"/>
              </a:lnSpc>
              <a:spcBef>
                <a:spcPts val="0"/>
              </a:spcBef>
              <a:spcAft>
                <a:spcPts val="250"/>
              </a:spcAft>
            </a:pPr>
            <a:r>
              <a:rPr sz="1000" b="0" i="1" u="none">
                <a:solidFill>
                  <a:srgbClr val="232A38"/>
                </a:solidFill>
                <a:latin typeface="Calibri"/>
              </a:rPr>
              <a:t>Acts 4:32-37</a:t>
            </a:r>
          </a:p>
          <a:p>
            <a:pPr algn="l">
              <a:lnSpc>
                <a:spcPct val="108000"/>
              </a:lnSpc>
              <a:spcBef>
                <a:spcPts val="0"/>
              </a:spcBef>
              <a:spcAft>
                <a:spcPts val="250"/>
              </a:spcAft>
            </a:pPr>
            <a:r>
              <a:rPr sz="1000" b="0" i="1" u="none">
                <a:solidFill>
                  <a:srgbClr val="232A38"/>
                </a:solidFill>
                <a:latin typeface="Calibri"/>
              </a:rPr>
              <a:t>Matthew 10:8</a:t>
            </a:r>
          </a:p>
          <a:p>
            <a:pPr algn="l">
              <a:lnSpc>
                <a:spcPct val="108000"/>
              </a:lnSpc>
              <a:spcBef>
                <a:spcPts val="0"/>
              </a:spcBef>
              <a:spcAft>
                <a:spcPts val="250"/>
              </a:spcAft>
            </a:pPr>
            <a:r>
              <a:rPr sz="1000" b="0" i="1" u="none">
                <a:solidFill>
                  <a:srgbClr val="232A38"/>
                </a:solidFill>
                <a:latin typeface="Calibri"/>
              </a:rPr>
              <a:t>1 John 3:17-18</a:t>
            </a:r>
          </a:p>
          <a:p>
            <a:pPr algn="l">
              <a:lnSpc>
                <a:spcPct val="110000"/>
              </a:lnSpc>
              <a:spcBef>
                <a:spcPts val="400"/>
              </a:spcBef>
              <a:spcAft>
                <a:spcPts val="0"/>
              </a:spcAft>
            </a:pPr>
            <a:r>
              <a:rPr sz="950" b="0" i="0" u="none">
                <a:solidFill>
                  <a:srgbClr val="4C566B"/>
                </a:solidFill>
                <a:latin typeface="Calibri"/>
              </a:rPr>
              <a:t>The doctrine of the methods of the mission is the ground of the Church's witness and of its effectiveness.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methods of mission are the proclamation, the demonstration, and the service, with the proclamation as the primary method.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Mission in the Modern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Mission in the modern world is the application of the faith to the present situation of the world. The modern world is marked by the pluralism of the religions, the secularism of the culture, and the globalisation of the society. The Church is to witness to the world in the light of the gospel, and it is to engage the questions of the pluralism, the secularism, and the globalisation. The mission in the modern world is to be conducted with the truth of the gospel and the love of the neighbour, and it is to be the witness of the kingdom in the present age. The doctrine of the mission in the modern world is the ground of the Church's witness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pluralism of the religions and the secularism of the culture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globalisation of the society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in the light of the gospel and the love of the neighbour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of the kingdom in the present 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17:15-19</a:t>
            </a:r>
          </a:p>
          <a:p>
            <a:pPr algn="l">
              <a:lnSpc>
                <a:spcPct val="108000"/>
              </a:lnSpc>
              <a:spcBef>
                <a:spcPts val="0"/>
              </a:spcBef>
              <a:spcAft>
                <a:spcPts val="250"/>
              </a:spcAft>
            </a:pPr>
            <a:r>
              <a:rPr sz="1000" b="0" i="1" u="none">
                <a:solidFill>
                  <a:srgbClr val="232A38"/>
                </a:solidFill>
                <a:latin typeface="Calibri"/>
              </a:rPr>
              <a:t>Matthew 28:19-20</a:t>
            </a:r>
          </a:p>
          <a:p>
            <a:pPr algn="l">
              <a:lnSpc>
                <a:spcPct val="108000"/>
              </a:lnSpc>
              <a:spcBef>
                <a:spcPts val="0"/>
              </a:spcBef>
              <a:spcAft>
                <a:spcPts val="250"/>
              </a:spcAft>
            </a:pPr>
            <a:r>
              <a:rPr sz="1000" b="0" i="1" u="none">
                <a:solidFill>
                  <a:srgbClr val="232A38"/>
                </a:solidFill>
                <a:latin typeface="Calibri"/>
              </a:rPr>
              <a:t>2 Timothy 4:2</a:t>
            </a:r>
          </a:p>
          <a:p>
            <a:pPr algn="l">
              <a:lnSpc>
                <a:spcPct val="108000"/>
              </a:lnSpc>
              <a:spcBef>
                <a:spcPts val="0"/>
              </a:spcBef>
              <a:spcAft>
                <a:spcPts val="250"/>
              </a:spcAft>
            </a:pPr>
            <a:r>
              <a:rPr sz="1000" b="0" i="1" u="none">
                <a:solidFill>
                  <a:srgbClr val="232A38"/>
                </a:solidFill>
                <a:latin typeface="Calibri"/>
              </a:rPr>
              <a:t>1 Peter 2:9-12</a:t>
            </a:r>
          </a:p>
          <a:p>
            <a:pPr algn="l">
              <a:lnSpc>
                <a:spcPct val="110000"/>
              </a:lnSpc>
              <a:spcBef>
                <a:spcPts val="400"/>
              </a:spcBef>
              <a:spcAft>
                <a:spcPts val="0"/>
              </a:spcAft>
            </a:pPr>
            <a:r>
              <a:rPr sz="950" b="0" i="0" u="none">
                <a:solidFill>
                  <a:srgbClr val="4C566B"/>
                </a:solidFill>
                <a:latin typeface="Calibri"/>
              </a:rPr>
              <a:t>The doctrine of the mission in the modern world is the ground of the Church's witness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Mission in the modern world is the witness of the Church in the light of the gospel, engaging the pluralism, the secularism, and the globalisation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Ecumenism and Christian Unity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Ecumenism is the movement for the unity of the Christian churches, and it is the ground of the Church's witness to the world. The unity of the Church is the ground of its witness, for the division of the churches is the scandal of the gospel and the hindrance of the witness (John 17:20-23). The ecumenical movement seeks the unity of the churches in the light of the gospel, and it is to be conducted with the truth of the faith and the love of the neighbour. The Christian unity is the unity of the faith and the unity of the love, and it is the ground of the Church's witness to the world. The doctrine of the ecumenism is the ground of the Church's witness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ecumenical movement for the unity of the churches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of the Church as the ground of the witness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unity of the faith and the unity of the love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17:20-23</a:t>
            </a:r>
          </a:p>
          <a:p>
            <a:pPr algn="l">
              <a:lnSpc>
                <a:spcPct val="108000"/>
              </a:lnSpc>
              <a:spcBef>
                <a:spcPts val="0"/>
              </a:spcBef>
              <a:spcAft>
                <a:spcPts val="250"/>
              </a:spcAft>
            </a:pPr>
            <a:r>
              <a:rPr sz="1000" b="0" i="1" u="none">
                <a:solidFill>
                  <a:srgbClr val="232A38"/>
                </a:solidFill>
                <a:latin typeface="Calibri"/>
              </a:rPr>
              <a:t>Ephesians 4:1-6</a:t>
            </a:r>
          </a:p>
          <a:p>
            <a:pPr algn="l">
              <a:lnSpc>
                <a:spcPct val="108000"/>
              </a:lnSpc>
              <a:spcBef>
                <a:spcPts val="0"/>
              </a:spcBef>
              <a:spcAft>
                <a:spcPts val="250"/>
              </a:spcAft>
            </a:pPr>
            <a:r>
              <a:rPr sz="1000" b="0" i="1" u="none">
                <a:solidFill>
                  <a:srgbClr val="232A38"/>
                </a:solidFill>
                <a:latin typeface="Calibri"/>
              </a:rPr>
              <a:t>1 Corinthians 1:10</a:t>
            </a:r>
          </a:p>
          <a:p>
            <a:pPr algn="l">
              <a:lnSpc>
                <a:spcPct val="108000"/>
              </a:lnSpc>
              <a:spcBef>
                <a:spcPts val="0"/>
              </a:spcBef>
              <a:spcAft>
                <a:spcPts val="250"/>
              </a:spcAft>
            </a:pPr>
            <a:r>
              <a:rPr sz="1000" b="0" i="1" u="none">
                <a:solidFill>
                  <a:srgbClr val="232A38"/>
                </a:solidFill>
                <a:latin typeface="Calibri"/>
              </a:rPr>
              <a:t>Psalm 133:1</a:t>
            </a:r>
          </a:p>
          <a:p>
            <a:pPr algn="l">
              <a:lnSpc>
                <a:spcPct val="110000"/>
              </a:lnSpc>
              <a:spcBef>
                <a:spcPts val="400"/>
              </a:spcBef>
              <a:spcAft>
                <a:spcPts val="0"/>
              </a:spcAft>
            </a:pPr>
            <a:r>
              <a:rPr sz="950" b="0" i="0" u="none">
                <a:solidFill>
                  <a:srgbClr val="4C566B"/>
                </a:solidFill>
                <a:latin typeface="Calibri"/>
              </a:rPr>
              <a:t>The doctrine of the ecumenism is the ground of the Church's witness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Ecumenism is the movement for the unity of the Christian churches, the ground of the Church's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and the World Religions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and the world religions is the relation of the Christian faith to the other religions of the world. The Christian faith is the only way of salvation (John 14:6; Acts 4:12), and it is to be presented to the world with the truth and the love. The world religions are to be studied with the honesty of the scholarship and the discernment of the faith, and they are to be engaged with the witness of the gospel. The relation of the Church to the world religions is to be one of the witness, not of the condemnation, and it is to be conducted with the love of the neighbour and the truth of the gospel. The doctrine of the Church and the world religions is the ground of the Church's witness and of its dialogue.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Christian faith as the only way of salvation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study of the world religions with the honesty and the discernment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not the condemnation, of the other religions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of its dialogue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14:6</a:t>
            </a:r>
          </a:p>
          <a:p>
            <a:pPr algn="l">
              <a:lnSpc>
                <a:spcPct val="108000"/>
              </a:lnSpc>
              <a:spcBef>
                <a:spcPts val="0"/>
              </a:spcBef>
              <a:spcAft>
                <a:spcPts val="250"/>
              </a:spcAft>
            </a:pPr>
            <a:r>
              <a:rPr sz="1000" b="0" i="1" u="none">
                <a:solidFill>
                  <a:srgbClr val="232A38"/>
                </a:solidFill>
                <a:latin typeface="Calibri"/>
              </a:rPr>
              <a:t>Acts 4:12</a:t>
            </a:r>
          </a:p>
          <a:p>
            <a:pPr algn="l">
              <a:lnSpc>
                <a:spcPct val="108000"/>
              </a:lnSpc>
              <a:spcBef>
                <a:spcPts val="0"/>
              </a:spcBef>
              <a:spcAft>
                <a:spcPts val="250"/>
              </a:spcAft>
            </a:pPr>
            <a:r>
              <a:rPr sz="1000" b="0" i="1" u="none">
                <a:solidFill>
                  <a:srgbClr val="232A38"/>
                </a:solidFill>
                <a:latin typeface="Calibri"/>
              </a:rPr>
              <a:t>Acts 17:22-31</a:t>
            </a:r>
          </a:p>
          <a:p>
            <a:pPr algn="l">
              <a:lnSpc>
                <a:spcPct val="108000"/>
              </a:lnSpc>
              <a:spcBef>
                <a:spcPts val="0"/>
              </a:spcBef>
              <a:spcAft>
                <a:spcPts val="250"/>
              </a:spcAft>
            </a:pPr>
            <a:r>
              <a:rPr sz="1000" b="0" i="1" u="none">
                <a:solidFill>
                  <a:srgbClr val="232A38"/>
                </a:solidFill>
                <a:latin typeface="Calibri"/>
              </a:rPr>
              <a:t>1 Peter 3:15-16</a:t>
            </a:r>
          </a:p>
          <a:p>
            <a:pPr algn="l">
              <a:lnSpc>
                <a:spcPct val="110000"/>
              </a:lnSpc>
              <a:spcBef>
                <a:spcPts val="400"/>
              </a:spcBef>
              <a:spcAft>
                <a:spcPts val="0"/>
              </a:spcAft>
            </a:pPr>
            <a:r>
              <a:rPr sz="950" b="0" i="0" u="none">
                <a:solidFill>
                  <a:srgbClr val="4C566B"/>
                </a:solidFill>
                <a:latin typeface="Calibri"/>
              </a:rPr>
              <a:t>The doctrine of the Church and the world religions is the ground of the Church's witness and of its dialogue.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is to present the gospel to the world religions with the truth and the love, in the witness and the dialogue, not the condemnation.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Christian Dialogue and Witness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Christian dialogue and witness is the engagement of the Church with the world in the light of the gospel. The dialogue is the conversation with the other in the search for the truth, and the witness is the presentation of the gospel to the world. The two are not opposed but complementary: the dialogue is the preparation of the way, and the witness is the proclamation of the gospel. The Christian dialogue and witness is to be conducted with the love of the neighbour and the truth of the gospel, and it is the ground of the Church's engagement with the world. The doctrine of the dialogue and the witness is the ground of the Church's engagement and of its hope.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dialogue as the conversation in the search for the truth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as the proclamation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complementarity of the dialogue and the witness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engagement with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17:22-34</a:t>
            </a:r>
          </a:p>
          <a:p>
            <a:pPr algn="l">
              <a:lnSpc>
                <a:spcPct val="108000"/>
              </a:lnSpc>
              <a:spcBef>
                <a:spcPts val="0"/>
              </a:spcBef>
              <a:spcAft>
                <a:spcPts val="250"/>
              </a:spcAft>
            </a:pPr>
            <a:r>
              <a:rPr sz="1000" b="0" i="1" u="none">
                <a:solidFill>
                  <a:srgbClr val="232A38"/>
                </a:solidFill>
                <a:latin typeface="Calibri"/>
              </a:rPr>
              <a:t>1 Peter 3:15-16</a:t>
            </a:r>
          </a:p>
          <a:p>
            <a:pPr algn="l">
              <a:lnSpc>
                <a:spcPct val="108000"/>
              </a:lnSpc>
              <a:spcBef>
                <a:spcPts val="0"/>
              </a:spcBef>
              <a:spcAft>
                <a:spcPts val="250"/>
              </a:spcAft>
            </a:pPr>
            <a:r>
              <a:rPr sz="1000" b="0" i="1" u="none">
                <a:solidFill>
                  <a:srgbClr val="232A38"/>
                </a:solidFill>
                <a:latin typeface="Calibri"/>
              </a:rPr>
              <a:t>Colossians 4:5-6</a:t>
            </a:r>
          </a:p>
          <a:p>
            <a:pPr algn="l">
              <a:lnSpc>
                <a:spcPct val="108000"/>
              </a:lnSpc>
              <a:spcBef>
                <a:spcPts val="0"/>
              </a:spcBef>
              <a:spcAft>
                <a:spcPts val="250"/>
              </a:spcAft>
            </a:pPr>
            <a:r>
              <a:rPr sz="1000" b="0" i="1" u="none">
                <a:solidFill>
                  <a:srgbClr val="232A38"/>
                </a:solidFill>
                <a:latin typeface="Calibri"/>
              </a:rPr>
              <a:t>1 Corinthians 9:19-23</a:t>
            </a:r>
          </a:p>
          <a:p>
            <a:pPr algn="l">
              <a:lnSpc>
                <a:spcPct val="110000"/>
              </a:lnSpc>
              <a:spcBef>
                <a:spcPts val="400"/>
              </a:spcBef>
              <a:spcAft>
                <a:spcPts val="0"/>
              </a:spcAft>
            </a:pPr>
            <a:r>
              <a:rPr sz="950" b="0" i="0" u="none">
                <a:solidFill>
                  <a:srgbClr val="4C566B"/>
                </a:solidFill>
                <a:latin typeface="Calibri"/>
              </a:rPr>
              <a:t>The doctrine of the dialogue and the witness is the ground of the Church's engagement with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Christian dialogue and witness is the engagement of the Church with the world in the light of the gospel, with the love of the neighbour and the truth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13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Harvest of the Nations: Mission Today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harvest of the nations is the present responsibility of the Church for the extension of the faith to the whole world. The Lord says, 'The harvest is plentiful, but the laborers are few; therefore pray earnestly to the Lord of the harvest to send out laborers into his harvest' (Matt 9:37-38). The present situation of the world is marked by the great unreached peoples and the need of the workers of the gospel. The Church is to send the workers of the gospel to the nations, and it is to pray for the harvest of the nations. The doctrine of the harvest of the nations is the ground of the Church's responsibility and of its hope, and it is the motivation of the Christian's witness and of the Church's mission.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harvest as plentiful and the laborers as few</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unreached peoples of the present 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sending of the workers of the gospel to the nations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responsibility and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9:37-38</a:t>
            </a:r>
          </a:p>
          <a:p>
            <a:pPr algn="l">
              <a:lnSpc>
                <a:spcPct val="108000"/>
              </a:lnSpc>
              <a:spcBef>
                <a:spcPts val="0"/>
              </a:spcBef>
              <a:spcAft>
                <a:spcPts val="250"/>
              </a:spcAft>
            </a:pPr>
            <a:r>
              <a:rPr sz="1000" b="0" i="1" u="none">
                <a:solidFill>
                  <a:srgbClr val="232A38"/>
                </a:solidFill>
                <a:latin typeface="Calibri"/>
              </a:rPr>
              <a:t>Matthew 28:19-20</a:t>
            </a:r>
          </a:p>
          <a:p>
            <a:pPr algn="l">
              <a:lnSpc>
                <a:spcPct val="108000"/>
              </a:lnSpc>
              <a:spcBef>
                <a:spcPts val="0"/>
              </a:spcBef>
              <a:spcAft>
                <a:spcPts val="250"/>
              </a:spcAft>
            </a:pPr>
            <a:r>
              <a:rPr sz="1000" b="0" i="1" u="none">
                <a:solidFill>
                  <a:srgbClr val="232A38"/>
                </a:solidFill>
                <a:latin typeface="Calibri"/>
              </a:rPr>
              <a:t>Romans 10:14-15</a:t>
            </a:r>
          </a:p>
          <a:p>
            <a:pPr algn="l">
              <a:lnSpc>
                <a:spcPct val="108000"/>
              </a:lnSpc>
              <a:spcBef>
                <a:spcPts val="0"/>
              </a:spcBef>
              <a:spcAft>
                <a:spcPts val="250"/>
              </a:spcAft>
            </a:pPr>
            <a:r>
              <a:rPr sz="1000" b="0" i="1" u="none">
                <a:solidFill>
                  <a:srgbClr val="232A38"/>
                </a:solidFill>
                <a:latin typeface="Calibri"/>
              </a:rPr>
              <a:t>Isaiah 6:8</a:t>
            </a:r>
          </a:p>
          <a:p>
            <a:pPr algn="l">
              <a:lnSpc>
                <a:spcPct val="110000"/>
              </a:lnSpc>
              <a:spcBef>
                <a:spcPts val="400"/>
              </a:spcBef>
              <a:spcAft>
                <a:spcPts val="0"/>
              </a:spcAft>
            </a:pPr>
            <a:r>
              <a:rPr sz="950" b="0" i="0" u="none">
                <a:solidFill>
                  <a:srgbClr val="4C566B"/>
                </a:solidFill>
                <a:latin typeface="Calibri"/>
              </a:rPr>
              <a:t>The doctrine of the harvest of the nations is the ground of the Church's responsibility and of its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harvest of the nations is the present responsibility of the Church, the ground of its mission and the motivation of its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13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Missiology: The Mission of the Church</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Christian mission is the witness of the Church to the world, grounded in the mission of God and the command of the risen Christ.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Great Commission is the mandate of the Church, and the Holy Spirit is the empowerer and the guide of the mission.</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history and the methods of the mission are the proclamation, the demonstration, and the service, with the proclamation as the primary method.</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Church is to witness to the world in the light of the gospel, in the dialogue and the witness, for the harvest of the nations.</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mission is the extension of the faith to the nations; it flows from the person and work of Christ and from the doctrine of the Church, and it is the ground of the Church's witness and of its hope.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mission of the Church to the nations, the programme turns to the engagement of the faith with the present world: the theology and the contemporary world.</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14 · Theology and the Contemporary World</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14</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THEOLOGY AND THE CONTEMPORARY WORLD</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mission of the Church to the nations, the programme turns to the engagement of the faith with the present world: the theology and the contemporary world.</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549640" y="2455164"/>
            <a:ext cx="2286000" cy="2286000"/>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823960" y="2729484"/>
            <a:ext cx="1737360" cy="1737360"/>
          </a:xfrm>
          <a:prstGeom prst="ellipse">
            <a:avLst/>
          </a:prstGeom>
          <a:noFill/>
          <a:ln w="889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006840" y="3598164"/>
            <a:ext cx="1371600" cy="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92640" y="2912364"/>
            <a:ext cx="0" cy="1371600"/>
          </a:xfrm>
          <a:prstGeom prst="line">
            <a:avLst/>
          </a:prstGeom>
          <a:ln w="1143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9235440" y="3278124"/>
            <a:ext cx="777240" cy="777240"/>
          </a:xfrm>
          <a:prstGeom prst="line">
            <a:avLst/>
          </a:prstGeom>
          <a:ln w="1905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628632" y="3534156"/>
            <a:ext cx="128016" cy="128016"/>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14</a:t>
            </a:r>
          </a:p>
        </p:txBody>
      </p:sp>
      <p:sp>
        <p:nvSpPr>
          <p:cNvPr id="12" name="TextBox 11"/>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14</a:t>
            </a:r>
          </a:p>
        </p:txBody>
      </p:sp>
      <p:sp>
        <p:nvSpPr>
          <p:cNvPr id="13" name="TextBox 12"/>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THEOLOGY AND THE CONTEMPORARY WORLD</a:t>
            </a:r>
          </a:p>
        </p:txBody>
      </p:sp>
      <p:cxnSp>
        <p:nvCxnSpPr>
          <p:cNvPr id="14" name="Connector 13"/>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engagement of the faith with the arts, the economy, education, medicine, technology and the state.</a:t>
            </a:r>
          </a:p>
        </p:txBody>
      </p:sp>
      <p:sp>
        <p:nvSpPr>
          <p:cNvPr id="16" name="Rectangle 15"/>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575303"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14</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THEOLOGY AND THE CONTEMPORARY WORLD</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Theology and the Contemporary World</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treats the engagement of the faith with the contemporary world: the nature of practical theology, and the application of the faith to the arts, the economy, education, medicine, technology, and public life.</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faith is not a private system of beliefs but the interpretation of the whole of reality in the light of the word of God. The Christian engages the world in the light of the faith, and the Church is the witness of the kingdom in the present age.</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theology and the contemporary world is the ground of the Christian's engagement with the world and of the Church's witness. It answers the questions of how the faith is to be applied to the arts, the economy, the education, the medicine, the technology, and the public life.</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nature of practical theology and to apply the faith to the major areas of the contemporary world in the light of the word of God.</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Scope of Practical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Practical theology is the application of the faith to the concrete situations of the life and the ministry. It is the bridge between the systematic theology and the life of the Church, and it is the ground of the Christian's witness and of the Church's ministry. The scope of the practical theology includes the homiletics, the pastoral care, the catechetics, the mission, and the engagement with the world. Practical theology is not a mere technique but the application of the faith to the life in the light of the word of God. The doctrine of the practical theology is the ground of the Christian's ministry and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Practical theology as the application of the faith to the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bridge between the systematic theology and the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scope: the homiletics, the pastoral care, the catechetics, the mission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Christian's ministry and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Romans 12:1-2</a:t>
            </a:r>
          </a:p>
          <a:p>
            <a:pPr algn="l">
              <a:lnSpc>
                <a:spcPct val="108000"/>
              </a:lnSpc>
              <a:spcBef>
                <a:spcPts val="0"/>
              </a:spcBef>
              <a:spcAft>
                <a:spcPts val="250"/>
              </a:spcAft>
            </a:pPr>
            <a:r>
              <a:rPr sz="1000" b="0" i="1" u="none">
                <a:solidFill>
                  <a:srgbClr val="232A38"/>
                </a:solidFill>
                <a:latin typeface="Calibri"/>
              </a:rPr>
              <a:t>Colossians 4:5-6</a:t>
            </a:r>
          </a:p>
          <a:p>
            <a:pPr algn="l">
              <a:lnSpc>
                <a:spcPct val="108000"/>
              </a:lnSpc>
              <a:spcBef>
                <a:spcPts val="0"/>
              </a:spcBef>
              <a:spcAft>
                <a:spcPts val="250"/>
              </a:spcAft>
            </a:pPr>
            <a:r>
              <a:rPr sz="1000" b="0" i="1" u="none">
                <a:solidFill>
                  <a:srgbClr val="232A38"/>
                </a:solidFill>
                <a:latin typeface="Calibri"/>
              </a:rPr>
              <a:t>1 Corinthians 9:22-23</a:t>
            </a:r>
          </a:p>
          <a:p>
            <a:pPr algn="l">
              <a:lnSpc>
                <a:spcPct val="110000"/>
              </a:lnSpc>
              <a:spcBef>
                <a:spcPts val="400"/>
              </a:spcBef>
              <a:spcAft>
                <a:spcPts val="0"/>
              </a:spcAft>
            </a:pPr>
            <a:r>
              <a:rPr sz="950" b="0" i="0" u="none">
                <a:solidFill>
                  <a:srgbClr val="4C566B"/>
                </a:solidFill>
                <a:latin typeface="Calibri"/>
              </a:rPr>
              <a:t>The doctrine of the practical theology is the ground of the Christian's ministry and of the Church's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Practical theology is the application of the faith to the concrete situations of the life and the ministry, the bridge between the theology and the life.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and Culture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and culture is the relation of the Christian faith to the culture of the present age. The culture is the work of the human being, and it is the expression of the values and the beliefs of the society. The Christian is to engage the culture in the light of the faith, and the Church is to be the witness of the kingdom in the culture. The relation of the Church to the culture is to be one of the engagement, not of the isolation, and it is to be conducted with the truth of the gospel and the love of the neighbour. The doctrine of the Church and the culture is the ground of the Church's witness and of its engagement with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culture as the work of the human being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of the Church with the culture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of the kingdom in the culture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engagement with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5:13-16</a:t>
            </a:r>
          </a:p>
          <a:p>
            <a:pPr algn="l">
              <a:lnSpc>
                <a:spcPct val="108000"/>
              </a:lnSpc>
              <a:spcBef>
                <a:spcPts val="0"/>
              </a:spcBef>
              <a:spcAft>
                <a:spcPts val="250"/>
              </a:spcAft>
            </a:pPr>
            <a:r>
              <a:rPr sz="1000" b="0" i="1" u="none">
                <a:solidFill>
                  <a:srgbClr val="232A38"/>
                </a:solidFill>
                <a:latin typeface="Calibri"/>
              </a:rPr>
              <a:t>1 Peter 2:9-12</a:t>
            </a:r>
          </a:p>
          <a:p>
            <a:pPr algn="l">
              <a:lnSpc>
                <a:spcPct val="108000"/>
              </a:lnSpc>
              <a:spcBef>
                <a:spcPts val="0"/>
              </a:spcBef>
              <a:spcAft>
                <a:spcPts val="250"/>
              </a:spcAft>
            </a:pPr>
            <a:r>
              <a:rPr sz="1000" b="0" i="1" u="none">
                <a:solidFill>
                  <a:srgbClr val="232A38"/>
                </a:solidFill>
                <a:latin typeface="Calibri"/>
              </a:rPr>
              <a:t>Romans 12:1-2</a:t>
            </a:r>
          </a:p>
          <a:p>
            <a:pPr algn="l">
              <a:lnSpc>
                <a:spcPct val="108000"/>
              </a:lnSpc>
              <a:spcBef>
                <a:spcPts val="0"/>
              </a:spcBef>
              <a:spcAft>
                <a:spcPts val="250"/>
              </a:spcAft>
            </a:pPr>
            <a:r>
              <a:rPr sz="1000" b="0" i="1" u="none">
                <a:solidFill>
                  <a:srgbClr val="232A38"/>
                </a:solidFill>
                <a:latin typeface="Calibri"/>
              </a:rPr>
              <a:t>Colossians 1:9-13</a:t>
            </a:r>
          </a:p>
          <a:p>
            <a:pPr algn="l">
              <a:lnSpc>
                <a:spcPct val="110000"/>
              </a:lnSpc>
              <a:spcBef>
                <a:spcPts val="400"/>
              </a:spcBef>
              <a:spcAft>
                <a:spcPts val="0"/>
              </a:spcAft>
            </a:pPr>
            <a:r>
              <a:rPr sz="950" b="0" i="0" u="none">
                <a:solidFill>
                  <a:srgbClr val="4C566B"/>
                </a:solidFill>
                <a:latin typeface="Calibri"/>
              </a:rPr>
              <a:t>The doctrine of the Church and the culture is the ground of the Church's witness and of its engagement with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is to engage the culture in the light of the faith, as the witness of the kingdom in the present age, with the truth of the gospel and the love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the Arts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169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the arts is the relation of the Christian faith to the artistic expression of the human being. The arts are the work of the human being made in the image of God, and they are the expression of the beauty and the truth of the world. The Christian is to engage the arts in the light of the faith, and the Church is to use the arts for the glory of God and the beauty of the gospel. The relation of the theology to the arts is to be one of the engagement and the discernment, and it is the ground of the Church's witness in the artistic order. The doctrine of the theology and the arts is the ground of the Church's witness in the artistic expression of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arts as the work of the human being made in the image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expression of the beauty and the truth of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and the discernment of the arts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artistic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150</a:t>
            </a:r>
          </a:p>
          <a:p>
            <a:pPr algn="l">
              <a:lnSpc>
                <a:spcPct val="108000"/>
              </a:lnSpc>
              <a:spcBef>
                <a:spcPts val="0"/>
              </a:spcBef>
              <a:spcAft>
                <a:spcPts val="250"/>
              </a:spcAft>
            </a:pPr>
            <a:r>
              <a:rPr sz="1000" b="0" i="1" u="none">
                <a:solidFill>
                  <a:srgbClr val="232A38"/>
                </a:solidFill>
                <a:latin typeface="Calibri"/>
              </a:rPr>
              <a:t>Exodus 28:1-6</a:t>
            </a:r>
          </a:p>
          <a:p>
            <a:pPr algn="l">
              <a:lnSpc>
                <a:spcPct val="108000"/>
              </a:lnSpc>
              <a:spcBef>
                <a:spcPts val="0"/>
              </a:spcBef>
              <a:spcAft>
                <a:spcPts val="250"/>
              </a:spcAft>
            </a:pPr>
            <a:r>
              <a:rPr sz="1000" b="0" i="1" u="none">
                <a:solidFill>
                  <a:srgbClr val="232A38"/>
                </a:solidFill>
                <a:latin typeface="Calibri"/>
              </a:rPr>
              <a:t>1 Chronicles 25:1-7</a:t>
            </a:r>
          </a:p>
          <a:p>
            <a:pPr algn="l">
              <a:lnSpc>
                <a:spcPct val="108000"/>
              </a:lnSpc>
              <a:spcBef>
                <a:spcPts val="0"/>
              </a:spcBef>
              <a:spcAft>
                <a:spcPts val="250"/>
              </a:spcAft>
            </a:pPr>
            <a:r>
              <a:rPr sz="1000" b="0" i="1" u="none">
                <a:solidFill>
                  <a:srgbClr val="232A38"/>
                </a:solidFill>
                <a:latin typeface="Calibri"/>
              </a:rPr>
              <a:t>Ephesians 5:8-14</a:t>
            </a:r>
          </a:p>
          <a:p>
            <a:pPr algn="l">
              <a:lnSpc>
                <a:spcPct val="110000"/>
              </a:lnSpc>
              <a:spcBef>
                <a:spcPts val="400"/>
              </a:spcBef>
              <a:spcAft>
                <a:spcPts val="0"/>
              </a:spcAft>
            </a:pPr>
            <a:r>
              <a:rPr sz="950" b="0" i="0" u="none">
                <a:solidFill>
                  <a:srgbClr val="4C566B"/>
                </a:solidFill>
                <a:latin typeface="Calibri"/>
              </a:rPr>
              <a:t>The doctrine of the theology and the arts is the ground of the Church's witness in the artistic expression of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the arts is the engagement of the faith with the artistic expression of the human being, for the glory of God and the beauty of the gospel.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the Economy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the economy is the relation of the Christian faith to the economic order of the society. The economy is the management of the resources of the world, and it is the ground of the livelihood of the society. The Christian is to engage the economy in the light of the faith, and the Church is to witness to the economy in the light of the gospel. The relation of the theology to the economy is to be one of the engagement and the witness, and it is the ground of the Church's witness in the economic order. The doctrine of the theology and the economy is the ground of the Church's witness in the economic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economy as the management of the resources of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of the Church with the economic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to the economy in the light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economic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Proverbs 3:9-10</a:t>
            </a:r>
          </a:p>
          <a:p>
            <a:pPr algn="l">
              <a:lnSpc>
                <a:spcPct val="108000"/>
              </a:lnSpc>
              <a:spcBef>
                <a:spcPts val="0"/>
              </a:spcBef>
              <a:spcAft>
                <a:spcPts val="250"/>
              </a:spcAft>
            </a:pPr>
            <a:r>
              <a:rPr sz="1000" b="0" i="1" u="none">
                <a:solidFill>
                  <a:srgbClr val="232A38"/>
                </a:solidFill>
                <a:latin typeface="Calibri"/>
              </a:rPr>
              <a:t>2 Corinthians 9:6-8</a:t>
            </a:r>
          </a:p>
          <a:p>
            <a:pPr algn="l">
              <a:lnSpc>
                <a:spcPct val="108000"/>
              </a:lnSpc>
              <a:spcBef>
                <a:spcPts val="0"/>
              </a:spcBef>
              <a:spcAft>
                <a:spcPts val="250"/>
              </a:spcAft>
            </a:pPr>
            <a:r>
              <a:rPr sz="1000" b="0" i="1" u="none">
                <a:solidFill>
                  <a:srgbClr val="232A38"/>
                </a:solidFill>
                <a:latin typeface="Calibri"/>
              </a:rPr>
              <a:t>1 Timothy 6:6-10</a:t>
            </a:r>
          </a:p>
          <a:p>
            <a:pPr algn="l">
              <a:lnSpc>
                <a:spcPct val="108000"/>
              </a:lnSpc>
              <a:spcBef>
                <a:spcPts val="0"/>
              </a:spcBef>
              <a:spcAft>
                <a:spcPts val="250"/>
              </a:spcAft>
            </a:pPr>
            <a:r>
              <a:rPr sz="1000" b="0" i="1" u="none">
                <a:solidFill>
                  <a:srgbClr val="232A38"/>
                </a:solidFill>
                <a:latin typeface="Calibri"/>
              </a:rPr>
              <a:t>Acts 4:32-37</a:t>
            </a:r>
          </a:p>
          <a:p>
            <a:pPr algn="l">
              <a:lnSpc>
                <a:spcPct val="110000"/>
              </a:lnSpc>
              <a:spcBef>
                <a:spcPts val="400"/>
              </a:spcBef>
              <a:spcAft>
                <a:spcPts val="0"/>
              </a:spcAft>
            </a:pPr>
            <a:r>
              <a:rPr sz="950" b="0" i="0" u="none">
                <a:solidFill>
                  <a:srgbClr val="4C566B"/>
                </a:solidFill>
                <a:latin typeface="Calibri"/>
              </a:rPr>
              <a:t>The doctrine of the theology and the economy is the ground of the Church's witness in the economic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the economy is the engagement of the faith with the economic order, the witness of the Church in the management of the resources of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Education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education is the relation of the Christian faith to the educational order of the society. The education is the formation of the mind and the character of the human being, and it is the ground of the development of the society. The Christian is to engage the education in the light of the faith, and the Church is to witness to the education in the light of the gospel. The relation of the theology to the education is to be one of the engagement and the witness, and it is the ground of the Church's witness in the educational order. The doctrine of the theology and the education is the ground of the Church's witness in the educational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education as the formation of the mind and the character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of the Church with the educational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to the education in the light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educational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Proverbs 22:6</a:t>
            </a:r>
          </a:p>
          <a:p>
            <a:pPr algn="l">
              <a:lnSpc>
                <a:spcPct val="108000"/>
              </a:lnSpc>
              <a:spcBef>
                <a:spcPts val="0"/>
              </a:spcBef>
              <a:spcAft>
                <a:spcPts val="250"/>
              </a:spcAft>
            </a:pPr>
            <a:r>
              <a:rPr sz="1000" b="0" i="1" u="none">
                <a:solidFill>
                  <a:srgbClr val="232A38"/>
                </a:solidFill>
                <a:latin typeface="Calibri"/>
              </a:rPr>
              <a:t>Deuteronomy 6:6-9</a:t>
            </a:r>
          </a:p>
          <a:p>
            <a:pPr algn="l">
              <a:lnSpc>
                <a:spcPct val="108000"/>
              </a:lnSpc>
              <a:spcBef>
                <a:spcPts val="0"/>
              </a:spcBef>
              <a:spcAft>
                <a:spcPts val="250"/>
              </a:spcAft>
            </a:pPr>
            <a:r>
              <a:rPr sz="1000" b="0" i="1" u="none">
                <a:solidFill>
                  <a:srgbClr val="232A38"/>
                </a:solidFill>
                <a:latin typeface="Calibri"/>
              </a:rPr>
              <a:t>2 Timothy 3:14-17</a:t>
            </a:r>
          </a:p>
          <a:p>
            <a:pPr algn="l">
              <a:lnSpc>
                <a:spcPct val="108000"/>
              </a:lnSpc>
              <a:spcBef>
                <a:spcPts val="0"/>
              </a:spcBef>
              <a:spcAft>
                <a:spcPts val="250"/>
              </a:spcAft>
            </a:pPr>
            <a:r>
              <a:rPr sz="1000" b="0" i="1" u="none">
                <a:solidFill>
                  <a:srgbClr val="232A38"/>
                </a:solidFill>
                <a:latin typeface="Calibri"/>
              </a:rPr>
              <a:t>Ephesians 4:11-13</a:t>
            </a:r>
          </a:p>
          <a:p>
            <a:pPr algn="l">
              <a:lnSpc>
                <a:spcPct val="110000"/>
              </a:lnSpc>
              <a:spcBef>
                <a:spcPts val="400"/>
              </a:spcBef>
              <a:spcAft>
                <a:spcPts val="0"/>
              </a:spcAft>
            </a:pPr>
            <a:r>
              <a:rPr sz="950" b="0" i="0" u="none">
                <a:solidFill>
                  <a:srgbClr val="4C566B"/>
                </a:solidFill>
                <a:latin typeface="Calibri"/>
              </a:rPr>
              <a:t>The doctrine of the theology and the education is the ground of the Church's witness in the educational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education is the engagement of the faith with the educational order, the witness of the Church in the formation of the mind and the character.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Medicine and Health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medicine and health is the relation of the Christian faith to the medical and the health order of the society. The medicine is the care for the body and the health of the human being, and it is the ground of the well-being of the society. The Christian is to engage the medicine in the light of the faith, and the Church is to witness to the medicine in the light of the gospel. The relation of the theology to the medicine is to be one of the engagement and the witness, and it is the ground of the Church's witness in the medical order. The doctrine of the theology and the medicine is the ground of the Church's witness in the medical and the health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medicine as the care for the body and the health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of the Church with the medical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to the medicine in the light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medical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Psalm 103:2-5</a:t>
            </a:r>
          </a:p>
          <a:p>
            <a:pPr algn="l">
              <a:lnSpc>
                <a:spcPct val="108000"/>
              </a:lnSpc>
              <a:spcBef>
                <a:spcPts val="0"/>
              </a:spcBef>
              <a:spcAft>
                <a:spcPts val="250"/>
              </a:spcAft>
            </a:pPr>
            <a:r>
              <a:rPr sz="1000" b="0" i="1" u="none">
                <a:solidFill>
                  <a:srgbClr val="232A38"/>
                </a:solidFill>
                <a:latin typeface="Calibri"/>
              </a:rPr>
              <a:t>Proverbs 17:22</a:t>
            </a:r>
          </a:p>
          <a:p>
            <a:pPr algn="l">
              <a:lnSpc>
                <a:spcPct val="108000"/>
              </a:lnSpc>
              <a:spcBef>
                <a:spcPts val="0"/>
              </a:spcBef>
              <a:spcAft>
                <a:spcPts val="250"/>
              </a:spcAft>
            </a:pPr>
            <a:r>
              <a:rPr sz="1000" b="0" i="1" u="none">
                <a:solidFill>
                  <a:srgbClr val="232A38"/>
                </a:solidFill>
                <a:latin typeface="Calibri"/>
              </a:rPr>
              <a:t>Exodus 15:26</a:t>
            </a:r>
          </a:p>
          <a:p>
            <a:pPr algn="l">
              <a:lnSpc>
                <a:spcPct val="108000"/>
              </a:lnSpc>
              <a:spcBef>
                <a:spcPts val="0"/>
              </a:spcBef>
              <a:spcAft>
                <a:spcPts val="250"/>
              </a:spcAft>
            </a:pPr>
            <a:r>
              <a:rPr sz="1000" b="0" i="1" u="none">
                <a:solidFill>
                  <a:srgbClr val="232A38"/>
                </a:solidFill>
                <a:latin typeface="Calibri"/>
              </a:rPr>
              <a:t>Matthew 10:8</a:t>
            </a:r>
          </a:p>
          <a:p>
            <a:pPr algn="l">
              <a:lnSpc>
                <a:spcPct val="110000"/>
              </a:lnSpc>
              <a:spcBef>
                <a:spcPts val="400"/>
              </a:spcBef>
              <a:spcAft>
                <a:spcPts val="0"/>
              </a:spcAft>
            </a:pPr>
            <a:r>
              <a:rPr sz="950" b="0" i="0" u="none">
                <a:solidFill>
                  <a:srgbClr val="4C566B"/>
                </a:solidFill>
                <a:latin typeface="Calibri"/>
              </a:rPr>
              <a:t>The doctrine of the theology and the medicine is the ground of the Church's witness in the medical and the health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medicine is the engagement of the faith with the medical order, the witness of the Church in the care for the body and the health.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Technology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technology is the relation of the Christian faith to the technological order of the society. The technology is the application of the knowledge to the management of the world, and it is the ground of the development of the society. The Christian is to engage the technology in the light of the faith, and the Church is to witness to the technology in the light of the gospel. The relation of the theology to the technology is to be one of the engagement and the discernment, and it is the ground of the Church's witness in the technological order. The doctrine of the theology and the technology is the ground of the Church's witness in the technological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technology as the application of the knowledge to the management of the world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of the Church with the technological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and the discernment of the technology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technological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Genesis 1:28</a:t>
            </a:r>
          </a:p>
          <a:p>
            <a:pPr algn="l">
              <a:lnSpc>
                <a:spcPct val="108000"/>
              </a:lnSpc>
              <a:spcBef>
                <a:spcPts val="0"/>
              </a:spcBef>
              <a:spcAft>
                <a:spcPts val="250"/>
              </a:spcAft>
            </a:pPr>
            <a:r>
              <a:rPr sz="1000" b="0" i="1" u="none">
                <a:solidFill>
                  <a:srgbClr val="232A38"/>
                </a:solidFill>
                <a:latin typeface="Calibri"/>
              </a:rPr>
              <a:t>Daniel 4:27-33</a:t>
            </a:r>
          </a:p>
          <a:p>
            <a:pPr algn="l">
              <a:lnSpc>
                <a:spcPct val="108000"/>
              </a:lnSpc>
              <a:spcBef>
                <a:spcPts val="0"/>
              </a:spcBef>
              <a:spcAft>
                <a:spcPts val="250"/>
              </a:spcAft>
            </a:pPr>
            <a:r>
              <a:rPr sz="1000" b="0" i="1" u="none">
                <a:solidFill>
                  <a:srgbClr val="232A38"/>
                </a:solidFill>
                <a:latin typeface="Calibri"/>
              </a:rPr>
              <a:t>1 Corinthians 6:19-20</a:t>
            </a:r>
          </a:p>
          <a:p>
            <a:pPr algn="l">
              <a:lnSpc>
                <a:spcPct val="108000"/>
              </a:lnSpc>
              <a:spcBef>
                <a:spcPts val="0"/>
              </a:spcBef>
              <a:spcAft>
                <a:spcPts val="250"/>
              </a:spcAft>
            </a:pPr>
            <a:r>
              <a:rPr sz="1000" b="0" i="1" u="none">
                <a:solidFill>
                  <a:srgbClr val="232A38"/>
                </a:solidFill>
                <a:latin typeface="Calibri"/>
              </a:rPr>
              <a:t>Proverbs 24:3-4</a:t>
            </a:r>
          </a:p>
          <a:p>
            <a:pPr algn="l">
              <a:lnSpc>
                <a:spcPct val="110000"/>
              </a:lnSpc>
              <a:spcBef>
                <a:spcPts val="400"/>
              </a:spcBef>
              <a:spcAft>
                <a:spcPts val="0"/>
              </a:spcAft>
            </a:pPr>
            <a:r>
              <a:rPr sz="950" b="0" i="0" u="none">
                <a:solidFill>
                  <a:srgbClr val="4C566B"/>
                </a:solidFill>
                <a:latin typeface="Calibri"/>
              </a:rPr>
              <a:t>The doctrine of the theology and the technology is the ground of the Church's witness in the technological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technology is the engagement of the faith with the technological order, the witness of the Church in the application of the knowledge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and the State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and the state is the relation of the Christian faith to the political order of the society. The state is the institution of the civil order, and it is the ground of the peace and the justice of the society. The Christian is to honour the state (Rom 13:1-7; 1 Pet 2:13-17), and the Church is to witness to the state in the light of the gospel. The relation of the Church to the state is to be one of the honour and the witness, and it is the ground of the Church's witness in the political order. The doctrine of the Church and the state is the ground of the Church's witness in the political order of the society.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state as the institution of the civil order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honouring of the state and the witness to it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peace and the justice of the society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political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13:1-7</a:t>
            </a:r>
          </a:p>
          <a:p>
            <a:pPr algn="l">
              <a:lnSpc>
                <a:spcPct val="108000"/>
              </a:lnSpc>
              <a:spcBef>
                <a:spcPts val="0"/>
              </a:spcBef>
              <a:spcAft>
                <a:spcPts val="250"/>
              </a:spcAft>
            </a:pPr>
            <a:r>
              <a:rPr sz="1000" b="0" i="1" u="none">
                <a:solidFill>
                  <a:srgbClr val="232A38"/>
                </a:solidFill>
                <a:latin typeface="Calibri"/>
              </a:rPr>
              <a:t>1 Peter 2:13-17</a:t>
            </a:r>
          </a:p>
          <a:p>
            <a:pPr algn="l">
              <a:lnSpc>
                <a:spcPct val="108000"/>
              </a:lnSpc>
              <a:spcBef>
                <a:spcPts val="0"/>
              </a:spcBef>
              <a:spcAft>
                <a:spcPts val="250"/>
              </a:spcAft>
            </a:pPr>
            <a:r>
              <a:rPr sz="1000" b="0" i="1" u="none">
                <a:solidFill>
                  <a:srgbClr val="232A38"/>
                </a:solidFill>
                <a:latin typeface="Calibri"/>
              </a:rPr>
              <a:t>Matthew 22:21</a:t>
            </a:r>
          </a:p>
          <a:p>
            <a:pPr algn="l">
              <a:lnSpc>
                <a:spcPct val="108000"/>
              </a:lnSpc>
              <a:spcBef>
                <a:spcPts val="0"/>
              </a:spcBef>
              <a:spcAft>
                <a:spcPts val="250"/>
              </a:spcAft>
            </a:pPr>
            <a:r>
              <a:rPr sz="1000" b="0" i="1" u="none">
                <a:solidFill>
                  <a:srgbClr val="232A38"/>
                </a:solidFill>
                <a:latin typeface="Calibri"/>
              </a:rPr>
              <a:t>Acts 5:29</a:t>
            </a:r>
          </a:p>
          <a:p>
            <a:pPr algn="l">
              <a:lnSpc>
                <a:spcPct val="110000"/>
              </a:lnSpc>
              <a:spcBef>
                <a:spcPts val="400"/>
              </a:spcBef>
              <a:spcAft>
                <a:spcPts val="0"/>
              </a:spcAft>
            </a:pPr>
            <a:r>
              <a:rPr sz="950" b="0" i="0" u="none">
                <a:solidFill>
                  <a:srgbClr val="4C566B"/>
                </a:solidFill>
                <a:latin typeface="Calibri"/>
              </a:rPr>
              <a:t>The doctrine of the Church and the state is the ground of the Church's witness in the political order of the society.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and the state is the relation of the faith to the political order, the honouring of the state and the witness to it in the light of the gospel.</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and Global Challenges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and global challenges is the engagement of the faith with the great questions of the present age — the poverty, the conflict, the environmental crisis, and the globalisation. The Christian is to engage the global challenges in the light of the faith, and the Church is to witness to the global challenges in the light of the gospel. The relation of the Church to the global challenges is to be one of the engagement and the witness, and it is the ground of the Church's witness in the global order. The doctrine of the Church and the global challenges is the ground of the Church's witness in the global order of the present 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global challenges: the poverty, the conflict, the environment, the globalisation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of the Church with the global challenges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in the light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in the global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1:17</a:t>
            </a:r>
          </a:p>
          <a:p>
            <a:pPr algn="l">
              <a:lnSpc>
                <a:spcPct val="108000"/>
              </a:lnSpc>
              <a:spcBef>
                <a:spcPts val="0"/>
              </a:spcBef>
              <a:spcAft>
                <a:spcPts val="250"/>
              </a:spcAft>
            </a:pPr>
            <a:r>
              <a:rPr sz="1000" b="0" i="1" u="none">
                <a:solidFill>
                  <a:srgbClr val="232A38"/>
                </a:solidFill>
                <a:latin typeface="Calibri"/>
              </a:rPr>
              <a:t>Micah 6:8</a:t>
            </a:r>
          </a:p>
          <a:p>
            <a:pPr algn="l">
              <a:lnSpc>
                <a:spcPct val="108000"/>
              </a:lnSpc>
              <a:spcBef>
                <a:spcPts val="0"/>
              </a:spcBef>
              <a:spcAft>
                <a:spcPts val="250"/>
              </a:spcAft>
            </a:pPr>
            <a:r>
              <a:rPr sz="1000" b="0" i="1" u="none">
                <a:solidFill>
                  <a:srgbClr val="232A38"/>
                </a:solidFill>
                <a:latin typeface="Calibri"/>
              </a:rPr>
              <a:t>Matthew 25:35-40</a:t>
            </a:r>
          </a:p>
          <a:p>
            <a:pPr algn="l">
              <a:lnSpc>
                <a:spcPct val="108000"/>
              </a:lnSpc>
              <a:spcBef>
                <a:spcPts val="0"/>
              </a:spcBef>
              <a:spcAft>
                <a:spcPts val="250"/>
              </a:spcAft>
            </a:pPr>
            <a:r>
              <a:rPr sz="1000" b="0" i="1" u="none">
                <a:solidFill>
                  <a:srgbClr val="232A38"/>
                </a:solidFill>
                <a:latin typeface="Calibri"/>
              </a:rPr>
              <a:t>Romans 12:13</a:t>
            </a:r>
          </a:p>
          <a:p>
            <a:pPr algn="l">
              <a:lnSpc>
                <a:spcPct val="110000"/>
              </a:lnSpc>
              <a:spcBef>
                <a:spcPts val="400"/>
              </a:spcBef>
              <a:spcAft>
                <a:spcPts val="0"/>
              </a:spcAft>
            </a:pPr>
            <a:r>
              <a:rPr sz="950" b="0" i="0" u="none">
                <a:solidFill>
                  <a:srgbClr val="4C566B"/>
                </a:solidFill>
                <a:latin typeface="Calibri"/>
              </a:rPr>
              <a:t>The doctrine of the Church and the global challenges is the ground of the Church's witness in the global order of the present age.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is to engage the global challenges in the light of the faith, as the witness of the gospel in the poverty, the conflict, and the environmental crisis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14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Engaging the World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module has brought the engagement of the faith with the contemporary world to a summary. The faith is to be applied to the arts, the economy, the education, the medicine, the technology, and the public life, and the Church is to be the witness of the kingdom in the present age. The engagement of the faith with the world is to be conducted with the truth of the gospel and the love of the neighbour, and it is the ground of the Church's witness and of its hope. The doctrine of the theology and the contemporary world is the ground of the Christian's engagement with the world and of the Church's witness. The faith is not a private system of beliefs but the interpretation of the whole of reality in the light of the word of God.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application of the faith to the arts, the economy and the public life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engagement with the public life and the global challenges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of the kingdom in the present 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of its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Peter 2:9-12</a:t>
            </a:r>
          </a:p>
          <a:p>
            <a:pPr algn="l">
              <a:lnSpc>
                <a:spcPct val="108000"/>
              </a:lnSpc>
              <a:spcBef>
                <a:spcPts val="0"/>
              </a:spcBef>
              <a:spcAft>
                <a:spcPts val="250"/>
              </a:spcAft>
            </a:pPr>
            <a:r>
              <a:rPr sz="1000" b="0" i="1" u="none">
                <a:solidFill>
                  <a:srgbClr val="232A38"/>
                </a:solidFill>
                <a:latin typeface="Calibri"/>
              </a:rPr>
              <a:t>Matthew 5:13-16</a:t>
            </a:r>
          </a:p>
          <a:p>
            <a:pPr algn="l">
              <a:lnSpc>
                <a:spcPct val="108000"/>
              </a:lnSpc>
              <a:spcBef>
                <a:spcPts val="0"/>
              </a:spcBef>
              <a:spcAft>
                <a:spcPts val="250"/>
              </a:spcAft>
            </a:pPr>
            <a:r>
              <a:rPr sz="1000" b="0" i="1" u="none">
                <a:solidFill>
                  <a:srgbClr val="232A38"/>
                </a:solidFill>
                <a:latin typeface="Calibri"/>
              </a:rPr>
              <a:t>Romans 12:1-2</a:t>
            </a:r>
          </a:p>
          <a:p>
            <a:pPr algn="l">
              <a:lnSpc>
                <a:spcPct val="108000"/>
              </a:lnSpc>
              <a:spcBef>
                <a:spcPts val="0"/>
              </a:spcBef>
              <a:spcAft>
                <a:spcPts val="250"/>
              </a:spcAft>
            </a:pPr>
            <a:r>
              <a:rPr sz="1000" b="0" i="1" u="none">
                <a:solidFill>
                  <a:srgbClr val="232A38"/>
                </a:solidFill>
                <a:latin typeface="Calibri"/>
              </a:rPr>
              <a:t>Colossians 4:5-6</a:t>
            </a:r>
          </a:p>
          <a:p>
            <a:pPr algn="l">
              <a:lnSpc>
                <a:spcPct val="110000"/>
              </a:lnSpc>
              <a:spcBef>
                <a:spcPts val="400"/>
              </a:spcBef>
              <a:spcAft>
                <a:spcPts val="0"/>
              </a:spcAft>
            </a:pPr>
            <a:r>
              <a:rPr sz="950" b="0" i="0" u="none">
                <a:solidFill>
                  <a:srgbClr val="4C566B"/>
                </a:solidFill>
                <a:latin typeface="Calibri"/>
              </a:rPr>
              <a:t>The doctrine of the theology and the contemporary world is the ground of the Christian's engagement with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is to be engaged with the contemporary world in the light of the gospel, the witness of the Church in the arts, the economy, and the public life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14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Theology and the Contemporary World</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Practical theology is the application of the faith to the concrete situations of the life and the ministry.</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faith is to be applied to the arts, the economy, the education, the medicine, the technology, and the public life.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Church is to be the witness of the kingdom in the present age, engaging the global challenges in the light of the gospel.</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faith is not a private system of beliefs but the interpretation of the whole of reality in the light of the word of God.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theology and the contemporary world is the interface between the faith and the present age; it flows from the doctrines of the Church and of the mission, and it is the ground of the Church's witness in the world.</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engagement of the faith with the present world, the programme turns to the history of the faith across the centuries: the doctrine of the Church history.</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15 · Church History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15</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CHURCH HISTORY</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engagement of the faith with the present world, the programme turns to the history of the faith across the centuries: the doctrine of the Church history.</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8183879" y="3598164"/>
            <a:ext cx="3017521" cy="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8321040" y="327812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8275319" y="311353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869680" y="359816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823959" y="3991356"/>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9418319" y="327812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372599" y="311353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9966960" y="359816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921240" y="3991356"/>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10515600" y="327812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469880" y="3113532"/>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1064240" y="3598164"/>
            <a:ext cx="0" cy="32004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018519" y="3991356"/>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20" y="2180844"/>
            <a:ext cx="3291840" cy="2834640"/>
          </a:xfrm>
          <a:prstGeom prst="ellipse">
            <a:avLst/>
          </a:prstGeom>
          <a:noFill/>
          <a:ln w="889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15</a:t>
            </a:r>
          </a:p>
        </p:txBody>
      </p:sp>
      <p:sp>
        <p:nvSpPr>
          <p:cNvPr id="20" name="TextBox 19"/>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15</a:t>
            </a:r>
          </a:p>
        </p:txBody>
      </p:sp>
      <p:sp>
        <p:nvSpPr>
          <p:cNvPr id="21" name="TextBox 20"/>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CHURCH HISTORY</a:t>
            </a:r>
          </a:p>
        </p:txBody>
      </p:sp>
      <p:cxnSp>
        <p:nvCxnSpPr>
          <p:cNvPr id="22" name="Connector 21"/>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faith as confessed and lived from the apostles to the present: councils, creeds, reformation and renewal.</a:t>
            </a:r>
          </a:p>
        </p:txBody>
      </p:sp>
      <p:sp>
        <p:nvSpPr>
          <p:cNvPr id="24" name="Rectangle 23"/>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575303"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771900"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15</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CHURCH HISTORY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Church History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Church history is the study of the development of the Christian faith across the centuries: the apostolic age, the early Church, the councils and the creeds, the medieval period, the Reformation, and the modern and the post-modern Church. It treats the faith as confessed and lived in the concrete situations of the history.</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history of the Church is the story of the work of God in the world, and it is the ground of the Church's self-understanding and of its hope. The Church is not a static institution but a living community, developed in the light of the word of God and the work of the Spirit.</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Church history is the ground of the Church's self-understanding and of its witness. It answers the questions of how the faith has been confessed and lived across the centuries, and how the Church has developed in the light of the word of God.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understand the development of the Christian faith across the centuries, from the apostles to the present, and to see the work of God in the history of the Church.</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Apostolic Age and the New Testament Church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apostolic age is the period of the New Testament Church, from the resurrection of Christ to the death of the last apostle. It is the period of the foundation of the Church, the establishment of the apostolic teaching, and the extension of the faith to the Mediterranean world. The apostles were the witnesses of the resurrection and the foundation of the Church (Acts 2:22-36; 1 Cor 3:10-11). The New Testament Church was marked by the unity of the believers, the preaching of the word, the breaking of the bread, and the prayers (Acts 2:42-47). The apostolic age is the foundation of the Church, and it is the ground of the Church's teaching and of its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apostolic age as the period of the foundation of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apostles as the witnesses and the foundation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marks: the unity, the word, the bread, the prayers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teaching and of its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2:42-47</a:t>
            </a:r>
          </a:p>
          <a:p>
            <a:pPr algn="l">
              <a:lnSpc>
                <a:spcPct val="108000"/>
              </a:lnSpc>
              <a:spcBef>
                <a:spcPts val="0"/>
              </a:spcBef>
              <a:spcAft>
                <a:spcPts val="250"/>
              </a:spcAft>
            </a:pPr>
            <a:r>
              <a:rPr sz="1000" b="0" i="1" u="none">
                <a:solidFill>
                  <a:srgbClr val="232A38"/>
                </a:solidFill>
                <a:latin typeface="Calibri"/>
              </a:rPr>
              <a:t>Acts 2:22-36</a:t>
            </a:r>
          </a:p>
          <a:p>
            <a:pPr algn="l">
              <a:lnSpc>
                <a:spcPct val="108000"/>
              </a:lnSpc>
              <a:spcBef>
                <a:spcPts val="0"/>
              </a:spcBef>
              <a:spcAft>
                <a:spcPts val="250"/>
              </a:spcAft>
            </a:pPr>
            <a:r>
              <a:rPr sz="1000" b="0" i="1" u="none">
                <a:solidFill>
                  <a:srgbClr val="232A38"/>
                </a:solidFill>
                <a:latin typeface="Calibri"/>
              </a:rPr>
              <a:t>1 Corinthians 3:10-11</a:t>
            </a:r>
          </a:p>
          <a:p>
            <a:pPr algn="l">
              <a:lnSpc>
                <a:spcPct val="108000"/>
              </a:lnSpc>
              <a:spcBef>
                <a:spcPts val="0"/>
              </a:spcBef>
              <a:spcAft>
                <a:spcPts val="250"/>
              </a:spcAft>
            </a:pPr>
            <a:r>
              <a:rPr sz="1000" b="0" i="1" u="none">
                <a:solidFill>
                  <a:srgbClr val="232A38"/>
                </a:solidFill>
                <a:latin typeface="Calibri"/>
              </a:rPr>
              <a:t>1 Corinthians 15:3-8</a:t>
            </a:r>
          </a:p>
          <a:p>
            <a:pPr algn="l">
              <a:lnSpc>
                <a:spcPct val="110000"/>
              </a:lnSpc>
              <a:spcBef>
                <a:spcPts val="400"/>
              </a:spcBef>
              <a:spcAft>
                <a:spcPts val="0"/>
              </a:spcAft>
            </a:pPr>
            <a:r>
              <a:rPr sz="950" b="0" i="0" u="none">
                <a:solidFill>
                  <a:srgbClr val="4C566B"/>
                </a:solidFill>
                <a:latin typeface="Calibri"/>
              </a:rPr>
              <a:t>The apostolic age is the foundation of the Church and the ground of the Church's teaching and of its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apostolic age is the period of the foundation of the Church, marked by the unity of the believers and the preaching of the apostolic teaching.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Early Church and the Apostolic Fathers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early Church is the period of the Church after the apostolic age, from the first to the third century. It is the period of the development of the Church's teaching, the establishment of the Church's order, and the extension of the faith to the Roman world. The Apostolic Fathers — Clement of Rome, Ignatius of Antioch, Polycarp of Smyrna, and the author of the Didache — are the witnesses of the apostolic teaching and the ground of the Church's order. The early Church was marked by the persecution, the apologetics, and the development of the creed. The early Church is the ground of the Church's teaching and of its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early Church as the period of the development of the teaching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Apostolic Fathers as the witnesses of the apostolic teaching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persecution, the apologetics, and the development of the creed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teaching and of its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Clement</a:t>
            </a:r>
          </a:p>
          <a:p>
            <a:pPr algn="l">
              <a:lnSpc>
                <a:spcPct val="108000"/>
              </a:lnSpc>
              <a:spcBef>
                <a:spcPts val="0"/>
              </a:spcBef>
              <a:spcAft>
                <a:spcPts val="250"/>
              </a:spcAft>
            </a:pPr>
            <a:r>
              <a:rPr sz="1000" b="0" i="1" u="none">
                <a:solidFill>
                  <a:srgbClr val="232A38"/>
                </a:solidFill>
                <a:latin typeface="Calibri"/>
              </a:rPr>
              <a:t>Ignatius, Ephesians</a:t>
            </a:r>
          </a:p>
          <a:p>
            <a:pPr algn="l">
              <a:lnSpc>
                <a:spcPct val="108000"/>
              </a:lnSpc>
              <a:spcBef>
                <a:spcPts val="0"/>
              </a:spcBef>
              <a:spcAft>
                <a:spcPts val="250"/>
              </a:spcAft>
            </a:pPr>
            <a:r>
              <a:rPr sz="1000" b="0" i="1" u="none">
                <a:solidFill>
                  <a:srgbClr val="232A38"/>
                </a:solidFill>
                <a:latin typeface="Calibri"/>
              </a:rPr>
              <a:t>Polycarp, Philippians</a:t>
            </a:r>
          </a:p>
          <a:p>
            <a:pPr algn="l">
              <a:lnSpc>
                <a:spcPct val="108000"/>
              </a:lnSpc>
              <a:spcBef>
                <a:spcPts val="0"/>
              </a:spcBef>
              <a:spcAft>
                <a:spcPts val="250"/>
              </a:spcAft>
            </a:pPr>
            <a:r>
              <a:rPr sz="1000" b="0" i="1" u="none">
                <a:solidFill>
                  <a:srgbClr val="232A38"/>
                </a:solidFill>
                <a:latin typeface="Calibri"/>
              </a:rPr>
              <a:t>The Didache</a:t>
            </a:r>
          </a:p>
          <a:p>
            <a:pPr algn="l">
              <a:lnSpc>
                <a:spcPct val="110000"/>
              </a:lnSpc>
              <a:spcBef>
                <a:spcPts val="400"/>
              </a:spcBef>
              <a:spcAft>
                <a:spcPts val="0"/>
              </a:spcAft>
            </a:pPr>
            <a:r>
              <a:rPr sz="950" b="0" i="0" u="none">
                <a:solidFill>
                  <a:srgbClr val="4C566B"/>
                </a:solidFill>
                <a:latin typeface="Calibri"/>
              </a:rPr>
              <a:t>The early Church and the Apostolic Fathers are the ground of the Church's teaching and of its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early Church is the period of the development of the Church's teaching, witnessed by the Apostolic Fathers and marked by the persecution and the apologetics.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Persecution and the Church of Constantine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179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persecution of the Church is the period of the suffering of the Church under the Roman Empire, from the first to the fourth century. The persecution was the ground of the martyrdom of the believers and the witness of the Church to the world. The Church of Constantine is the period of the establishment of the faith in the Roman Empire, from the edict of Milan (313) to the Council of Nicaea (325). Constantine's conversion marked the end of the persecution and the beginning of the establishment of the faith in the empire. The period of Constantine is the ground of the Church's establishment in the world and of its order.</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persecution as the ground of the martyrdom and the witness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edict of Milan (313) and the end of the persecution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establishment of the faith in the Roman Empire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establishment in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Revelation 7:9-14</a:t>
            </a:r>
          </a:p>
          <a:p>
            <a:pPr algn="l">
              <a:lnSpc>
                <a:spcPct val="108000"/>
              </a:lnSpc>
              <a:spcBef>
                <a:spcPts val="0"/>
              </a:spcBef>
              <a:spcAft>
                <a:spcPts val="250"/>
              </a:spcAft>
            </a:pPr>
            <a:r>
              <a:rPr sz="1000" b="0" i="1" u="none">
                <a:solidFill>
                  <a:srgbClr val="232A38"/>
                </a:solidFill>
                <a:latin typeface="Calibri"/>
              </a:rPr>
              <a:t>Hebrews 12:1-2</a:t>
            </a:r>
          </a:p>
          <a:p>
            <a:pPr algn="l">
              <a:lnSpc>
                <a:spcPct val="108000"/>
              </a:lnSpc>
              <a:spcBef>
                <a:spcPts val="0"/>
              </a:spcBef>
              <a:spcAft>
                <a:spcPts val="250"/>
              </a:spcAft>
            </a:pPr>
            <a:r>
              <a:rPr sz="1000" b="0" i="1" u="none">
                <a:solidFill>
                  <a:srgbClr val="232A38"/>
                </a:solidFill>
                <a:latin typeface="Calibri"/>
              </a:rPr>
              <a:t>Acts 5:41</a:t>
            </a:r>
          </a:p>
          <a:p>
            <a:pPr algn="l">
              <a:lnSpc>
                <a:spcPct val="108000"/>
              </a:lnSpc>
              <a:spcBef>
                <a:spcPts val="0"/>
              </a:spcBef>
              <a:spcAft>
                <a:spcPts val="250"/>
              </a:spcAft>
            </a:pPr>
            <a:r>
              <a:rPr sz="1000" b="0" i="1" u="none">
                <a:solidFill>
                  <a:srgbClr val="232A38"/>
                </a:solidFill>
                <a:latin typeface="Calibri"/>
              </a:rPr>
              <a:t>2 Timothy 3:12</a:t>
            </a:r>
          </a:p>
          <a:p>
            <a:pPr algn="l">
              <a:lnSpc>
                <a:spcPct val="110000"/>
              </a:lnSpc>
              <a:spcBef>
                <a:spcPts val="400"/>
              </a:spcBef>
              <a:spcAft>
                <a:spcPts val="0"/>
              </a:spcAft>
            </a:pPr>
            <a:r>
              <a:rPr sz="950" b="0" i="0" u="none">
                <a:solidFill>
                  <a:srgbClr val="4C566B"/>
                </a:solidFill>
                <a:latin typeface="Calibri"/>
              </a:rPr>
              <a:t>The period of Constantine is the ground of the Church's establishment in the world and of its order.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persecution and the Church of Constantine mark the transition from the suffering of the Church to the establishment of the faith in the Roman Empire.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Great Ecumenical Councils and the Creeds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great ecumenical councils are the assemblies of the Church that defined the faith against the heresies, from Nicaea (325) to Nicaea II (787). The councils defined the doctrine of the Trinity, the doctrine of Christ, and the doctrine of the grace. The creeds — the Apostles' Creed, the Nicene Creed, and the Chalcedonian Definition — are the summaries of the faith defined at the councils. The councils and the creeds are the ground of the Church's teaching and of its order, and they are the confession of the faith across the centuries. The doctrine of the councils and the creeds is the ground of the Church's teaching and of its unity.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ecumenical councils from Nicaea to Nicaea II</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definition of the doctrine of the Trinity and of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creeds as the summaries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teaching and of its unity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28:19</a:t>
            </a:r>
          </a:p>
          <a:p>
            <a:pPr algn="l">
              <a:lnSpc>
                <a:spcPct val="108000"/>
              </a:lnSpc>
              <a:spcBef>
                <a:spcPts val="0"/>
              </a:spcBef>
              <a:spcAft>
                <a:spcPts val="250"/>
              </a:spcAft>
            </a:pPr>
            <a:r>
              <a:rPr sz="1000" b="0" i="1" u="none">
                <a:solidFill>
                  <a:srgbClr val="232A38"/>
                </a:solidFill>
                <a:latin typeface="Calibri"/>
              </a:rPr>
              <a:t>2 Corinthians 13:14</a:t>
            </a:r>
          </a:p>
          <a:p>
            <a:pPr algn="l">
              <a:lnSpc>
                <a:spcPct val="108000"/>
              </a:lnSpc>
              <a:spcBef>
                <a:spcPts val="0"/>
              </a:spcBef>
              <a:spcAft>
                <a:spcPts val="250"/>
              </a:spcAft>
            </a:pPr>
            <a:r>
              <a:rPr sz="1000" b="0" i="1" u="none">
                <a:solidFill>
                  <a:srgbClr val="232A38"/>
                </a:solidFill>
                <a:latin typeface="Calibri"/>
              </a:rPr>
              <a:t>Philippians 2:5-11</a:t>
            </a:r>
          </a:p>
          <a:p>
            <a:pPr algn="l">
              <a:lnSpc>
                <a:spcPct val="108000"/>
              </a:lnSpc>
              <a:spcBef>
                <a:spcPts val="0"/>
              </a:spcBef>
              <a:spcAft>
                <a:spcPts val="250"/>
              </a:spcAft>
            </a:pPr>
            <a:r>
              <a:rPr sz="1000" b="0" i="1" u="none">
                <a:solidFill>
                  <a:srgbClr val="232A38"/>
                </a:solidFill>
                <a:latin typeface="Calibri"/>
              </a:rPr>
              <a:t>1 Timothy 3:15</a:t>
            </a:r>
          </a:p>
          <a:p>
            <a:pPr algn="l">
              <a:lnSpc>
                <a:spcPct val="110000"/>
              </a:lnSpc>
              <a:spcBef>
                <a:spcPts val="400"/>
              </a:spcBef>
              <a:spcAft>
                <a:spcPts val="0"/>
              </a:spcAft>
            </a:pPr>
            <a:r>
              <a:rPr sz="950" b="0" i="0" u="none">
                <a:solidFill>
                  <a:srgbClr val="4C566B"/>
                </a:solidFill>
                <a:latin typeface="Calibri"/>
              </a:rPr>
              <a:t>The councils and the creeds are the ground of the Church's teaching and of its unity across the centuries.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great ecumenical councils and the creeds are the definition of the faith against the heresies, the ground of the Church's teaching and of its unity.</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Medieval Church: Monasticism and Scholasticism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medieval Church is the period of the Church from the fifth to the fifteenth century. It is marked by the monasticism and the scholasticism. The monasticism is the movement of the monks and the nuns, the ground of the preservation of the faith and the development of the learning. The scholasticism is the method of the theology of the medieval universities, the synthesis of the faith and the reason, with Thomas Aquinas as its great representative. The medieval Church is the ground of the Church's learning and of its order, and it is the period of the development of the doctrine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medieval Church as the period from the fifth to the fifteenth century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monasticism as the ground of the preservation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scholasticism as the synthesis of the faith and the reason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learning and of its order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Hebrews 13:7</a:t>
            </a:r>
          </a:p>
          <a:p>
            <a:pPr algn="l">
              <a:lnSpc>
                <a:spcPct val="108000"/>
              </a:lnSpc>
              <a:spcBef>
                <a:spcPts val="0"/>
              </a:spcBef>
              <a:spcAft>
                <a:spcPts val="250"/>
              </a:spcAft>
            </a:pPr>
            <a:r>
              <a:rPr sz="1000" b="0" i="1" u="none">
                <a:solidFill>
                  <a:srgbClr val="232A38"/>
                </a:solidFill>
                <a:latin typeface="Calibri"/>
              </a:rPr>
              <a:t>2 Timothy 2:2</a:t>
            </a:r>
          </a:p>
          <a:p>
            <a:pPr algn="l">
              <a:lnSpc>
                <a:spcPct val="108000"/>
              </a:lnSpc>
              <a:spcBef>
                <a:spcPts val="0"/>
              </a:spcBef>
              <a:spcAft>
                <a:spcPts val="250"/>
              </a:spcAft>
            </a:pPr>
            <a:r>
              <a:rPr sz="1000" b="0" i="1" u="none">
                <a:solidFill>
                  <a:srgbClr val="232A38"/>
                </a:solidFill>
                <a:latin typeface="Calibri"/>
              </a:rPr>
              <a:t>Romans 12:1-2</a:t>
            </a:r>
          </a:p>
          <a:p>
            <a:pPr algn="l">
              <a:lnSpc>
                <a:spcPct val="108000"/>
              </a:lnSpc>
              <a:spcBef>
                <a:spcPts val="0"/>
              </a:spcBef>
              <a:spcAft>
                <a:spcPts val="250"/>
              </a:spcAft>
            </a:pPr>
            <a:r>
              <a:rPr sz="1000" b="0" i="1" u="none">
                <a:solidFill>
                  <a:srgbClr val="232A38"/>
                </a:solidFill>
                <a:latin typeface="Calibri"/>
              </a:rPr>
              <a:t>1 Corinthians 1:20-25</a:t>
            </a:r>
          </a:p>
          <a:p>
            <a:pPr algn="l">
              <a:lnSpc>
                <a:spcPct val="110000"/>
              </a:lnSpc>
              <a:spcBef>
                <a:spcPts val="400"/>
              </a:spcBef>
              <a:spcAft>
                <a:spcPts val="0"/>
              </a:spcAft>
            </a:pPr>
            <a:r>
              <a:rPr sz="950" b="0" i="0" u="none">
                <a:solidFill>
                  <a:srgbClr val="4C566B"/>
                </a:solidFill>
                <a:latin typeface="Calibri"/>
              </a:rPr>
              <a:t>The medieval Church is the ground of the Church's learning and of its order, marked by the monasticism and the scholasticism.</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medieval Church is the period of the monasticism and the scholasticism, the ground of the Church's learning and of its order.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Reformation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Reformation is the movement of the restoration of the faith in the sixteenth century, with Martin Luther, John Calvin, and the other reformers. It is the movement of the recovery of the doctrines of the justification by faith, the sovereignty of God, and the authority of the Scripture (sola fide, sola gratia, solus Christus, sola Scriptura, soli Deo gloria). The Reformation was the ground of the development of the Protestant churches and the confessions of the faith. The doctrine of the Reformation is the ground of the Protestant churches and of their confessions, and it is the ground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Reformation as the restoration of the faith in the sixteenth century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reformers: Luther, Calvin, and the others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solas: sola fide, sola gratia, solus Christus, sola Scriptura, soli Deo gloria</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Protestant churches and their confessions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3:21-28</a:t>
            </a:r>
          </a:p>
          <a:p>
            <a:pPr algn="l">
              <a:lnSpc>
                <a:spcPct val="108000"/>
              </a:lnSpc>
              <a:spcBef>
                <a:spcPts val="0"/>
              </a:spcBef>
              <a:spcAft>
                <a:spcPts val="250"/>
              </a:spcAft>
            </a:pPr>
            <a:r>
              <a:rPr sz="1000" b="0" i="1" u="none">
                <a:solidFill>
                  <a:srgbClr val="232A38"/>
                </a:solidFill>
                <a:latin typeface="Calibri"/>
              </a:rPr>
              <a:t>Romans 10:9-13</a:t>
            </a:r>
          </a:p>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Galatians 2:16</a:t>
            </a:r>
          </a:p>
          <a:p>
            <a:pPr algn="l">
              <a:lnSpc>
                <a:spcPct val="110000"/>
              </a:lnSpc>
              <a:spcBef>
                <a:spcPts val="400"/>
              </a:spcBef>
              <a:spcAft>
                <a:spcPts val="0"/>
              </a:spcAft>
            </a:pPr>
            <a:r>
              <a:rPr sz="950" b="0" i="0" u="none">
                <a:solidFill>
                  <a:srgbClr val="4C566B"/>
                </a:solidFill>
                <a:latin typeface="Calibri"/>
              </a:rPr>
              <a:t>The Reformation is the ground of the Protestant churches and of their confessions, and it is the ground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Reformation is the movement of the restoration of the faith, the ground of the Protestant churches and of their confessions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Post-Reformation and Orthodox Periods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post-Reformation period is the period of the development of the Reformed churches and the confessions of the faith, from the sixteenth to the eighteenth century. It is the period of the Scholastic theology, the Synod of Dort (1618-19), and the Westminster Confession (1646). The Orthodox period is the period of the Orthodox Church, the development of the Eastern churches and their theology, from the great councils to the present. The post-Reformation and the Orthodox periods are the ground of the development of the churches and their theology, and they are the ground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post-Reformation period and the development of the confessions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Synod of Dort and the Westminster Confession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Orthodox period and the development of the Eastern churches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development of the churches and their theology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Jude 1:3</a:t>
            </a:r>
          </a:p>
          <a:p>
            <a:pPr algn="l">
              <a:lnSpc>
                <a:spcPct val="108000"/>
              </a:lnSpc>
              <a:spcBef>
                <a:spcPts val="0"/>
              </a:spcBef>
              <a:spcAft>
                <a:spcPts val="250"/>
              </a:spcAft>
            </a:pPr>
            <a:r>
              <a:rPr sz="1000" b="0" i="1" u="none">
                <a:solidFill>
                  <a:srgbClr val="232A38"/>
                </a:solidFill>
                <a:latin typeface="Calibri"/>
              </a:rPr>
              <a:t>2 Timothy 4:1-5</a:t>
            </a:r>
          </a:p>
          <a:p>
            <a:pPr algn="l">
              <a:lnSpc>
                <a:spcPct val="108000"/>
              </a:lnSpc>
              <a:spcBef>
                <a:spcPts val="0"/>
              </a:spcBef>
              <a:spcAft>
                <a:spcPts val="250"/>
              </a:spcAft>
            </a:pPr>
            <a:r>
              <a:rPr sz="1000" b="0" i="1" u="none">
                <a:solidFill>
                  <a:srgbClr val="232A38"/>
                </a:solidFill>
                <a:latin typeface="Calibri"/>
              </a:rPr>
              <a:t>1 Corinthians 4:1-2</a:t>
            </a:r>
          </a:p>
          <a:p>
            <a:pPr algn="l">
              <a:lnSpc>
                <a:spcPct val="108000"/>
              </a:lnSpc>
              <a:spcBef>
                <a:spcPts val="0"/>
              </a:spcBef>
              <a:spcAft>
                <a:spcPts val="250"/>
              </a:spcAft>
            </a:pPr>
            <a:r>
              <a:rPr sz="1000" b="0" i="1" u="none">
                <a:solidFill>
                  <a:srgbClr val="232A38"/>
                </a:solidFill>
                <a:latin typeface="Calibri"/>
              </a:rPr>
              <a:t>2 Peter 3:17-18</a:t>
            </a:r>
          </a:p>
          <a:p>
            <a:pPr algn="l">
              <a:lnSpc>
                <a:spcPct val="110000"/>
              </a:lnSpc>
              <a:spcBef>
                <a:spcPts val="400"/>
              </a:spcBef>
              <a:spcAft>
                <a:spcPts val="0"/>
              </a:spcAft>
            </a:pPr>
            <a:r>
              <a:rPr sz="950" b="0" i="0" u="none">
                <a:solidFill>
                  <a:srgbClr val="4C566B"/>
                </a:solidFill>
                <a:latin typeface="Calibri"/>
              </a:rPr>
              <a:t>The post-Reformation and the Orthodox periods are the ground of the development of the churches and their theology.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post-Reformation and the Orthodox periods are the development of the churches and their confessions, the ground of the Church's witness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Pietism and the Great Awakenings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Pietism is the movement of the revival of the personal devotion in the seventeenth and the eighteenth centuries, with Spener and the others. The Great Awakenings are the movements of the revival of the faith in the eighteenth and the nineteenth centuries, with Whitefield, the Wesleys, and the others in the West, and with the revivals of the later period. The Pietism and the Great Awakenings are the ground of the revival of the personal devotion and the extension of the faith to the world. The doctrine of the Pietism and the Great Awakenings is the ground of the revival of the faith and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Pietism as the revival of the personal devotion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Awakenings as the revival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revival of the personal devotion and the extension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revival of the faith and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1:6-7</a:t>
            </a:r>
          </a:p>
          <a:p>
            <a:pPr algn="l">
              <a:lnSpc>
                <a:spcPct val="108000"/>
              </a:lnSpc>
              <a:spcBef>
                <a:spcPts val="0"/>
              </a:spcBef>
              <a:spcAft>
                <a:spcPts val="250"/>
              </a:spcAft>
            </a:pPr>
            <a:r>
              <a:rPr sz="1000" b="0" i="1" u="none">
                <a:solidFill>
                  <a:srgbClr val="232A38"/>
                </a:solidFill>
                <a:latin typeface="Calibri"/>
              </a:rPr>
              <a:t>Romans 12:11</a:t>
            </a:r>
          </a:p>
          <a:p>
            <a:pPr algn="l">
              <a:lnSpc>
                <a:spcPct val="108000"/>
              </a:lnSpc>
              <a:spcBef>
                <a:spcPts val="0"/>
              </a:spcBef>
              <a:spcAft>
                <a:spcPts val="250"/>
              </a:spcAft>
            </a:pPr>
            <a:r>
              <a:rPr sz="1000" b="0" i="1" u="none">
                <a:solidFill>
                  <a:srgbClr val="232A38"/>
                </a:solidFill>
                <a:latin typeface="Calibri"/>
              </a:rPr>
              <a:t>1 Thessalonians 5:16-18</a:t>
            </a:r>
          </a:p>
          <a:p>
            <a:pPr algn="l">
              <a:lnSpc>
                <a:spcPct val="108000"/>
              </a:lnSpc>
              <a:spcBef>
                <a:spcPts val="0"/>
              </a:spcBef>
              <a:spcAft>
                <a:spcPts val="250"/>
              </a:spcAft>
            </a:pPr>
            <a:r>
              <a:rPr sz="1000" b="0" i="1" u="none">
                <a:solidFill>
                  <a:srgbClr val="232A38"/>
                </a:solidFill>
                <a:latin typeface="Calibri"/>
              </a:rPr>
              <a:t>Psalm 51:10-12</a:t>
            </a:r>
          </a:p>
          <a:p>
            <a:pPr algn="l">
              <a:lnSpc>
                <a:spcPct val="110000"/>
              </a:lnSpc>
              <a:spcBef>
                <a:spcPts val="400"/>
              </a:spcBef>
              <a:spcAft>
                <a:spcPts val="0"/>
              </a:spcAft>
            </a:pPr>
            <a:r>
              <a:rPr sz="950" b="0" i="0" u="none">
                <a:solidFill>
                  <a:srgbClr val="4C566B"/>
                </a:solidFill>
                <a:latin typeface="Calibri"/>
              </a:rPr>
              <a:t>The Pietism and the Great Awakenings are the ground of the revival of the faith and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Pietism and the Great Awakenings are the movements of the revival of the personal devotion and the extension of the faith to the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and the Enlightenment</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and the Enlightenment is the relation of the Christian faith to the movement of the reason and the science in the seventeenth and the eighteenth centuries. The Enlightenment was the movement of the exaltation of the reason and the science, and it was the challenge to the faith and the Church. The Church was to respond to the Enlightenment in the light of the faith, and it was to witness to the reason and the science in the light of the gospel. The relation of the Church to the Enlightenment is the ground of the Church's witness to the reason and the science, and it is the ground of the Church's engagement with the modern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Enlightenment as the movement of the reason and the science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challenge to the faith and the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response of the Church in the light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engagement with the modern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Proverbs 1:7</a:t>
            </a:r>
          </a:p>
          <a:p>
            <a:pPr algn="l">
              <a:lnSpc>
                <a:spcPct val="108000"/>
              </a:lnSpc>
              <a:spcBef>
                <a:spcPts val="0"/>
              </a:spcBef>
              <a:spcAft>
                <a:spcPts val="250"/>
              </a:spcAft>
            </a:pPr>
            <a:r>
              <a:rPr sz="1000" b="0" i="1" u="none">
                <a:solidFill>
                  <a:srgbClr val="232A38"/>
                </a:solidFill>
                <a:latin typeface="Calibri"/>
              </a:rPr>
              <a:t>1 Corinthians 1:20-25</a:t>
            </a:r>
          </a:p>
          <a:p>
            <a:pPr algn="l">
              <a:lnSpc>
                <a:spcPct val="108000"/>
              </a:lnSpc>
              <a:spcBef>
                <a:spcPts val="0"/>
              </a:spcBef>
              <a:spcAft>
                <a:spcPts val="250"/>
              </a:spcAft>
            </a:pPr>
            <a:r>
              <a:rPr sz="1000" b="0" i="1" u="none">
                <a:solidFill>
                  <a:srgbClr val="232A38"/>
                </a:solidFill>
                <a:latin typeface="Calibri"/>
              </a:rPr>
              <a:t>Romans 1:18-25</a:t>
            </a:r>
          </a:p>
          <a:p>
            <a:pPr algn="l">
              <a:lnSpc>
                <a:spcPct val="108000"/>
              </a:lnSpc>
              <a:spcBef>
                <a:spcPts val="0"/>
              </a:spcBef>
              <a:spcAft>
                <a:spcPts val="250"/>
              </a:spcAft>
            </a:pPr>
            <a:r>
              <a:rPr sz="1000" b="0" i="1" u="none">
                <a:solidFill>
                  <a:srgbClr val="232A38"/>
                </a:solidFill>
                <a:latin typeface="Calibri"/>
              </a:rPr>
              <a:t>Jeremiah 9:23-24</a:t>
            </a:r>
          </a:p>
          <a:p>
            <a:pPr algn="l">
              <a:lnSpc>
                <a:spcPct val="110000"/>
              </a:lnSpc>
              <a:spcBef>
                <a:spcPts val="400"/>
              </a:spcBef>
              <a:spcAft>
                <a:spcPts val="0"/>
              </a:spcAft>
            </a:pPr>
            <a:r>
              <a:rPr sz="950" b="0" i="0" u="none">
                <a:solidFill>
                  <a:srgbClr val="4C566B"/>
                </a:solidFill>
                <a:latin typeface="Calibri"/>
              </a:rPr>
              <a:t>The relation of the Church to the Enlightenment is the ground of the Church's witness to the reason and the science.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and the Enlightenment is the relation of the faith to the movement of the reason, the ground of the Church's engagement with the modern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in the Nineteenth Century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in the nineteenth century is the period of the development of the churches and the movements of the faith, from the beginning to the end of the nineteenth century. It is the period of the great missionary movements, the revival of the faith, and the challenge of the modernity. The nineteenth century saw the extension of the faith to the whole world, the development of the higher criticism, and the challenge of the secularism. The Church in the nineteenth century is the ground of the development of the churches and the extension of the faith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nineteenth century as the period of the development of the churches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missionary movements and the revival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challenge of the modernity and the higher criticism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extension of the faith to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Mark 16:15</a:t>
            </a:r>
          </a:p>
          <a:p>
            <a:pPr algn="l">
              <a:lnSpc>
                <a:spcPct val="108000"/>
              </a:lnSpc>
              <a:spcBef>
                <a:spcPts val="0"/>
              </a:spcBef>
              <a:spcAft>
                <a:spcPts val="250"/>
              </a:spcAft>
            </a:pPr>
            <a:r>
              <a:rPr sz="1000" b="0" i="1" u="none">
                <a:solidFill>
                  <a:srgbClr val="232A38"/>
                </a:solidFill>
                <a:latin typeface="Calibri"/>
              </a:rPr>
              <a:t>Romans 10:14-15</a:t>
            </a:r>
          </a:p>
          <a:p>
            <a:pPr algn="l">
              <a:lnSpc>
                <a:spcPct val="108000"/>
              </a:lnSpc>
              <a:spcBef>
                <a:spcPts val="0"/>
              </a:spcBef>
              <a:spcAft>
                <a:spcPts val="250"/>
              </a:spcAft>
            </a:pPr>
            <a:r>
              <a:rPr sz="1000" b="0" i="1" u="none">
                <a:solidFill>
                  <a:srgbClr val="232A38"/>
                </a:solidFill>
                <a:latin typeface="Calibri"/>
              </a:rPr>
              <a:t>2 Timothy 4:2</a:t>
            </a:r>
          </a:p>
          <a:p>
            <a:pPr algn="l">
              <a:lnSpc>
                <a:spcPct val="108000"/>
              </a:lnSpc>
              <a:spcBef>
                <a:spcPts val="0"/>
              </a:spcBef>
              <a:spcAft>
                <a:spcPts val="250"/>
              </a:spcAft>
            </a:pPr>
            <a:r>
              <a:rPr sz="1000" b="0" i="1" u="none">
                <a:solidFill>
                  <a:srgbClr val="232A38"/>
                </a:solidFill>
                <a:latin typeface="Calibri"/>
              </a:rPr>
              <a:t>1 Thessalonians 5:21-22</a:t>
            </a:r>
          </a:p>
          <a:p>
            <a:pPr algn="l">
              <a:lnSpc>
                <a:spcPct val="110000"/>
              </a:lnSpc>
              <a:spcBef>
                <a:spcPts val="400"/>
              </a:spcBef>
              <a:spcAft>
                <a:spcPts val="0"/>
              </a:spcAft>
            </a:pPr>
            <a:r>
              <a:rPr sz="950" b="0" i="0" u="none">
                <a:solidFill>
                  <a:srgbClr val="4C566B"/>
                </a:solidFill>
                <a:latin typeface="Calibri"/>
              </a:rPr>
              <a:t>The Church in the nineteenth century is the ground of the development of the churches and the extension of the faith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in the nineteenth century is the period of the great missionary movements and the extension of the faith to the whole world.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Twentieth Century: Wars, Ecumenism and Renewal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twentieth century is the period of the development of the churches and the movements of the faith, from the beginning to the end of the twentieth century. It is the period of the two world wars, the ecumenical movement, and the renewal of the faith. The twentieth century saw the challenge of the totalitarianism, the development of the ecumenical movement, and the renewal of the faith in the Pentecostal and the charismatic movements. The Church in the twentieth century is the ground of the development of the churches and the renewal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twentieth century as the period of the two world wars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ecumenical movement and the renewal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Pentecostal and the charismatic movements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development of the churches and the renewal</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17:20-23</a:t>
            </a:r>
          </a:p>
          <a:p>
            <a:pPr algn="l">
              <a:lnSpc>
                <a:spcPct val="108000"/>
              </a:lnSpc>
              <a:spcBef>
                <a:spcPts val="0"/>
              </a:spcBef>
              <a:spcAft>
                <a:spcPts val="250"/>
              </a:spcAft>
            </a:pPr>
            <a:r>
              <a:rPr sz="1000" b="0" i="1" u="none">
                <a:solidFill>
                  <a:srgbClr val="232A38"/>
                </a:solidFill>
                <a:latin typeface="Calibri"/>
              </a:rPr>
              <a:t>Romans 12:14-18</a:t>
            </a:r>
          </a:p>
          <a:p>
            <a:pPr algn="l">
              <a:lnSpc>
                <a:spcPct val="108000"/>
              </a:lnSpc>
              <a:spcBef>
                <a:spcPts val="0"/>
              </a:spcBef>
              <a:spcAft>
                <a:spcPts val="250"/>
              </a:spcAft>
            </a:pPr>
            <a:r>
              <a:rPr sz="1000" b="0" i="1" u="none">
                <a:solidFill>
                  <a:srgbClr val="232A38"/>
                </a:solidFill>
                <a:latin typeface="Calibri"/>
              </a:rPr>
              <a:t>1 Corinthians 1:10</a:t>
            </a:r>
          </a:p>
          <a:p>
            <a:pPr algn="l">
              <a:lnSpc>
                <a:spcPct val="108000"/>
              </a:lnSpc>
              <a:spcBef>
                <a:spcPts val="0"/>
              </a:spcBef>
              <a:spcAft>
                <a:spcPts val="250"/>
              </a:spcAft>
            </a:pPr>
            <a:r>
              <a:rPr sz="1000" b="0" i="1" u="none">
                <a:solidFill>
                  <a:srgbClr val="232A38"/>
                </a:solidFill>
                <a:latin typeface="Calibri"/>
              </a:rPr>
              <a:t>Ephesians 4:1-6</a:t>
            </a:r>
          </a:p>
          <a:p>
            <a:pPr algn="l">
              <a:lnSpc>
                <a:spcPct val="110000"/>
              </a:lnSpc>
              <a:spcBef>
                <a:spcPts val="400"/>
              </a:spcBef>
              <a:spcAft>
                <a:spcPts val="0"/>
              </a:spcAft>
            </a:pPr>
            <a:r>
              <a:rPr sz="950" b="0" i="0" u="none">
                <a:solidFill>
                  <a:srgbClr val="4C566B"/>
                </a:solidFill>
                <a:latin typeface="Calibri"/>
              </a:rPr>
              <a:t>The Church in the twentieth century is the ground of the development of the churches and the renewal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twentieth century is the period of the two world wars, the ecumenical movement, and the renewal of the faith in the Pentecostal and the charismatic movements.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in the Modern and Post-Modern World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in the modern and post-modern world is the relation of the Christian faith to the present situation of the world. The modern world is marked by the secularism, the pluralism, and the globalisation, and the post-modern world is marked by the relativism and the deconstruction of the grand narratives. The Church is to witness to the modern and the post-modern world in the light of the gospel, and it is to engage the questions of the secularism, the pluralism, and the relativism. The relation of the Church to the modern and the post-modern world is the ground of the Church's witness and of its engagement with the present 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modern world: the secularism, the pluralism, the globalisation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post-modern world: the relativism and the deconstruction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of the Church in the light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engagement with the present 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17:15-19</a:t>
            </a:r>
          </a:p>
          <a:p>
            <a:pPr algn="l">
              <a:lnSpc>
                <a:spcPct val="108000"/>
              </a:lnSpc>
              <a:spcBef>
                <a:spcPts val="0"/>
              </a:spcBef>
              <a:spcAft>
                <a:spcPts val="250"/>
              </a:spcAft>
            </a:pPr>
            <a:r>
              <a:rPr sz="1000" b="0" i="1" u="none">
                <a:solidFill>
                  <a:srgbClr val="232A38"/>
                </a:solidFill>
                <a:latin typeface="Calibri"/>
              </a:rPr>
              <a:t>1 Peter 2:9-12</a:t>
            </a:r>
          </a:p>
          <a:p>
            <a:pPr algn="l">
              <a:lnSpc>
                <a:spcPct val="108000"/>
              </a:lnSpc>
              <a:spcBef>
                <a:spcPts val="0"/>
              </a:spcBef>
              <a:spcAft>
                <a:spcPts val="250"/>
              </a:spcAft>
            </a:pPr>
            <a:r>
              <a:rPr sz="1000" b="0" i="1" u="none">
                <a:solidFill>
                  <a:srgbClr val="232A38"/>
                </a:solidFill>
                <a:latin typeface="Calibri"/>
              </a:rPr>
              <a:t>2 Timothy 3:14-17</a:t>
            </a:r>
          </a:p>
          <a:p>
            <a:pPr algn="l">
              <a:lnSpc>
                <a:spcPct val="108000"/>
              </a:lnSpc>
              <a:spcBef>
                <a:spcPts val="0"/>
              </a:spcBef>
              <a:spcAft>
                <a:spcPts val="250"/>
              </a:spcAft>
            </a:pPr>
            <a:r>
              <a:rPr sz="1000" b="0" i="1" u="none">
                <a:solidFill>
                  <a:srgbClr val="232A38"/>
                </a:solidFill>
                <a:latin typeface="Calibri"/>
              </a:rPr>
              <a:t>Colossians 2:8</a:t>
            </a:r>
          </a:p>
          <a:p>
            <a:pPr algn="l">
              <a:lnSpc>
                <a:spcPct val="110000"/>
              </a:lnSpc>
              <a:spcBef>
                <a:spcPts val="400"/>
              </a:spcBef>
              <a:spcAft>
                <a:spcPts val="0"/>
              </a:spcAft>
            </a:pPr>
            <a:r>
              <a:rPr sz="950" b="0" i="0" u="none">
                <a:solidFill>
                  <a:srgbClr val="4C566B"/>
                </a:solidFill>
                <a:latin typeface="Calibri"/>
              </a:rPr>
              <a:t>The relation of the Church to the modern and the post-modern world is the ground of the Church's witness and of its engagement.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in the modern and post-modern world is the witness of the gospel in the light of the faith, engaging the secularism, the pluralism, and the relativism of the present age.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Church in Africa and the Global South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189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Church in Africa and the Global South is the development of the Church in the African and the Global South contexts, from the early Church to the present. Africa was the cradle of the early Church, with the great theologians such as Tertullian, Cyprian, Augustine, and Athanasius. The present period sees the great growth of the Church in Africa and the Global South, with the revival of the faith and the extension of the gospel. The Church in Africa and the Global South is the ground of the development of the Church in the world and of its witness to the nations.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Africa as the cradle of the early Church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African theologians: Tertullian, Cyprian, Augustine, Athanasius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present growth of the Church in Africa and the Global South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development of the Church in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Acts 2:9-11</a:t>
            </a:r>
          </a:p>
          <a:p>
            <a:pPr algn="l">
              <a:lnSpc>
                <a:spcPct val="108000"/>
              </a:lnSpc>
              <a:spcBef>
                <a:spcPts val="0"/>
              </a:spcBef>
              <a:spcAft>
                <a:spcPts val="250"/>
              </a:spcAft>
            </a:pPr>
            <a:r>
              <a:rPr sz="1000" b="0" i="1" u="none">
                <a:solidFill>
                  <a:srgbClr val="232A38"/>
                </a:solidFill>
                <a:latin typeface="Calibri"/>
              </a:rPr>
              <a:t>Romans 15:19-21</a:t>
            </a:r>
          </a:p>
          <a:p>
            <a:pPr algn="l">
              <a:lnSpc>
                <a:spcPct val="108000"/>
              </a:lnSpc>
              <a:spcBef>
                <a:spcPts val="0"/>
              </a:spcBef>
              <a:spcAft>
                <a:spcPts val="250"/>
              </a:spcAft>
            </a:pPr>
            <a:r>
              <a:rPr sz="1000" b="0" i="1" u="none">
                <a:solidFill>
                  <a:srgbClr val="232A38"/>
                </a:solidFill>
                <a:latin typeface="Calibri"/>
              </a:rPr>
              <a:t>Revelation 7:9</a:t>
            </a:r>
          </a:p>
          <a:p>
            <a:pPr algn="l">
              <a:lnSpc>
                <a:spcPct val="108000"/>
              </a:lnSpc>
              <a:spcBef>
                <a:spcPts val="0"/>
              </a:spcBef>
              <a:spcAft>
                <a:spcPts val="250"/>
              </a:spcAft>
            </a:pPr>
            <a:r>
              <a:rPr sz="1000" b="0" i="1" u="none">
                <a:solidFill>
                  <a:srgbClr val="232A38"/>
                </a:solidFill>
                <a:latin typeface="Calibri"/>
              </a:rPr>
              <a:t>Psalm 68:31</a:t>
            </a:r>
          </a:p>
          <a:p>
            <a:pPr algn="l">
              <a:lnSpc>
                <a:spcPct val="110000"/>
              </a:lnSpc>
              <a:spcBef>
                <a:spcPts val="400"/>
              </a:spcBef>
              <a:spcAft>
                <a:spcPts val="0"/>
              </a:spcAft>
            </a:pPr>
            <a:r>
              <a:rPr sz="950" b="0" i="0" u="none">
                <a:solidFill>
                  <a:srgbClr val="4C566B"/>
                </a:solidFill>
                <a:latin typeface="Calibri"/>
              </a:rPr>
              <a:t>The Church in Africa and the Global South is the ground of the development of the Church in the world and of its witness to the nations.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Church in Africa and the Global South is the development of the Church in the African and the Global South contexts, from the early Church to the present growth.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15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Faith Across the Centuries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module has brought the history of the Church to a summary. The history of the Church is the story of the work of God in the world, from the apostolic age to the present. It is the story of the confession of the faith against the heresies, the development of the churches, and the extension of the faith to the whole world. The history of the Church is the ground of the Church's self-understanding and of its hope, and it is the witness of the work of God in the world. The doctrine of the Church history is the ground of the Church's self-understanding and of its witness to the world. The faith across the centuries is the one faith, confessed in the different contexts of the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history of the Church as the story of the work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confession of the faith against the heresies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development of the churches and the extension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one faith confessed in the different contexts of the history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2:2</a:t>
            </a:r>
          </a:p>
          <a:p>
            <a:pPr algn="l">
              <a:lnSpc>
                <a:spcPct val="108000"/>
              </a:lnSpc>
              <a:spcBef>
                <a:spcPts val="0"/>
              </a:spcBef>
              <a:spcAft>
                <a:spcPts val="250"/>
              </a:spcAft>
            </a:pPr>
            <a:r>
              <a:rPr sz="1000" b="0" i="1" u="none">
                <a:solidFill>
                  <a:srgbClr val="232A38"/>
                </a:solidFill>
                <a:latin typeface="Calibri"/>
              </a:rPr>
              <a:t>Ephesians 2:19-22</a:t>
            </a:r>
          </a:p>
          <a:p>
            <a:pPr algn="l">
              <a:lnSpc>
                <a:spcPct val="108000"/>
              </a:lnSpc>
              <a:spcBef>
                <a:spcPts val="0"/>
              </a:spcBef>
              <a:spcAft>
                <a:spcPts val="250"/>
              </a:spcAft>
            </a:pPr>
            <a:r>
              <a:rPr sz="1000" b="0" i="1" u="none">
                <a:solidFill>
                  <a:srgbClr val="232A38"/>
                </a:solidFill>
                <a:latin typeface="Calibri"/>
              </a:rPr>
              <a:t>Hebrews 12:1-2</a:t>
            </a:r>
          </a:p>
          <a:p>
            <a:pPr algn="l">
              <a:lnSpc>
                <a:spcPct val="108000"/>
              </a:lnSpc>
              <a:spcBef>
                <a:spcPts val="0"/>
              </a:spcBef>
              <a:spcAft>
                <a:spcPts val="250"/>
              </a:spcAft>
            </a:pPr>
            <a:r>
              <a:rPr sz="1000" b="0" i="1" u="none">
                <a:solidFill>
                  <a:srgbClr val="232A38"/>
                </a:solidFill>
                <a:latin typeface="Calibri"/>
              </a:rPr>
              <a:t>Jude 1:3</a:t>
            </a:r>
          </a:p>
          <a:p>
            <a:pPr algn="l">
              <a:lnSpc>
                <a:spcPct val="110000"/>
              </a:lnSpc>
              <a:spcBef>
                <a:spcPts val="400"/>
              </a:spcBef>
              <a:spcAft>
                <a:spcPts val="0"/>
              </a:spcAft>
            </a:pPr>
            <a:r>
              <a:rPr sz="950" b="0" i="0" u="none">
                <a:solidFill>
                  <a:srgbClr val="4C566B"/>
                </a:solidFill>
                <a:latin typeface="Calibri"/>
              </a:rPr>
              <a:t>The doctrine of the Church history is the ground of the Church's self-understanding and of its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faith across the centuries is the one faith, confessed in the different contexts of the history, the ground of the Church's self-understanding and of its hope.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15  ·  CHURCH HISTORY</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The Great Periods of Christian History</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51560" y="3977639"/>
            <a:ext cx="10104120" cy="0"/>
          </a:xfrm>
          <a:prstGeom prst="line">
            <a:avLst/>
          </a:prstGeom>
          <a:ln w="2032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51560" y="3611879"/>
            <a:ext cx="0" cy="3657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01268" y="3927348"/>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980" y="2377439"/>
            <a:ext cx="1859158"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21980" y="2377439"/>
            <a:ext cx="185915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13420" y="2468879"/>
            <a:ext cx="1676278" cy="1024128"/>
          </a:xfrm>
          <a:prstGeom prst="rect">
            <a:avLst/>
          </a:prstGeom>
          <a:noFill/>
        </p:spPr>
        <p:txBody>
          <a:bodyPr wrap="square" anchor="t" lIns="0" rIns="0" tIns="0" bIns="0">
            <a:spAutoFit/>
          </a:bodyPr>
          <a:lstStyle/>
          <a:p>
            <a:pPr algn="l">
              <a:lnSpc>
                <a:spcPct val="100000"/>
              </a:lnSpc>
              <a:spcBef>
                <a:spcPts val="0"/>
              </a:spcBef>
              <a:spcAft>
                <a:spcPts val="100"/>
              </a:spcAft>
            </a:pPr>
            <a:r>
              <a:rPr sz="860" b="1" i="0" u="none" spc="60">
                <a:solidFill>
                  <a:srgbClr val="9AA5BC"/>
                </a:solidFill>
                <a:latin typeface="Calibri Light"/>
              </a:rPr>
              <a:t>c. 30-100</a:t>
            </a:r>
          </a:p>
          <a:p>
            <a:pPr algn="l">
              <a:lnSpc>
                <a:spcPct val="102000"/>
              </a:lnSpc>
              <a:spcBef>
                <a:spcPts val="0"/>
              </a:spcBef>
              <a:spcAft>
                <a:spcPts val="200"/>
              </a:spcAft>
            </a:pPr>
            <a:r>
              <a:rPr sz="960" b="1" i="0" u="none" spc="40">
                <a:solidFill>
                  <a:srgbClr val="E6D3A3"/>
                </a:solidFill>
                <a:latin typeface="Calibri Light"/>
              </a:rPr>
              <a:t>APOSTOLIC</a:t>
            </a:r>
          </a:p>
          <a:p>
            <a:pPr algn="l">
              <a:lnSpc>
                <a:spcPct val="105000"/>
              </a:lnSpc>
              <a:spcBef>
                <a:spcPts val="0"/>
              </a:spcBef>
              <a:spcAft>
                <a:spcPts val="0"/>
              </a:spcAft>
            </a:pPr>
            <a:r>
              <a:rPr sz="880" b="0" i="1" u="none">
                <a:solidFill>
                  <a:srgbClr val="C9CDD6"/>
                </a:solidFill>
                <a:latin typeface="Palatino Linotype"/>
              </a:rPr>
              <a:t>the apostolic church, the New Testament writings</a:t>
            </a:r>
          </a:p>
        </p:txBody>
      </p:sp>
      <p:cxnSp>
        <p:nvCxnSpPr>
          <p:cNvPr id="13" name="Connector 12"/>
          <p:cNvCxnSpPr/>
          <p:nvPr/>
        </p:nvCxnSpPr>
        <p:spPr>
          <a:xfrm>
            <a:off x="3072384" y="3977639"/>
            <a:ext cx="0" cy="365761"/>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022091" y="3927348"/>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42804" y="4434840"/>
            <a:ext cx="1859158"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142804" y="5586983"/>
            <a:ext cx="185915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34244" y="4526279"/>
            <a:ext cx="1676278" cy="1024128"/>
          </a:xfrm>
          <a:prstGeom prst="rect">
            <a:avLst/>
          </a:prstGeom>
          <a:noFill/>
        </p:spPr>
        <p:txBody>
          <a:bodyPr wrap="square" anchor="t" lIns="0" rIns="0" tIns="0" bIns="0">
            <a:spAutoFit/>
          </a:bodyPr>
          <a:lstStyle/>
          <a:p>
            <a:pPr algn="l">
              <a:lnSpc>
                <a:spcPct val="100000"/>
              </a:lnSpc>
              <a:spcBef>
                <a:spcPts val="0"/>
              </a:spcBef>
              <a:spcAft>
                <a:spcPts val="100"/>
              </a:spcAft>
            </a:pPr>
            <a:r>
              <a:rPr sz="860" b="1" i="0" u="none" spc="60">
                <a:solidFill>
                  <a:srgbClr val="9AA5BC"/>
                </a:solidFill>
                <a:latin typeface="Calibri Light"/>
              </a:rPr>
              <a:t>c. 100-500</a:t>
            </a:r>
          </a:p>
          <a:p>
            <a:pPr algn="l">
              <a:lnSpc>
                <a:spcPct val="102000"/>
              </a:lnSpc>
              <a:spcBef>
                <a:spcPts val="0"/>
              </a:spcBef>
              <a:spcAft>
                <a:spcPts val="200"/>
              </a:spcAft>
            </a:pPr>
            <a:r>
              <a:rPr sz="960" b="1" i="0" u="none" spc="40">
                <a:solidFill>
                  <a:srgbClr val="E6D3A3"/>
                </a:solidFill>
                <a:latin typeface="Calibri Light"/>
              </a:rPr>
              <a:t>PATRISTIC</a:t>
            </a:r>
          </a:p>
          <a:p>
            <a:pPr algn="l">
              <a:lnSpc>
                <a:spcPct val="105000"/>
              </a:lnSpc>
              <a:spcBef>
                <a:spcPts val="0"/>
              </a:spcBef>
              <a:spcAft>
                <a:spcPts val="0"/>
              </a:spcAft>
            </a:pPr>
            <a:r>
              <a:rPr sz="880" b="0" i="1" u="none">
                <a:solidFill>
                  <a:srgbClr val="C9CDD6"/>
                </a:solidFill>
                <a:latin typeface="Palatino Linotype"/>
              </a:rPr>
              <a:t>Fathers, councils, the great creeds</a:t>
            </a:r>
          </a:p>
        </p:txBody>
      </p:sp>
      <p:cxnSp>
        <p:nvCxnSpPr>
          <p:cNvPr id="18" name="Connector 17"/>
          <p:cNvCxnSpPr/>
          <p:nvPr/>
        </p:nvCxnSpPr>
        <p:spPr>
          <a:xfrm flipV="1">
            <a:off x="5093208" y="3611879"/>
            <a:ext cx="0" cy="3657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042916" y="3927348"/>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63628" y="2377439"/>
            <a:ext cx="1859158"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163628" y="2377439"/>
            <a:ext cx="185915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255068" y="2468879"/>
            <a:ext cx="1676278" cy="1024128"/>
          </a:xfrm>
          <a:prstGeom prst="rect">
            <a:avLst/>
          </a:prstGeom>
          <a:noFill/>
        </p:spPr>
        <p:txBody>
          <a:bodyPr wrap="square" anchor="t" lIns="0" rIns="0" tIns="0" bIns="0">
            <a:spAutoFit/>
          </a:bodyPr>
          <a:lstStyle/>
          <a:p>
            <a:pPr algn="l">
              <a:lnSpc>
                <a:spcPct val="100000"/>
              </a:lnSpc>
              <a:spcBef>
                <a:spcPts val="0"/>
              </a:spcBef>
              <a:spcAft>
                <a:spcPts val="100"/>
              </a:spcAft>
            </a:pPr>
            <a:r>
              <a:rPr sz="860" b="1" i="0" u="none" spc="60">
                <a:solidFill>
                  <a:srgbClr val="9AA5BC"/>
                </a:solidFill>
                <a:latin typeface="Calibri Light"/>
              </a:rPr>
              <a:t>c. 500-1500</a:t>
            </a:r>
          </a:p>
          <a:p>
            <a:pPr algn="l">
              <a:lnSpc>
                <a:spcPct val="102000"/>
              </a:lnSpc>
              <a:spcBef>
                <a:spcPts val="0"/>
              </a:spcBef>
              <a:spcAft>
                <a:spcPts val="200"/>
              </a:spcAft>
            </a:pPr>
            <a:r>
              <a:rPr sz="960" b="1" i="0" u="none" spc="40">
                <a:solidFill>
                  <a:srgbClr val="E6D3A3"/>
                </a:solidFill>
                <a:latin typeface="Calibri Light"/>
              </a:rPr>
              <a:t>MEDIEVAL</a:t>
            </a:r>
          </a:p>
          <a:p>
            <a:pPr algn="l">
              <a:lnSpc>
                <a:spcPct val="105000"/>
              </a:lnSpc>
              <a:spcBef>
                <a:spcPts val="0"/>
              </a:spcBef>
              <a:spcAft>
                <a:spcPts val="0"/>
              </a:spcAft>
            </a:pPr>
            <a:r>
              <a:rPr sz="880" b="0" i="1" u="none">
                <a:solidFill>
                  <a:srgbClr val="C9CDD6"/>
                </a:solidFill>
                <a:latin typeface="Palatino Linotype"/>
              </a:rPr>
              <a:t>scholasticism, monasticism, the universities</a:t>
            </a:r>
          </a:p>
        </p:txBody>
      </p:sp>
      <p:cxnSp>
        <p:nvCxnSpPr>
          <p:cNvPr id="23" name="Connector 22"/>
          <p:cNvCxnSpPr/>
          <p:nvPr/>
        </p:nvCxnSpPr>
        <p:spPr>
          <a:xfrm>
            <a:off x="7114031" y="3977639"/>
            <a:ext cx="0" cy="365761"/>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63740" y="3927348"/>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4452" y="4434840"/>
            <a:ext cx="1859158"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184452" y="5586983"/>
            <a:ext cx="185915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275892" y="4526279"/>
            <a:ext cx="1676278" cy="1024128"/>
          </a:xfrm>
          <a:prstGeom prst="rect">
            <a:avLst/>
          </a:prstGeom>
          <a:noFill/>
        </p:spPr>
        <p:txBody>
          <a:bodyPr wrap="square" anchor="t" lIns="0" rIns="0" tIns="0" bIns="0">
            <a:spAutoFit/>
          </a:bodyPr>
          <a:lstStyle/>
          <a:p>
            <a:pPr algn="l">
              <a:lnSpc>
                <a:spcPct val="100000"/>
              </a:lnSpc>
              <a:spcBef>
                <a:spcPts val="0"/>
              </a:spcBef>
              <a:spcAft>
                <a:spcPts val="100"/>
              </a:spcAft>
            </a:pPr>
            <a:r>
              <a:rPr sz="860" b="1" i="0" u="none" spc="60">
                <a:solidFill>
                  <a:srgbClr val="9AA5BC"/>
                </a:solidFill>
                <a:latin typeface="Calibri Light"/>
              </a:rPr>
              <a:t>c. 1500-1650</a:t>
            </a:r>
          </a:p>
          <a:p>
            <a:pPr algn="l">
              <a:lnSpc>
                <a:spcPct val="102000"/>
              </a:lnSpc>
              <a:spcBef>
                <a:spcPts val="0"/>
              </a:spcBef>
              <a:spcAft>
                <a:spcPts val="200"/>
              </a:spcAft>
            </a:pPr>
            <a:r>
              <a:rPr sz="960" b="1" i="0" u="none" spc="40">
                <a:solidFill>
                  <a:srgbClr val="E6D3A3"/>
                </a:solidFill>
                <a:latin typeface="Calibri Light"/>
              </a:rPr>
              <a:t>REFORMATION</a:t>
            </a:r>
          </a:p>
          <a:p>
            <a:pPr algn="l">
              <a:lnSpc>
                <a:spcPct val="105000"/>
              </a:lnSpc>
              <a:spcBef>
                <a:spcPts val="0"/>
              </a:spcBef>
              <a:spcAft>
                <a:spcPts val="0"/>
              </a:spcAft>
            </a:pPr>
            <a:r>
              <a:rPr sz="880" b="0" i="1" u="none">
                <a:solidFill>
                  <a:srgbClr val="C9CDD6"/>
                </a:solidFill>
                <a:latin typeface="Palatino Linotype"/>
              </a:rPr>
              <a:t>Luther, Calvin, Zwingli; confessions of faith</a:t>
            </a:r>
          </a:p>
        </p:txBody>
      </p:sp>
      <p:cxnSp>
        <p:nvCxnSpPr>
          <p:cNvPr id="28" name="Connector 27"/>
          <p:cNvCxnSpPr/>
          <p:nvPr/>
        </p:nvCxnSpPr>
        <p:spPr>
          <a:xfrm flipV="1">
            <a:off x="9134856" y="3611879"/>
            <a:ext cx="0" cy="36576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084564" y="3927348"/>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05276" y="2377439"/>
            <a:ext cx="1859158"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205276" y="2377439"/>
            <a:ext cx="185915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296716" y="2468879"/>
            <a:ext cx="1676278" cy="1024128"/>
          </a:xfrm>
          <a:prstGeom prst="rect">
            <a:avLst/>
          </a:prstGeom>
          <a:noFill/>
        </p:spPr>
        <p:txBody>
          <a:bodyPr wrap="square" anchor="t" lIns="0" rIns="0" tIns="0" bIns="0">
            <a:spAutoFit/>
          </a:bodyPr>
          <a:lstStyle/>
          <a:p>
            <a:pPr algn="l">
              <a:lnSpc>
                <a:spcPct val="100000"/>
              </a:lnSpc>
              <a:spcBef>
                <a:spcPts val="0"/>
              </a:spcBef>
              <a:spcAft>
                <a:spcPts val="100"/>
              </a:spcAft>
            </a:pPr>
            <a:r>
              <a:rPr sz="860" b="1" i="0" u="none" spc="60">
                <a:solidFill>
                  <a:srgbClr val="9AA5BC"/>
                </a:solidFill>
                <a:latin typeface="Calibri Light"/>
              </a:rPr>
              <a:t>c. 1650-1900</a:t>
            </a:r>
          </a:p>
          <a:p>
            <a:pPr algn="l">
              <a:lnSpc>
                <a:spcPct val="102000"/>
              </a:lnSpc>
              <a:spcBef>
                <a:spcPts val="0"/>
              </a:spcBef>
              <a:spcAft>
                <a:spcPts val="200"/>
              </a:spcAft>
            </a:pPr>
            <a:r>
              <a:rPr sz="960" b="1" i="0" u="none" spc="40">
                <a:solidFill>
                  <a:srgbClr val="E6D3A3"/>
                </a:solidFill>
                <a:latin typeface="Calibri Light"/>
              </a:rPr>
              <a:t>POST-REFORMATION</a:t>
            </a:r>
          </a:p>
          <a:p>
            <a:pPr algn="l">
              <a:lnSpc>
                <a:spcPct val="105000"/>
              </a:lnSpc>
              <a:spcBef>
                <a:spcPts val="0"/>
              </a:spcBef>
              <a:spcAft>
                <a:spcPts val="0"/>
              </a:spcAft>
            </a:pPr>
            <a:r>
              <a:rPr sz="880" b="0" i="1" u="none">
                <a:solidFill>
                  <a:srgbClr val="C9CDD6"/>
                </a:solidFill>
                <a:latin typeface="Palatino Linotype"/>
              </a:rPr>
              <a:t>Orthodoxy, Pietism, Enlightenment critique</a:t>
            </a:r>
          </a:p>
        </p:txBody>
      </p:sp>
      <p:cxnSp>
        <p:nvCxnSpPr>
          <p:cNvPr id="33" name="Connector 32"/>
          <p:cNvCxnSpPr/>
          <p:nvPr/>
        </p:nvCxnSpPr>
        <p:spPr>
          <a:xfrm>
            <a:off x="11155680" y="3977639"/>
            <a:ext cx="0" cy="365761"/>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1105388" y="3927348"/>
            <a:ext cx="100584" cy="100584"/>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26100" y="4434840"/>
            <a:ext cx="1859158" cy="1188720"/>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0226100" y="5586983"/>
            <a:ext cx="1859158" cy="3657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10317540" y="4526279"/>
            <a:ext cx="1676278" cy="1024128"/>
          </a:xfrm>
          <a:prstGeom prst="rect">
            <a:avLst/>
          </a:prstGeom>
          <a:noFill/>
        </p:spPr>
        <p:txBody>
          <a:bodyPr wrap="square" anchor="t" lIns="0" rIns="0" tIns="0" bIns="0">
            <a:spAutoFit/>
          </a:bodyPr>
          <a:lstStyle/>
          <a:p>
            <a:pPr algn="l">
              <a:lnSpc>
                <a:spcPct val="100000"/>
              </a:lnSpc>
              <a:spcBef>
                <a:spcPts val="0"/>
              </a:spcBef>
              <a:spcAft>
                <a:spcPts val="100"/>
              </a:spcAft>
            </a:pPr>
            <a:r>
              <a:rPr sz="860" b="1" i="0" u="none" spc="60">
                <a:solidFill>
                  <a:srgbClr val="9AA5BC"/>
                </a:solidFill>
                <a:latin typeface="Calibri Light"/>
              </a:rPr>
              <a:t>c. 1900-present</a:t>
            </a:r>
          </a:p>
          <a:p>
            <a:pPr algn="l">
              <a:lnSpc>
                <a:spcPct val="102000"/>
              </a:lnSpc>
              <a:spcBef>
                <a:spcPts val="0"/>
              </a:spcBef>
              <a:spcAft>
                <a:spcPts val="200"/>
              </a:spcAft>
            </a:pPr>
            <a:r>
              <a:rPr sz="960" b="1" i="0" u="none" spc="40">
                <a:solidFill>
                  <a:srgbClr val="E6D3A3"/>
                </a:solidFill>
                <a:latin typeface="Calibri Light"/>
              </a:rPr>
              <a:t>MODERN &amp; GLOBAL</a:t>
            </a:r>
          </a:p>
          <a:p>
            <a:pPr algn="l">
              <a:lnSpc>
                <a:spcPct val="105000"/>
              </a:lnSpc>
              <a:spcBef>
                <a:spcPts val="0"/>
              </a:spcBef>
              <a:spcAft>
                <a:spcPts val="0"/>
              </a:spcAft>
            </a:pPr>
            <a:r>
              <a:rPr sz="880" b="0" i="1" u="none">
                <a:solidFill>
                  <a:srgbClr val="C9CDD6"/>
                </a:solidFill>
                <a:latin typeface="Palatino Linotype"/>
              </a:rPr>
              <a:t>missions, ecumenism, postmodern theology</a:t>
            </a:r>
          </a:p>
        </p:txBody>
      </p:sp>
      <p:sp>
        <p:nvSpPr>
          <p:cNvPr id="38" name="Rectangle 37"/>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239572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259232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278892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2985515"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318211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37870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3575303"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3771900"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15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Church History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history of the Church is the story of the work of God in the world, from the apostolic age to the present.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councils and the creeds defined the faith against the heresies, and the Reformation restored the doctrines of the justification by faith.</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Church has developed in the light of the word of God, through the medieval, the Reformation, and the modern periods.</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faith across the centuries is the one faith, confessed in the different contexts of the history.</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Church history is the ground of the Church's self-understanding and of its witness; it flows from the doctrines of the Church and of the mission, and it is the ground of the Church's hope.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seen the history of the faith across the centuries, the programme turns to the advanced study of the theology: the great traditions and the modern movements.</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16 · Advanced Christian Theology</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16</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ADVANCED CHRISTIAN THEOLOGY</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seen the history of the faith across the centuries, the programme turns to the advanced study of the theology: the great traditions and the modern movements.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7955279" y="3369564"/>
            <a:ext cx="1234440" cy="274320"/>
          </a:xfrm>
          <a:prstGeom prst="line">
            <a:avLst/>
          </a:prstGeom>
          <a:ln w="1270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189719" y="2912364"/>
            <a:ext cx="1463041" cy="82296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9189719" y="3735324"/>
            <a:ext cx="1463041" cy="640080"/>
          </a:xfrm>
          <a:prstGeom prst="line">
            <a:avLst/>
          </a:prstGeom>
          <a:ln w="17780">
            <a:solidFill>
              <a:srgbClr val="C9A45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189719" y="2912364"/>
            <a:ext cx="0" cy="1463040"/>
          </a:xfrm>
          <a:prstGeom prst="line">
            <a:avLst/>
          </a:prstGeom>
          <a:ln w="1524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0698480" y="3296412"/>
            <a:ext cx="777239" cy="356616"/>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0" y="3698748"/>
            <a:ext cx="777239" cy="9144"/>
          </a:xfrm>
          <a:prstGeom prst="line">
            <a:avLst/>
          </a:prstGeom>
          <a:ln w="12700">
            <a:solidFill>
              <a:srgbClr val="E6D3A3"/>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698480" y="3744468"/>
            <a:ext cx="777239" cy="374904"/>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1480292" y="3712464"/>
            <a:ext cx="82296" cy="82296"/>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16</a:t>
            </a:r>
          </a:p>
        </p:txBody>
      </p:sp>
      <p:sp>
        <p:nvSpPr>
          <p:cNvPr id="14" name="TextBox 13"/>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16</a:t>
            </a:r>
          </a:p>
        </p:txBody>
      </p:sp>
      <p:sp>
        <p:nvSpPr>
          <p:cNvPr id="15" name="TextBox 14"/>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ADVANCED CHRISTIAN THEOLOGY</a:t>
            </a:r>
          </a:p>
        </p:txBody>
      </p:sp>
      <p:cxnSp>
        <p:nvCxnSpPr>
          <p:cNvPr id="16" name="Connector 15"/>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Systematic theology at depth: the confessional traditions, the great theologians, and the modern movements.</a:t>
            </a:r>
          </a:p>
        </p:txBody>
      </p:sp>
      <p:sp>
        <p:nvSpPr>
          <p:cNvPr id="18" name="Rectangle 17"/>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575303"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77190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968496"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16</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ADVANCED CHRISTIAN THEOLOGY</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Advanced Christian Theology</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advanced module studies the architecture of systematic theology at depth. It surveys the confessional traditions, the theology of the Fathers and the Reformation theologians, and the modern movements, in the light of the word of God.</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Systematic theology is the disciplined study of the whole of the faith in its relations. The advanced study moves from the confessions to the theologians and to the movements of the present age.</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advanced Christian theology is the ground of the theologian's depth and of the Church's self-understanding. It shows how the one faith has been studied and confessed across the traditions and the centuries.</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study the nature and tasks of systematic theology, the confessional traditions, the great theologians, and the modern movements, in the light of the word of God.</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Tasks of Systematic Theology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Systematic theology is the discipline that studies the whole of the Christian faith in its relations, arranging the doctrines in a coherent order. Its tasks are to expound the faith from the Scripture, to relate the doctrines to one another, and to apply the faith to the life of the Church. Systematic theology is distinct from biblical theology in that it arranges the doctrine in the logical order, and from practical theology in that it is the study of the doctrine itself. The method of the systematic theology is to hold the Scripture, the creeds, and the reason in the balance, and it is the ground of the Church's teaching and of its witness. The doctrine of the nature and the tasks of the systematic theology is the ground of the whole of the advanced study.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Systematic theology as the study of the faith in its relations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tasks: expound, relate, and apply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method: the Scripture, the creeds, and the reason in the balance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teaching and of its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2:15</a:t>
            </a:r>
          </a:p>
          <a:p>
            <a:pPr algn="l">
              <a:lnSpc>
                <a:spcPct val="108000"/>
              </a:lnSpc>
              <a:spcBef>
                <a:spcPts val="0"/>
              </a:spcBef>
              <a:spcAft>
                <a:spcPts val="250"/>
              </a:spcAft>
            </a:pPr>
            <a:r>
              <a:rPr sz="1000" b="0" i="1" u="none">
                <a:solidFill>
                  <a:srgbClr val="232A38"/>
                </a:solidFill>
                <a:latin typeface="Calibri"/>
              </a:rPr>
              <a:t>Colossians 1:9-10</a:t>
            </a:r>
          </a:p>
          <a:p>
            <a:pPr algn="l">
              <a:lnSpc>
                <a:spcPct val="108000"/>
              </a:lnSpc>
              <a:spcBef>
                <a:spcPts val="0"/>
              </a:spcBef>
              <a:spcAft>
                <a:spcPts val="250"/>
              </a:spcAft>
            </a:pPr>
            <a:r>
              <a:rPr sz="1000" b="0" i="1" u="none">
                <a:solidFill>
                  <a:srgbClr val="232A38"/>
                </a:solidFill>
                <a:latin typeface="Calibri"/>
              </a:rPr>
              <a:t>Romans 16:25-27</a:t>
            </a:r>
          </a:p>
          <a:p>
            <a:pPr algn="l">
              <a:lnSpc>
                <a:spcPct val="108000"/>
              </a:lnSpc>
              <a:spcBef>
                <a:spcPts val="0"/>
              </a:spcBef>
              <a:spcAft>
                <a:spcPts val="250"/>
              </a:spcAft>
            </a:pPr>
            <a:r>
              <a:rPr sz="1000" b="0" i="1" u="none">
                <a:solidFill>
                  <a:srgbClr val="232A38"/>
                </a:solidFill>
                <a:latin typeface="Calibri"/>
              </a:rPr>
              <a:t>Ephesians 4:11-13</a:t>
            </a:r>
          </a:p>
          <a:p>
            <a:pPr algn="l">
              <a:lnSpc>
                <a:spcPct val="110000"/>
              </a:lnSpc>
              <a:spcBef>
                <a:spcPts val="400"/>
              </a:spcBef>
              <a:spcAft>
                <a:spcPts val="0"/>
              </a:spcAft>
            </a:pPr>
            <a:r>
              <a:rPr sz="950" b="0" i="0" u="none">
                <a:solidFill>
                  <a:srgbClr val="4C566B"/>
                </a:solidFill>
                <a:latin typeface="Calibri"/>
              </a:rPr>
              <a:t>The ground of the whole of the advanced study and of the Church's teaching.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Systematic theology is the disciplined study of the whole of the faith in its relations, the ground of the Church's teaching and of its witness.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Major Protestant Confessional Traditions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major Protestant confessional traditions are the great confessions of the Reformation and the churches that arose from them. The Lutheran tradition is marked by the doctrine of the justification by faith alone and the two kingdoms. The Reformed tradition is marked by the doctrine of the sovereignty of God, the five points of the grace, and the Westminster Confession. The Arminian and the Wesleyan traditions are marked by the doctrine of the prevenient grace and the holiness of the life. The Anglican tradition is marked by the via media and the Book of Common Prayer. These confessions are the ground of the Protestant churches and of their witness, and they are the summaries of the faith in the different traditions. The doctrine of the confessional traditions is the ground of the Church's self-understanding in the Protestant family.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Lutheran, the Reformed, the Arminian, the Wesleyan, and the Anglican traditions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confessions: the Augsburg, the Westminster, the Canons of Dort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summaries of the faith in the different traditions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Protestant churches and of their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3:21-28</a:t>
            </a:r>
          </a:p>
          <a:p>
            <a:pPr algn="l">
              <a:lnSpc>
                <a:spcPct val="108000"/>
              </a:lnSpc>
              <a:spcBef>
                <a:spcPts val="0"/>
              </a:spcBef>
              <a:spcAft>
                <a:spcPts val="250"/>
              </a:spcAft>
            </a:pPr>
            <a:r>
              <a:rPr sz="1000" b="0" i="1" u="none">
                <a:solidFill>
                  <a:srgbClr val="232A38"/>
                </a:solidFill>
                <a:latin typeface="Calibri"/>
              </a:rPr>
              <a:t>Ephesians 1:3-14</a:t>
            </a:r>
          </a:p>
          <a:p>
            <a:pPr algn="l">
              <a:lnSpc>
                <a:spcPct val="108000"/>
              </a:lnSpc>
              <a:spcBef>
                <a:spcPts val="0"/>
              </a:spcBef>
              <a:spcAft>
                <a:spcPts val="250"/>
              </a:spcAft>
            </a:pPr>
            <a:r>
              <a:rPr sz="1000" b="0" i="1" u="none">
                <a:solidFill>
                  <a:srgbClr val="232A38"/>
                </a:solidFill>
                <a:latin typeface="Calibri"/>
              </a:rPr>
              <a:t>Galatians 2:16</a:t>
            </a:r>
          </a:p>
          <a:p>
            <a:pPr algn="l">
              <a:lnSpc>
                <a:spcPct val="108000"/>
              </a:lnSpc>
              <a:spcBef>
                <a:spcPts val="0"/>
              </a:spcBef>
              <a:spcAft>
                <a:spcPts val="250"/>
              </a:spcAft>
            </a:pPr>
            <a:r>
              <a:rPr sz="1000" b="0" i="1" u="none">
                <a:solidFill>
                  <a:srgbClr val="232A38"/>
                </a:solidFill>
                <a:latin typeface="Calibri"/>
              </a:rPr>
              <a:t>Jude 1:3</a:t>
            </a:r>
          </a:p>
          <a:p>
            <a:pPr algn="l">
              <a:lnSpc>
                <a:spcPct val="110000"/>
              </a:lnSpc>
              <a:spcBef>
                <a:spcPts val="400"/>
              </a:spcBef>
              <a:spcAft>
                <a:spcPts val="0"/>
              </a:spcAft>
            </a:pPr>
            <a:r>
              <a:rPr sz="950" b="0" i="0" u="none">
                <a:solidFill>
                  <a:srgbClr val="4C566B"/>
                </a:solidFill>
                <a:latin typeface="Calibri"/>
              </a:rPr>
              <a:t>The ground of the Protestant churches and of their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major Protestant confessional traditions are the great confessions of the Reformation, the summaries of the faith in the different traditions.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Roman Catholic Theology: A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Roman Catholic theology is the theology of the Roman Catholic Church, studied in its sources, its method, and its great doctrines. Its sources are the Scripture and the tradition, interpreted by the magisterium of the Church. Its method is the synthesis of the faith and the reason, from Augustine to the scholasticism and to the present. Its great doctrines include the papacy, the sacraments, the maryology, and the doctrine of the justification. The study of the Roman Catholic theology is to be conducted with the honesty of the scholarship and the discernment of the faith, and it is the ground of the ecumenical dialogue. The doctrine of the Roman Catholic theology is the ground of the Church's ecumenical witness and of its self-understanding in the dialogue.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sources: the Scripture and the tradition, the magisterium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method: the synthesis of the faith and the reason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doctrines: the papacy, the sacraments, the maryology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ecumenical dialogue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Matthew 16:18-19</a:t>
            </a:r>
          </a:p>
          <a:p>
            <a:pPr algn="l">
              <a:lnSpc>
                <a:spcPct val="108000"/>
              </a:lnSpc>
              <a:spcBef>
                <a:spcPts val="0"/>
              </a:spcBef>
              <a:spcAft>
                <a:spcPts val="250"/>
              </a:spcAft>
            </a:pPr>
            <a:r>
              <a:rPr sz="1000" b="0" i="1" u="none">
                <a:solidFill>
                  <a:srgbClr val="232A38"/>
                </a:solidFill>
                <a:latin typeface="Calibri"/>
              </a:rPr>
              <a:t>Jude 1:3</a:t>
            </a:r>
          </a:p>
          <a:p>
            <a:pPr algn="l">
              <a:lnSpc>
                <a:spcPct val="108000"/>
              </a:lnSpc>
              <a:spcBef>
                <a:spcPts val="0"/>
              </a:spcBef>
              <a:spcAft>
                <a:spcPts val="250"/>
              </a:spcAft>
            </a:pPr>
            <a:r>
              <a:rPr sz="1000" b="0" i="1" u="none">
                <a:solidFill>
                  <a:srgbClr val="232A38"/>
                </a:solidFill>
                <a:latin typeface="Calibri"/>
              </a:rPr>
              <a:t>Hebrews 10:19-22</a:t>
            </a:r>
          </a:p>
          <a:p>
            <a:pPr algn="l">
              <a:lnSpc>
                <a:spcPct val="108000"/>
              </a:lnSpc>
              <a:spcBef>
                <a:spcPts val="0"/>
              </a:spcBef>
              <a:spcAft>
                <a:spcPts val="250"/>
              </a:spcAft>
            </a:pPr>
            <a:r>
              <a:rPr sz="1000" b="0" i="1" u="none">
                <a:solidFill>
                  <a:srgbClr val="232A38"/>
                </a:solidFill>
                <a:latin typeface="Calibri"/>
              </a:rPr>
              <a:t>2 Corinthians 5:17-21</a:t>
            </a:r>
          </a:p>
          <a:p>
            <a:pPr algn="l">
              <a:lnSpc>
                <a:spcPct val="110000"/>
              </a:lnSpc>
              <a:spcBef>
                <a:spcPts val="400"/>
              </a:spcBef>
              <a:spcAft>
                <a:spcPts val="0"/>
              </a:spcAft>
            </a:pPr>
            <a:r>
              <a:rPr sz="950" b="0" i="0" u="none">
                <a:solidFill>
                  <a:srgbClr val="4C566B"/>
                </a:solidFill>
                <a:latin typeface="Calibri"/>
              </a:rPr>
              <a:t>The ground of the ecumenical dialogue and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Roman Catholic theology is the theology of the Roman Catholic Church, studied in its sources, its method, and its great doctrines, the ground of the ecumenical dialogue.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Eastern Orthodox Theology: A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Eastern Orthodox theology is the theology of the Eastern Orthodox Church, studied in its sources, its method, and its great doctrines. Its sources are the Scripture and the tradition of the Church Fathers and the councils. Its method is the mystical and the liturgical, with the emphasis on the experience of the faith. Its great doctrines include the theosis (the deification), the icons, the apostolic succession, and the liturgical life. The study of the Eastern Orthodox theology is to be conducted with the honesty of the scholarship and the discernment of the faith, and it is the ground of the ecumenical dialogue. The doctrine of the Eastern Orthodox theology is the ground of the Church's ecumenical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sources: the Scripture, the Fathers, and the councils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method: the mystical and the liturgical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doctrines: the theosis, the icons, the succession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ecumenical dialogue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Peter 1:4</a:t>
            </a:r>
          </a:p>
          <a:p>
            <a:pPr algn="l">
              <a:lnSpc>
                <a:spcPct val="108000"/>
              </a:lnSpc>
              <a:spcBef>
                <a:spcPts val="0"/>
              </a:spcBef>
              <a:spcAft>
                <a:spcPts val="250"/>
              </a:spcAft>
            </a:pPr>
            <a:r>
              <a:rPr sz="1000" b="0" i="1" u="none">
                <a:solidFill>
                  <a:srgbClr val="232A38"/>
                </a:solidFill>
                <a:latin typeface="Calibri"/>
              </a:rPr>
              <a:t>2 Corinthians 3:18</a:t>
            </a:r>
          </a:p>
          <a:p>
            <a:pPr algn="l">
              <a:lnSpc>
                <a:spcPct val="108000"/>
              </a:lnSpc>
              <a:spcBef>
                <a:spcPts val="0"/>
              </a:spcBef>
              <a:spcAft>
                <a:spcPts val="250"/>
              </a:spcAft>
            </a:pPr>
            <a:r>
              <a:rPr sz="1000" b="0" i="1" u="none">
                <a:solidFill>
                  <a:srgbClr val="232A38"/>
                </a:solidFill>
                <a:latin typeface="Calibri"/>
              </a:rPr>
              <a:t>1 Corinthians 12:12-27</a:t>
            </a:r>
          </a:p>
          <a:p>
            <a:pPr algn="l">
              <a:lnSpc>
                <a:spcPct val="108000"/>
              </a:lnSpc>
              <a:spcBef>
                <a:spcPts val="0"/>
              </a:spcBef>
              <a:spcAft>
                <a:spcPts val="250"/>
              </a:spcAft>
            </a:pPr>
            <a:r>
              <a:rPr sz="1000" b="0" i="1" u="none">
                <a:solidFill>
                  <a:srgbClr val="232A38"/>
                </a:solidFill>
                <a:latin typeface="Calibri"/>
              </a:rPr>
              <a:t>John 1:14</a:t>
            </a:r>
          </a:p>
          <a:p>
            <a:pPr algn="l">
              <a:lnSpc>
                <a:spcPct val="110000"/>
              </a:lnSpc>
              <a:spcBef>
                <a:spcPts val="400"/>
              </a:spcBef>
              <a:spcAft>
                <a:spcPts val="0"/>
              </a:spcAft>
            </a:pPr>
            <a:r>
              <a:rPr sz="950" b="0" i="0" u="none">
                <a:solidFill>
                  <a:srgbClr val="4C566B"/>
                </a:solidFill>
                <a:latin typeface="Calibri"/>
              </a:rPr>
              <a:t>The ground of the ecumenical dialogue and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Eastern Orthodox theology is the theology of the Eastern Church, marked by the doctrine of the theosis and the liturgical life, the ground of the ecumenical dialogue.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Theology of the Early Church Fathers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theology of the Early Church Fathers is the study of the doctrine of the Church in the first centuries, from the Apostolic Fathers to the great Fathers of the fourth century. The Apostolic Fathers — Clement, Ignatius, Polycarp — witness to the apostolic teaching and the order of the Church. The great Fathers — Irenaeus, Tertullian, Origen, Cyprian, Athanasius, Cappadocians, Augustine — define the faith against the heresies and develop the doctrines of the Trinity, of the Christ, and of the grace. The theology of the Fathers is the ground of the creeds and of the order of the Church, and it is the witness of the faith in the early centuries. The doctrine of the theology of the Fathers is the ground of the Church's teaching and of its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Apostolic Fathers and the apostolic teaching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great Fathers: Irenaeus, Tertullian, Athanasius, the Cappadocians, Augustine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definition of the faith against the heresies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creeds and of the order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Jude 1:3</a:t>
            </a:r>
          </a:p>
          <a:p>
            <a:pPr algn="l">
              <a:lnSpc>
                <a:spcPct val="108000"/>
              </a:lnSpc>
              <a:spcBef>
                <a:spcPts val="0"/>
              </a:spcBef>
              <a:spcAft>
                <a:spcPts val="250"/>
              </a:spcAft>
            </a:pPr>
            <a:r>
              <a:rPr sz="1000" b="0" i="1" u="none">
                <a:solidFill>
                  <a:srgbClr val="232A38"/>
                </a:solidFill>
                <a:latin typeface="Calibri"/>
              </a:rPr>
              <a:t>2 Timothy 2:2</a:t>
            </a:r>
          </a:p>
          <a:p>
            <a:pPr algn="l">
              <a:lnSpc>
                <a:spcPct val="108000"/>
              </a:lnSpc>
              <a:spcBef>
                <a:spcPts val="0"/>
              </a:spcBef>
              <a:spcAft>
                <a:spcPts val="250"/>
              </a:spcAft>
            </a:pPr>
            <a:r>
              <a:rPr sz="1000" b="0" i="1" u="none">
                <a:solidFill>
                  <a:srgbClr val="232A38"/>
                </a:solidFill>
                <a:latin typeface="Calibri"/>
              </a:rPr>
              <a:t>Hebrews 13:7</a:t>
            </a:r>
          </a:p>
          <a:p>
            <a:pPr algn="l">
              <a:lnSpc>
                <a:spcPct val="108000"/>
              </a:lnSpc>
              <a:spcBef>
                <a:spcPts val="0"/>
              </a:spcBef>
              <a:spcAft>
                <a:spcPts val="250"/>
              </a:spcAft>
            </a:pPr>
            <a:r>
              <a:rPr sz="1000" b="0" i="1" u="none">
                <a:solidFill>
                  <a:srgbClr val="232A38"/>
                </a:solidFill>
                <a:latin typeface="Calibri"/>
              </a:rPr>
              <a:t>1 Corinthians 15:3-8</a:t>
            </a:r>
          </a:p>
          <a:p>
            <a:pPr algn="l">
              <a:lnSpc>
                <a:spcPct val="110000"/>
              </a:lnSpc>
              <a:spcBef>
                <a:spcPts val="400"/>
              </a:spcBef>
              <a:spcAft>
                <a:spcPts val="0"/>
              </a:spcAft>
            </a:pPr>
            <a:r>
              <a:rPr sz="950" b="0" i="0" u="none">
                <a:solidFill>
                  <a:srgbClr val="4C566B"/>
                </a:solidFill>
                <a:latin typeface="Calibri"/>
              </a:rPr>
              <a:t>The ground of the creeds and of the order of the Church across the centuries.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theology of the Early Church Fathers is the definition of the faith against the heresies, the ground of the creeds and of the order of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Medieval Theologians: Augustine to Aquinas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medieval theologians are the great teachers of the faith from Augustine in the fifth century to Thomas Aquinas in the thirteenth. Augustine is the father of the doctrine of the grace, the original sin, and the Church. The medieval schoolmen — Anselm, Abelard, Bernard, the scholastics — develop the doctrine of the faith in the light of the reason. Thomas Aquinas is the great synthesizer, whose Summa Theologica is the summary of the faith and the reason in the medieval period. The medieval theologians are the ground of the medieval learning and of the order of the Church, and they are the witnesses of the faith in the medieval centuries. The doctrine of the medieval theologians is the ground of the Church's learning and of its history.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Augustine as the father of the doctrine of the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medieval schoolmen and the development of the doctrine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Thomas Aquinas as the great synthesizer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medieval learning and of the order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1:1-5</a:t>
            </a:r>
          </a:p>
          <a:p>
            <a:pPr algn="l">
              <a:lnSpc>
                <a:spcPct val="108000"/>
              </a:lnSpc>
              <a:spcBef>
                <a:spcPts val="0"/>
              </a:spcBef>
              <a:spcAft>
                <a:spcPts val="250"/>
              </a:spcAft>
            </a:pPr>
            <a:r>
              <a:rPr sz="1000" b="0" i="1" u="none">
                <a:solidFill>
                  <a:srgbClr val="232A38"/>
                </a:solidFill>
                <a:latin typeface="Calibri"/>
              </a:rPr>
              <a:t>Romans 8:28-39</a:t>
            </a:r>
          </a:p>
          <a:p>
            <a:pPr algn="l">
              <a:lnSpc>
                <a:spcPct val="108000"/>
              </a:lnSpc>
              <a:spcBef>
                <a:spcPts val="0"/>
              </a:spcBef>
              <a:spcAft>
                <a:spcPts val="250"/>
              </a:spcAft>
            </a:pPr>
            <a:r>
              <a:rPr sz="1000" b="0" i="1" u="none">
                <a:solidFill>
                  <a:srgbClr val="232A38"/>
                </a:solidFill>
                <a:latin typeface="Calibri"/>
              </a:rPr>
              <a:t>Psalm 1:2-3</a:t>
            </a:r>
          </a:p>
          <a:p>
            <a:pPr algn="l">
              <a:lnSpc>
                <a:spcPct val="108000"/>
              </a:lnSpc>
              <a:spcBef>
                <a:spcPts val="0"/>
              </a:spcBef>
              <a:spcAft>
                <a:spcPts val="250"/>
              </a:spcAft>
            </a:pPr>
            <a:r>
              <a:rPr sz="1000" b="0" i="1" u="none">
                <a:solidFill>
                  <a:srgbClr val="232A38"/>
                </a:solidFill>
                <a:latin typeface="Calibri"/>
              </a:rPr>
              <a:t>1 Corinthians 1:20-25</a:t>
            </a:r>
          </a:p>
          <a:p>
            <a:pPr algn="l">
              <a:lnSpc>
                <a:spcPct val="110000"/>
              </a:lnSpc>
              <a:spcBef>
                <a:spcPts val="400"/>
              </a:spcBef>
              <a:spcAft>
                <a:spcPts val="0"/>
              </a:spcAft>
            </a:pPr>
            <a:r>
              <a:rPr sz="950" b="0" i="0" u="none">
                <a:solidFill>
                  <a:srgbClr val="4C566B"/>
                </a:solidFill>
                <a:latin typeface="Calibri"/>
              </a:rPr>
              <a:t>The ground of the medieval learning and of the order of the Church.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medieval theologians, from Augustine to Aquinas, are the great teachers of the faith, the ground of the medieval learning and of the order of the Church.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Theologians of the Reformation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theologians of the Reformation are the great teachers of the faith of the sixteenth century, who restored the doctrine of the justification by faith and the authority of the Scripture. Martin Luther is the father of the Reformation, whose doctrine of the justification by faith alone and the two kingdoms is the ground of the Lutheran churches. John Calvin is the great systematizer, whose doctrine of the sovereignty of God and the Institutes is the ground of the Reformed churches. The other reformers — Zwingli, Melanchthon, Knox, the authors of the confessions — extend the Reformation to the whole of the Church. The theologians of the Reformation are the ground of the Protestant churches and of their confessions. The doctrine of the theologians of the Reformation is the ground of the Church's witness in the Reformation.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Luther as the father of the Reformation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Calvin as the great systematizer of the Reformed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other reformers and the confessions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Protestant churches and their confessions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3:21-28</a:t>
            </a:r>
          </a:p>
          <a:p>
            <a:pPr algn="l">
              <a:lnSpc>
                <a:spcPct val="108000"/>
              </a:lnSpc>
              <a:spcBef>
                <a:spcPts val="0"/>
              </a:spcBef>
              <a:spcAft>
                <a:spcPts val="250"/>
              </a:spcAft>
            </a:pPr>
            <a:r>
              <a:rPr sz="1000" b="0" i="1" u="none">
                <a:solidFill>
                  <a:srgbClr val="232A38"/>
                </a:solidFill>
                <a:latin typeface="Calibri"/>
              </a:rPr>
              <a:t>Galatians 2:16</a:t>
            </a:r>
          </a:p>
          <a:p>
            <a:pPr algn="l">
              <a:lnSpc>
                <a:spcPct val="108000"/>
              </a:lnSpc>
              <a:spcBef>
                <a:spcPts val="0"/>
              </a:spcBef>
              <a:spcAft>
                <a:spcPts val="250"/>
              </a:spcAft>
            </a:pPr>
            <a:r>
              <a:rPr sz="1000" b="0" i="1" u="none">
                <a:solidFill>
                  <a:srgbClr val="232A38"/>
                </a:solidFill>
                <a:latin typeface="Calibri"/>
              </a:rPr>
              <a:t>Ephesians 2:8-9</a:t>
            </a:r>
          </a:p>
          <a:p>
            <a:pPr algn="l">
              <a:lnSpc>
                <a:spcPct val="108000"/>
              </a:lnSpc>
              <a:spcBef>
                <a:spcPts val="0"/>
              </a:spcBef>
              <a:spcAft>
                <a:spcPts val="250"/>
              </a:spcAft>
            </a:pPr>
            <a:r>
              <a:rPr sz="1000" b="0" i="1" u="none">
                <a:solidFill>
                  <a:srgbClr val="232A38"/>
                </a:solidFill>
                <a:latin typeface="Calibri"/>
              </a:rPr>
              <a:t>2 Timothy 3:16-17</a:t>
            </a:r>
          </a:p>
          <a:p>
            <a:pPr algn="l">
              <a:lnSpc>
                <a:spcPct val="110000"/>
              </a:lnSpc>
              <a:spcBef>
                <a:spcPts val="400"/>
              </a:spcBef>
              <a:spcAft>
                <a:spcPts val="0"/>
              </a:spcAft>
            </a:pPr>
            <a:r>
              <a:rPr sz="950" b="0" i="0" u="none">
                <a:solidFill>
                  <a:srgbClr val="4C566B"/>
                </a:solidFill>
                <a:latin typeface="Calibri"/>
              </a:rPr>
              <a:t>The ground of the Protestant churches and of their confessions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theologians of the Reformation restored the doctrine of the justification by faith and the authority of the Scripture, the ground of the Protestant churches.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Modern and Contemporary Theological Movements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modern and contemporary theological movements are the movements of the theology from the eighteenth century to the present. They include the liberal theology, the neo-orthodoxy, the dialectical theology, the process theology, the post-modern theology, and the evangelical theology. Each movement is the response of the theology to the questions of its age, and each is to be evaluated in the light of the word of God. The study of the movements is to be conducted with the honesty of the scholarship and the discernment of the faith, and it is the ground of the Church's self-understanding in the present age. The doctrine of the modern and the contemporary movements is the ground of the Church's engagement with the present age.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liberal, the neo-orthodox, the dialectical, the process, the post-modern movements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evangelical theology in the present 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response of the theology to the questions of its age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self-understanding in the present age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2:15-16</a:t>
            </a:r>
          </a:p>
          <a:p>
            <a:pPr algn="l">
              <a:lnSpc>
                <a:spcPct val="108000"/>
              </a:lnSpc>
              <a:spcBef>
                <a:spcPts val="0"/>
              </a:spcBef>
              <a:spcAft>
                <a:spcPts val="250"/>
              </a:spcAft>
            </a:pPr>
            <a:r>
              <a:rPr sz="1000" b="0" i="1" u="none">
                <a:solidFill>
                  <a:srgbClr val="232A38"/>
                </a:solidFill>
                <a:latin typeface="Calibri"/>
              </a:rPr>
              <a:t>Colossians 2:8</a:t>
            </a:r>
          </a:p>
          <a:p>
            <a:pPr algn="l">
              <a:lnSpc>
                <a:spcPct val="108000"/>
              </a:lnSpc>
              <a:spcBef>
                <a:spcPts val="0"/>
              </a:spcBef>
              <a:spcAft>
                <a:spcPts val="250"/>
              </a:spcAft>
            </a:pPr>
            <a:r>
              <a:rPr sz="1000" b="0" i="1" u="none">
                <a:solidFill>
                  <a:srgbClr val="232A38"/>
                </a:solidFill>
                <a:latin typeface="Calibri"/>
              </a:rPr>
              <a:t>Hebrews 1:1-2</a:t>
            </a:r>
          </a:p>
          <a:p>
            <a:pPr algn="l">
              <a:lnSpc>
                <a:spcPct val="108000"/>
              </a:lnSpc>
              <a:spcBef>
                <a:spcPts val="0"/>
              </a:spcBef>
              <a:spcAft>
                <a:spcPts val="250"/>
              </a:spcAft>
            </a:pPr>
            <a:r>
              <a:rPr sz="1000" b="0" i="1" u="none">
                <a:solidFill>
                  <a:srgbClr val="232A38"/>
                </a:solidFill>
                <a:latin typeface="Calibri"/>
              </a:rPr>
              <a:t>1 Corinthians 1:20-25</a:t>
            </a:r>
          </a:p>
          <a:p>
            <a:pPr algn="l">
              <a:lnSpc>
                <a:spcPct val="110000"/>
              </a:lnSpc>
              <a:spcBef>
                <a:spcPts val="400"/>
              </a:spcBef>
              <a:spcAft>
                <a:spcPts val="0"/>
              </a:spcAft>
            </a:pPr>
            <a:r>
              <a:rPr sz="950" b="0" i="0" u="none">
                <a:solidFill>
                  <a:srgbClr val="4C566B"/>
                </a:solidFill>
                <a:latin typeface="Calibri"/>
              </a:rPr>
              <a:t>The ground of the Church's self-understanding and of its engagement with the present age.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modern and contemporary theological movements are the responses of the theology to the questions of the age, to be evaluated in the light of the word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Liberation, Black and Feminist Theologies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199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Liberation, Black, and feminist theologies are the contemporary movements that read the faith from the perspective of the oppressed, the marginalized, and the excluded. The liberation theology reads the gospel from the perspective of the poor, and it emphasizes the option for the poor and the work of the liberation. The Black theology reads the faith from the perspective of the African experience, and it emphasizes the work of the God in the history of the Black people. The feminist theology reads the faith from the perspective of the woman, and it emphasizes the equality of the woman and the man in the faith. These theologies are to be evaluated in the light of the word of God, with the honesty of the scholarship and the love of the neighbour. The doctrine of these theologies is the ground of the Church's witness to the marginalized.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liberation theology and the option for the poor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Black theology and the African experience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feminist theology and the equality of the woman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to the marginalized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Isaiah 61:1-2</a:t>
            </a:r>
          </a:p>
          <a:p>
            <a:pPr algn="l">
              <a:lnSpc>
                <a:spcPct val="108000"/>
              </a:lnSpc>
              <a:spcBef>
                <a:spcPts val="0"/>
              </a:spcBef>
              <a:spcAft>
                <a:spcPts val="250"/>
              </a:spcAft>
            </a:pPr>
            <a:r>
              <a:rPr sz="1000" b="0" i="1" u="none">
                <a:solidFill>
                  <a:srgbClr val="232A38"/>
                </a:solidFill>
                <a:latin typeface="Calibri"/>
              </a:rPr>
              <a:t>Luke 4:18-19</a:t>
            </a:r>
          </a:p>
          <a:p>
            <a:pPr algn="l">
              <a:lnSpc>
                <a:spcPct val="108000"/>
              </a:lnSpc>
              <a:spcBef>
                <a:spcPts val="0"/>
              </a:spcBef>
              <a:spcAft>
                <a:spcPts val="250"/>
              </a:spcAft>
            </a:pPr>
            <a:r>
              <a:rPr sz="1000" b="0" i="1" u="none">
                <a:solidFill>
                  <a:srgbClr val="232A38"/>
                </a:solidFill>
                <a:latin typeface="Calibri"/>
              </a:rPr>
              <a:t>Galatians 3:28</a:t>
            </a:r>
          </a:p>
          <a:p>
            <a:pPr algn="l">
              <a:lnSpc>
                <a:spcPct val="108000"/>
              </a:lnSpc>
              <a:spcBef>
                <a:spcPts val="0"/>
              </a:spcBef>
              <a:spcAft>
                <a:spcPts val="250"/>
              </a:spcAft>
            </a:pPr>
            <a:r>
              <a:rPr sz="1000" b="0" i="1" u="none">
                <a:solidFill>
                  <a:srgbClr val="232A38"/>
                </a:solidFill>
                <a:latin typeface="Calibri"/>
              </a:rPr>
              <a:t>Matthew 25:35-40</a:t>
            </a:r>
          </a:p>
          <a:p>
            <a:pPr algn="l">
              <a:lnSpc>
                <a:spcPct val="110000"/>
              </a:lnSpc>
              <a:spcBef>
                <a:spcPts val="400"/>
              </a:spcBef>
              <a:spcAft>
                <a:spcPts val="0"/>
              </a:spcAft>
            </a:pPr>
            <a:r>
              <a:rPr sz="950" b="0" i="0" u="none">
                <a:solidFill>
                  <a:srgbClr val="4C566B"/>
                </a:solidFill>
                <a:latin typeface="Calibri"/>
              </a:rPr>
              <a:t>The ground of the Church's witness to the oppressed, the marginalized, and the excluded.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Liberation, Black, and feminist theologies read the faith from the perspective of the marginalized, the ground of the Church's witness to the poor.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Theological Interpretation of Scripture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theological interpretation of the Scripture is the method of the reading of the Scripture in the light of the faith, in the community of the Church, and in the light of the whole of the canon. It is distinct from the historical-critical method in that it reads the Scripture as the word of God to the Church, and not only as the object of the scholarship. The theological interpretation holds the Scripture, the tradition, and the doctrine of the Church in the balance, and it is the ground of the preaching and the catechesis of the Church. The method of the theological interpretation is the ground of the Church's teaching and of its witness, and it is the recovery of the ancient practice of the reading of the Scripture in the life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reading of the Scripture in the light of the faith and the canon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from the historical-critical method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balance of the Scripture, the tradition, and the doctrine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preaching and the catechesis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3:14-17</a:t>
            </a:r>
          </a:p>
          <a:p>
            <a:pPr algn="l">
              <a:lnSpc>
                <a:spcPct val="108000"/>
              </a:lnSpc>
              <a:spcBef>
                <a:spcPts val="0"/>
              </a:spcBef>
              <a:spcAft>
                <a:spcPts val="250"/>
              </a:spcAft>
            </a:pPr>
            <a:r>
              <a:rPr sz="1000" b="0" i="1" u="none">
                <a:solidFill>
                  <a:srgbClr val="232A38"/>
                </a:solidFill>
                <a:latin typeface="Calibri"/>
              </a:rPr>
              <a:t>Joshua 1:8</a:t>
            </a:r>
          </a:p>
          <a:p>
            <a:pPr algn="l">
              <a:lnSpc>
                <a:spcPct val="108000"/>
              </a:lnSpc>
              <a:spcBef>
                <a:spcPts val="0"/>
              </a:spcBef>
              <a:spcAft>
                <a:spcPts val="250"/>
              </a:spcAft>
            </a:pPr>
            <a:r>
              <a:rPr sz="1000" b="0" i="1" u="none">
                <a:solidFill>
                  <a:srgbClr val="232A38"/>
                </a:solidFill>
                <a:latin typeface="Calibri"/>
              </a:rPr>
              <a:t>1 Thessalonians 2:13</a:t>
            </a:r>
          </a:p>
          <a:p>
            <a:pPr algn="l">
              <a:lnSpc>
                <a:spcPct val="108000"/>
              </a:lnSpc>
              <a:spcBef>
                <a:spcPts val="0"/>
              </a:spcBef>
              <a:spcAft>
                <a:spcPts val="250"/>
              </a:spcAft>
            </a:pPr>
            <a:r>
              <a:rPr sz="1000" b="0" i="1" u="none">
                <a:solidFill>
                  <a:srgbClr val="232A38"/>
                </a:solidFill>
                <a:latin typeface="Calibri"/>
              </a:rPr>
              <a:t>Hebrews 4:12</a:t>
            </a:r>
          </a:p>
          <a:p>
            <a:pPr algn="l">
              <a:lnSpc>
                <a:spcPct val="110000"/>
              </a:lnSpc>
              <a:spcBef>
                <a:spcPts val="400"/>
              </a:spcBef>
              <a:spcAft>
                <a:spcPts val="0"/>
              </a:spcAft>
            </a:pPr>
            <a:r>
              <a:rPr sz="950" b="0" i="0" u="none">
                <a:solidFill>
                  <a:srgbClr val="4C566B"/>
                </a:solidFill>
                <a:latin typeface="Calibri"/>
              </a:rPr>
              <a:t>The ground of the preaching and the catechesis of the Church and of its witness.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theological interpretation of the Scripture is the reading of the Scripture in the light of the faith and the canon, the ground of the Church's teaching.</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Relations Among the Doctrines of Grace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relations among the doctrines of the grace is the study of the way in which the doctrines of the salvation are related to one another in the order of the grace. It includes the election, the calling, the regeneration, the faith, the justification, the adoption, the sanctification, the perseverance, and the glorification. The order of the salvation (the ordo salutis) is the logical order of these doctrines, and it is the ground of the doctrine of the salvation. The study of the relations among the doctrines of the grace is to be conducted in the light of the Scripture and the confessions, and it is the ground of the doctrine of the salvation and of the assurance of the believer. The doctrine of the relations among the doctrines of the grace is the ground of the doctrine of the salvation.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order of the salvation (the ordo salutis)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logical relation of the doctrines of the grace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study in the light of the Scripture and the confessions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doctrine of the salvation and of the assurance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1:3-14</a:t>
            </a:r>
          </a:p>
          <a:p>
            <a:pPr algn="l">
              <a:lnSpc>
                <a:spcPct val="108000"/>
              </a:lnSpc>
              <a:spcBef>
                <a:spcPts val="0"/>
              </a:spcBef>
              <a:spcAft>
                <a:spcPts val="250"/>
              </a:spcAft>
            </a:pPr>
            <a:r>
              <a:rPr sz="1000" b="0" i="1" u="none">
                <a:solidFill>
                  <a:srgbClr val="232A38"/>
                </a:solidFill>
                <a:latin typeface="Calibri"/>
              </a:rPr>
              <a:t>Romans 8:28-39</a:t>
            </a:r>
          </a:p>
          <a:p>
            <a:pPr algn="l">
              <a:lnSpc>
                <a:spcPct val="108000"/>
              </a:lnSpc>
              <a:spcBef>
                <a:spcPts val="0"/>
              </a:spcBef>
              <a:spcAft>
                <a:spcPts val="250"/>
              </a:spcAft>
            </a:pPr>
            <a:r>
              <a:rPr sz="1000" b="0" i="1" u="none">
                <a:solidFill>
                  <a:srgbClr val="232A38"/>
                </a:solidFill>
                <a:latin typeface="Calibri"/>
              </a:rPr>
              <a:t>2 Timothy 1:8-12</a:t>
            </a:r>
          </a:p>
          <a:p>
            <a:pPr algn="l">
              <a:lnSpc>
                <a:spcPct val="108000"/>
              </a:lnSpc>
              <a:spcBef>
                <a:spcPts val="0"/>
              </a:spcBef>
              <a:spcAft>
                <a:spcPts val="250"/>
              </a:spcAft>
            </a:pPr>
            <a:r>
              <a:rPr sz="1000" b="0" i="1" u="none">
                <a:solidFill>
                  <a:srgbClr val="232A38"/>
                </a:solidFill>
                <a:latin typeface="Calibri"/>
              </a:rPr>
              <a:t>Philippians 2:12-13</a:t>
            </a:r>
          </a:p>
          <a:p>
            <a:pPr algn="l">
              <a:lnSpc>
                <a:spcPct val="110000"/>
              </a:lnSpc>
              <a:spcBef>
                <a:spcPts val="400"/>
              </a:spcBef>
              <a:spcAft>
                <a:spcPts val="0"/>
              </a:spcAft>
            </a:pPr>
            <a:r>
              <a:rPr sz="950" b="0" i="0" u="none">
                <a:solidFill>
                  <a:srgbClr val="4C566B"/>
                </a:solidFill>
                <a:latin typeface="Calibri"/>
              </a:rPr>
              <a:t>The ground of the doctrine of the salvation and of the assurance of the believer.</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relations among the doctrines of the grace is the study of the order of the salvation, the ground of the doctrine of the salvation and of the assurance.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16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Architecture of Christian Theology in Summary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This module has brought the advanced study of the Christian theology to a summary. The architecture of the Christian theology is the arrangement of the whole of the faith in its relations, from the doctrine of the God to the doctrine of the last things. The confessional traditions, the Church Fathers, the medieval and the Reformation theologians, and the modern movements are the different layers of the architecture, each contributing to the whole. The study of the advanced theology is the ground of the theologian's depth and of the Church's self-understanding. The one faith is confessed in the different traditions and studied in the different methods, and the Church is to hold the faith in the unity of the Spirit. The doctrine of the architecture of the Christian theology is the ground of the theologian's depth and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architecture of the faith in its relations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confessional traditions, the Fathers, the theologians, the movements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one faith confessed in the different traditions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theologian's depth and of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Ephesians 4:4-6</a:t>
            </a:r>
          </a:p>
          <a:p>
            <a:pPr algn="l">
              <a:lnSpc>
                <a:spcPct val="108000"/>
              </a:lnSpc>
              <a:spcBef>
                <a:spcPts val="0"/>
              </a:spcBef>
              <a:spcAft>
                <a:spcPts val="250"/>
              </a:spcAft>
            </a:pPr>
            <a:r>
              <a:rPr sz="1000" b="0" i="1" u="none">
                <a:solidFill>
                  <a:srgbClr val="232A38"/>
                </a:solidFill>
                <a:latin typeface="Calibri"/>
              </a:rPr>
              <a:t>Jude 1:3</a:t>
            </a:r>
          </a:p>
          <a:p>
            <a:pPr algn="l">
              <a:lnSpc>
                <a:spcPct val="108000"/>
              </a:lnSpc>
              <a:spcBef>
                <a:spcPts val="0"/>
              </a:spcBef>
              <a:spcAft>
                <a:spcPts val="250"/>
              </a:spcAft>
            </a:pPr>
            <a:r>
              <a:rPr sz="1000" b="0" i="1" u="none">
                <a:solidFill>
                  <a:srgbClr val="232A38"/>
                </a:solidFill>
                <a:latin typeface="Calibri"/>
              </a:rPr>
              <a:t>1 Corinthians 1:10</a:t>
            </a:r>
          </a:p>
          <a:p>
            <a:pPr algn="l">
              <a:lnSpc>
                <a:spcPct val="108000"/>
              </a:lnSpc>
              <a:spcBef>
                <a:spcPts val="0"/>
              </a:spcBef>
              <a:spcAft>
                <a:spcPts val="250"/>
              </a:spcAft>
            </a:pPr>
            <a:r>
              <a:rPr sz="1000" b="0" i="1" u="none">
                <a:solidFill>
                  <a:srgbClr val="232A38"/>
                </a:solidFill>
                <a:latin typeface="Calibri"/>
              </a:rPr>
              <a:t>2 Peter 1:16-19</a:t>
            </a:r>
          </a:p>
          <a:p>
            <a:pPr algn="l">
              <a:lnSpc>
                <a:spcPct val="110000"/>
              </a:lnSpc>
              <a:spcBef>
                <a:spcPts val="400"/>
              </a:spcBef>
              <a:spcAft>
                <a:spcPts val="0"/>
              </a:spcAft>
            </a:pPr>
            <a:r>
              <a:rPr sz="950" b="0" i="0" u="none">
                <a:solidFill>
                  <a:srgbClr val="4C566B"/>
                </a:solidFill>
                <a:latin typeface="Calibri"/>
              </a:rPr>
              <a:t>The ground of the theologian's depth and of the Church's self-understanding.</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architecture of the Christian theology is the arrangement of the whole of the faith in its relations, the ground of the theologian's depth.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16  ·  ADVANCED CHRISTIAN THEOLOGY</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A Comparative Framework of Major Theological Traditions</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057400"/>
            <a:ext cx="2259253"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2139696"/>
            <a:ext cx="1966645" cy="438912"/>
          </a:xfrm>
          <a:prstGeom prst="rect">
            <a:avLst/>
          </a:prstGeom>
          <a:noFill/>
        </p:spPr>
        <p:txBody>
          <a:bodyPr wrap="square" anchor="ctr" lIns="0" rIns="0" tIns="0" bIns="0">
            <a:spAutoFit/>
          </a:bodyPr>
          <a:lstStyle/>
          <a:p>
            <a:pPr algn="l">
              <a:lnSpc>
                <a:spcPct val="100000"/>
              </a:lnSpc>
              <a:spcBef>
                <a:spcPts val="0"/>
              </a:spcBef>
              <a:spcAft>
                <a:spcPts val="0"/>
              </a:spcAft>
            </a:pPr>
            <a:r>
              <a:rPr sz="1050" b="1" i="0" u="none" spc="120">
                <a:solidFill>
                  <a:srgbClr val="E6D3A3"/>
                </a:solidFill>
                <a:latin typeface="Calibri Light"/>
              </a:rPr>
              <a:t>REFORMED</a:t>
            </a:r>
          </a:p>
        </p:txBody>
      </p:sp>
      <p:sp>
        <p:nvSpPr>
          <p:cNvPr id="9" name="Rectangle 8"/>
          <p:cNvSpPr/>
          <p:nvPr/>
        </p:nvSpPr>
        <p:spPr>
          <a:xfrm>
            <a:off x="822960" y="2624328"/>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9264" y="2706624"/>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Scripture, tradition, reason and experience in harmony under the magisterium's guidance.</a:t>
            </a:r>
          </a:p>
        </p:txBody>
      </p:sp>
      <p:sp>
        <p:nvSpPr>
          <p:cNvPr id="11" name="Rectangle 10"/>
          <p:cNvSpPr/>
          <p:nvPr/>
        </p:nvSpPr>
        <p:spPr>
          <a:xfrm>
            <a:off x="822960" y="3593592"/>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9264" y="3675888"/>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Faith formed by grace working with the sacraments as means of grace.</a:t>
            </a:r>
          </a:p>
        </p:txBody>
      </p:sp>
      <p:sp>
        <p:nvSpPr>
          <p:cNvPr id="13" name="Rectangle 12"/>
          <p:cNvSpPr/>
          <p:nvPr/>
        </p:nvSpPr>
        <p:spPr>
          <a:xfrm>
            <a:off x="822960" y="4562856"/>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9264" y="4645152"/>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Papal primacy with an episcopal, sacramental structure.</a:t>
            </a:r>
          </a:p>
        </p:txBody>
      </p:sp>
      <p:sp>
        <p:nvSpPr>
          <p:cNvPr id="15" name="Rectangle 14"/>
          <p:cNvSpPr/>
          <p:nvPr/>
        </p:nvSpPr>
        <p:spPr>
          <a:xfrm>
            <a:off x="3585133" y="2057400"/>
            <a:ext cx="2259253"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31437" y="2139696"/>
            <a:ext cx="1966645" cy="438912"/>
          </a:xfrm>
          <a:prstGeom prst="rect">
            <a:avLst/>
          </a:prstGeom>
          <a:noFill/>
        </p:spPr>
        <p:txBody>
          <a:bodyPr wrap="square" anchor="ctr" lIns="0" rIns="0" tIns="0" bIns="0">
            <a:spAutoFit/>
          </a:bodyPr>
          <a:lstStyle/>
          <a:p>
            <a:pPr algn="l">
              <a:lnSpc>
                <a:spcPct val="100000"/>
              </a:lnSpc>
              <a:spcBef>
                <a:spcPts val="0"/>
              </a:spcBef>
              <a:spcAft>
                <a:spcPts val="0"/>
              </a:spcAft>
            </a:pPr>
            <a:r>
              <a:rPr sz="1050" b="1" i="0" u="none" spc="120">
                <a:solidFill>
                  <a:srgbClr val="E6D3A3"/>
                </a:solidFill>
                <a:latin typeface="Calibri Light"/>
              </a:rPr>
              <a:t>ROMAN CATHOLIC</a:t>
            </a:r>
          </a:p>
        </p:txBody>
      </p:sp>
      <p:sp>
        <p:nvSpPr>
          <p:cNvPr id="17" name="Rectangle 16"/>
          <p:cNvSpPr/>
          <p:nvPr/>
        </p:nvSpPr>
        <p:spPr>
          <a:xfrm>
            <a:off x="3585133" y="2624328"/>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31437" y="2706624"/>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Scripture interpreted within the living tradition of the Church and the teaching office.</a:t>
            </a:r>
          </a:p>
        </p:txBody>
      </p:sp>
      <p:sp>
        <p:nvSpPr>
          <p:cNvPr id="19" name="Rectangle 18"/>
          <p:cNvSpPr/>
          <p:nvPr/>
        </p:nvSpPr>
        <p:spPr>
          <a:xfrm>
            <a:off x="3585133" y="3593592"/>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31437" y="3675888"/>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Faith and works understood together; the seven sacraments as channels of grace.</a:t>
            </a:r>
          </a:p>
        </p:txBody>
      </p:sp>
      <p:sp>
        <p:nvSpPr>
          <p:cNvPr id="21" name="Rectangle 20"/>
          <p:cNvSpPr/>
          <p:nvPr/>
        </p:nvSpPr>
        <p:spPr>
          <a:xfrm>
            <a:off x="3585133" y="4562856"/>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731437" y="4645152"/>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Succession from the apostles; the bishop of Rome as visible head.</a:t>
            </a:r>
          </a:p>
        </p:txBody>
      </p:sp>
      <p:sp>
        <p:nvSpPr>
          <p:cNvPr id="23" name="Rectangle 22"/>
          <p:cNvSpPr/>
          <p:nvPr/>
        </p:nvSpPr>
        <p:spPr>
          <a:xfrm>
            <a:off x="6347307" y="2057400"/>
            <a:ext cx="2259253"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93611" y="2139696"/>
            <a:ext cx="1966645" cy="438912"/>
          </a:xfrm>
          <a:prstGeom prst="rect">
            <a:avLst/>
          </a:prstGeom>
          <a:noFill/>
        </p:spPr>
        <p:txBody>
          <a:bodyPr wrap="square" anchor="ctr" lIns="0" rIns="0" tIns="0" bIns="0">
            <a:spAutoFit/>
          </a:bodyPr>
          <a:lstStyle/>
          <a:p>
            <a:pPr algn="l">
              <a:lnSpc>
                <a:spcPct val="100000"/>
              </a:lnSpc>
              <a:spcBef>
                <a:spcPts val="0"/>
              </a:spcBef>
              <a:spcAft>
                <a:spcPts val="0"/>
              </a:spcAft>
            </a:pPr>
            <a:r>
              <a:rPr sz="1050" b="1" i="0" u="none" spc="120">
                <a:solidFill>
                  <a:srgbClr val="E6D3A3"/>
                </a:solidFill>
                <a:latin typeface="Calibri Light"/>
              </a:rPr>
              <a:t>EASTERN ORTHODOX</a:t>
            </a:r>
          </a:p>
        </p:txBody>
      </p:sp>
      <p:sp>
        <p:nvSpPr>
          <p:cNvPr id="25" name="Rectangle 24"/>
          <p:cNvSpPr/>
          <p:nvPr/>
        </p:nvSpPr>
        <p:spPr>
          <a:xfrm>
            <a:off x="6347307" y="2624328"/>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93611" y="2706624"/>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Scripture and the conciliar tradition of the first seven ecumenical councils.</a:t>
            </a:r>
          </a:p>
        </p:txBody>
      </p:sp>
      <p:sp>
        <p:nvSpPr>
          <p:cNvPr id="27" name="Rectangle 26"/>
          <p:cNvSpPr/>
          <p:nvPr/>
        </p:nvSpPr>
        <p:spPr>
          <a:xfrm>
            <a:off x="6347307" y="3593592"/>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93611" y="3675888"/>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Faith received through the mysteries (mystēria) of baptism, eucharist and church life.</a:t>
            </a:r>
          </a:p>
        </p:txBody>
      </p:sp>
      <p:sp>
        <p:nvSpPr>
          <p:cNvPr id="29" name="Rectangle 28"/>
          <p:cNvSpPr/>
          <p:nvPr/>
        </p:nvSpPr>
        <p:spPr>
          <a:xfrm>
            <a:off x="6347307" y="4562856"/>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93611" y="4645152"/>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Conciliar governance; the patriarchal sees and the synodal tradition.</a:t>
            </a:r>
          </a:p>
        </p:txBody>
      </p:sp>
      <p:sp>
        <p:nvSpPr>
          <p:cNvPr id="31" name="Rectangle 30"/>
          <p:cNvSpPr/>
          <p:nvPr/>
        </p:nvSpPr>
        <p:spPr>
          <a:xfrm>
            <a:off x="9109481" y="2057400"/>
            <a:ext cx="2259253" cy="56692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255785" y="2139696"/>
            <a:ext cx="1966645" cy="438912"/>
          </a:xfrm>
          <a:prstGeom prst="rect">
            <a:avLst/>
          </a:prstGeom>
          <a:noFill/>
        </p:spPr>
        <p:txBody>
          <a:bodyPr wrap="square" anchor="ctr" lIns="0" rIns="0" tIns="0" bIns="0">
            <a:spAutoFit/>
          </a:bodyPr>
          <a:lstStyle/>
          <a:p>
            <a:pPr algn="l">
              <a:lnSpc>
                <a:spcPct val="100000"/>
              </a:lnSpc>
              <a:spcBef>
                <a:spcPts val="0"/>
              </a:spcBef>
              <a:spcAft>
                <a:spcPts val="0"/>
              </a:spcAft>
            </a:pPr>
            <a:r>
              <a:rPr sz="1050" b="1" i="0" u="none" spc="120">
                <a:solidFill>
                  <a:srgbClr val="E6D3A3"/>
                </a:solidFill>
                <a:latin typeface="Calibri Light"/>
              </a:rPr>
              <a:t>EVANGELICAL / PENTECOSTAL</a:t>
            </a:r>
          </a:p>
        </p:txBody>
      </p:sp>
      <p:sp>
        <p:nvSpPr>
          <p:cNvPr id="33" name="Rectangle 32"/>
          <p:cNvSpPr/>
          <p:nvPr/>
        </p:nvSpPr>
        <p:spPr>
          <a:xfrm>
            <a:off x="9109481" y="2624328"/>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255785" y="2706624"/>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Scripture as the supreme authority (sola Scriptura) for faith and practice.</a:t>
            </a:r>
          </a:p>
        </p:txBody>
      </p:sp>
      <p:sp>
        <p:nvSpPr>
          <p:cNvPr id="35" name="Rectangle 34"/>
          <p:cNvSpPr/>
          <p:nvPr/>
        </p:nvSpPr>
        <p:spPr>
          <a:xfrm>
            <a:off x="9109481" y="3593592"/>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9255785" y="3675888"/>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Salvation by grace alone through faith alone; baptism and the Lord's supper as ordinances.</a:t>
            </a:r>
          </a:p>
        </p:txBody>
      </p:sp>
      <p:sp>
        <p:nvSpPr>
          <p:cNvPr id="37" name="Rectangle 36"/>
          <p:cNvSpPr/>
          <p:nvPr/>
        </p:nvSpPr>
        <p:spPr>
          <a:xfrm>
            <a:off x="9109481" y="4562856"/>
            <a:ext cx="2259253" cy="969264"/>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255785" y="4645152"/>
            <a:ext cx="1966645" cy="822960"/>
          </a:xfrm>
          <a:prstGeom prst="rect">
            <a:avLst/>
          </a:prstGeom>
          <a:noFill/>
        </p:spPr>
        <p:txBody>
          <a:bodyPr wrap="square" anchor="ctr" lIns="0" rIns="0" tIns="0" bIns="0">
            <a:spAutoFit/>
          </a:bodyPr>
          <a:lstStyle/>
          <a:p>
            <a:pPr algn="l">
              <a:lnSpc>
                <a:spcPct val="114000"/>
              </a:lnSpc>
              <a:spcBef>
                <a:spcPts val="0"/>
              </a:spcBef>
              <a:spcAft>
                <a:spcPts val="0"/>
              </a:spcAft>
            </a:pPr>
            <a:r>
              <a:rPr sz="960" b="0" i="0" u="none">
                <a:solidFill>
                  <a:srgbClr val="C9CDD6"/>
                </a:solidFill>
                <a:latin typeface="Calibri"/>
              </a:rPr>
              <a:t>Priesthood of all believers; congregational or connectional polity.</a:t>
            </a:r>
          </a:p>
        </p:txBody>
      </p:sp>
      <p:sp>
        <p:nvSpPr>
          <p:cNvPr id="39" name="TextBox 38"/>
          <p:cNvSpPr txBox="1"/>
          <p:nvPr/>
        </p:nvSpPr>
        <p:spPr>
          <a:xfrm>
            <a:off x="822960" y="5696712"/>
            <a:ext cx="10545775" cy="365760"/>
          </a:xfrm>
          <a:prstGeom prst="rect">
            <a:avLst/>
          </a:prstGeom>
          <a:noFill/>
        </p:spPr>
        <p:txBody>
          <a:bodyPr wrap="square" anchor="t" lIns="0" rIns="0" tIns="0" bIns="0">
            <a:spAutoFit/>
          </a:bodyPr>
          <a:lstStyle/>
          <a:p>
            <a:pPr algn="l">
              <a:lnSpc>
                <a:spcPct val="120000"/>
              </a:lnSpc>
              <a:spcBef>
                <a:spcPts val="0"/>
              </a:spcBef>
              <a:spcAft>
                <a:spcPts val="0"/>
              </a:spcAft>
            </a:pPr>
            <a:r>
              <a:rPr sz="900" b="0" i="1" u="none">
                <a:solidFill>
                  <a:srgbClr val="9AA5BC"/>
                </a:solidFill>
                <a:latin typeface="Calibri"/>
              </a:rPr>
              <a:t>Rows compare: scriptural authority  ·  means of grace  ·  ecclesial structure. Presentations are idealised summaries for academic comparison.</a:t>
            </a:r>
          </a:p>
        </p:txBody>
      </p:sp>
      <p:sp>
        <p:nvSpPr>
          <p:cNvPr id="40" name="Rectangle 39"/>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239572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259232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278892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2985515"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318211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337870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3575303"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377190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3968496"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4165091" y="6382512"/>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16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Advanced Christian Theology</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Systematic theology is the study of the whole of the faith in its relations, from the doctrine of the God to the doctrine of the last things.</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confessional traditions, the Church Fathers, and the medieval and the Reformation theologians are the great layers of the architecture of the faith.</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modern and the contemporary movements — including the liberation, the Black, and the feminist theologies — are the responses of the theology to the questions of the age.</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theological interpretation of the Scripture is the reading of the canon in the light of the faith, the ground of the Church's teaching.</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advanced Christian theology is the ground of the theologian's depth and of the Church's self-understanding; it flows from the doctrines of the Scripture and of the Church, and it is the ground of the Church's ecumenical witness and of its engagement with the present age.</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studied the architecture of the faith at depth, the programme turns to the defence of the faith: the apologetics and the theology in dialogue.</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17 · Apologetics and Theology in Dialogue</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17</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APOLOGETICS AND THEOLOGY IN DIALOGUE</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studied the architecture of the faith at depth, the programme turns to the defence of the faith: the apologetics and the theology in dialogue.</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8549640" y="2455164"/>
            <a:ext cx="2286000" cy="2286000"/>
          </a:xfrm>
          <a:prstGeom prst="ellipse">
            <a:avLst/>
          </a:prstGeom>
          <a:noFill/>
          <a:ln w="1651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89719" y="2455164"/>
            <a:ext cx="1005840" cy="2286000"/>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49640" y="3095244"/>
            <a:ext cx="2286000" cy="1005840"/>
          </a:xfrm>
          <a:prstGeom prst="ellipse">
            <a:avLst/>
          </a:prstGeom>
          <a:no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8549640" y="3598164"/>
            <a:ext cx="2286000" cy="0"/>
          </a:xfrm>
          <a:prstGeom prst="line">
            <a:avLst/>
          </a:prstGeom>
          <a:ln w="10160">
            <a:solidFill>
              <a:srgbClr val="E6D3A3"/>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186415" y="3040380"/>
            <a:ext cx="109728" cy="109728"/>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226296" y="4000500"/>
            <a:ext cx="109728" cy="109728"/>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17</a:t>
            </a:r>
          </a:p>
        </p:txBody>
      </p:sp>
      <p:sp>
        <p:nvSpPr>
          <p:cNvPr id="12" name="TextBox 11"/>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17</a:t>
            </a:r>
          </a:p>
        </p:txBody>
      </p:sp>
      <p:sp>
        <p:nvSpPr>
          <p:cNvPr id="13" name="TextBox 12"/>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APOLOGETICS AND THEOLOGY IN DIALOGUE</a:t>
            </a:r>
          </a:p>
        </p:txBody>
      </p:sp>
      <p:cxnSp>
        <p:nvCxnSpPr>
          <p:cNvPr id="14" name="Connector 13"/>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defence of the faith: the classical arguments, the problem of evil, and the dialogue with reason, science and the world's religions.</a:t>
            </a:r>
          </a:p>
        </p:txBody>
      </p:sp>
      <p:sp>
        <p:nvSpPr>
          <p:cNvPr id="16" name="Rectangle 15"/>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575303"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77190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96849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165091" y="6144768"/>
            <a:ext cx="146304" cy="32004"/>
          </a:xfrm>
          <a:prstGeom prst="rect">
            <a:avLst/>
          </a:prstGeom>
          <a:solidFill>
            <a:srgbClr val="6E7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17</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APOLOGETICS AND THEOLOGY IN DIALOGUE</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Apologetics and Theology in Dialogue</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treats the apologetics and the theology in dialogue. It studies the nature and the method of the apologetics, the classical arguments for the existence of God, the defence of the Scripture and the Christ, and the dialogue of the faith with the reason, the science, the philosophy, and the world's religions.</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apologetics is the defence of the faith in the light of the word of God. The Christian is to be ready to give the answer to everyone who asks the reason of the hope that is in him (1 Pet 3:15).</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apologetics and the theology in dialogue is the ground of the Church's witness and of its defence of the faith. It answers the questions of the unbelief and the doubt in the light of the word of God.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study the nature and the method of the apologetics, the classical arguments, and the dialogue of the faith with the reason, the science, and the world's religions.</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Method of Apologetics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apologetics is the defence of the faith in the light of the word of God, and it is the special branch of the discipline that answers the questions of the unbelief and the doubt. The method of the apologetics includes the positive apologetics (the presentation of the evidence of the faith) and the negative apologetics (the answering of the objections to the faith). The apologetics is to be conducted with the honesty of the scholarship, the discernment of the faith, and the love of the neighbour, and it is the ground of the Church's witness to the world. The Christian is to be ready to give the answer with the gentleness and the reverence (1 Pet 3:15-16). The doctrine of the nature and the method of the apologetics is the ground of the Church's witness and of its defence of the faith.</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apologetics as the defence of the faith in the light of the word of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positive and the negative apologetics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of the scholarship and the love of the neighbour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of its defence of the faith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Peter 3:15-16</a:t>
            </a:r>
          </a:p>
          <a:p>
            <a:pPr algn="l">
              <a:lnSpc>
                <a:spcPct val="108000"/>
              </a:lnSpc>
              <a:spcBef>
                <a:spcPts val="0"/>
              </a:spcBef>
              <a:spcAft>
                <a:spcPts val="250"/>
              </a:spcAft>
            </a:pPr>
            <a:r>
              <a:rPr sz="1000" b="0" i="1" u="none">
                <a:solidFill>
                  <a:srgbClr val="232A38"/>
                </a:solidFill>
                <a:latin typeface="Calibri"/>
              </a:rPr>
              <a:t>2 Corinthians 10:3-5</a:t>
            </a:r>
          </a:p>
          <a:p>
            <a:pPr algn="l">
              <a:lnSpc>
                <a:spcPct val="108000"/>
              </a:lnSpc>
              <a:spcBef>
                <a:spcPts val="0"/>
              </a:spcBef>
              <a:spcAft>
                <a:spcPts val="250"/>
              </a:spcAft>
            </a:pPr>
            <a:r>
              <a:rPr sz="1000" b="0" i="1" u="none">
                <a:solidFill>
                  <a:srgbClr val="232A38"/>
                </a:solidFill>
                <a:latin typeface="Calibri"/>
              </a:rPr>
              <a:t>Acts 17:22-31</a:t>
            </a:r>
          </a:p>
          <a:p>
            <a:pPr algn="l">
              <a:lnSpc>
                <a:spcPct val="108000"/>
              </a:lnSpc>
              <a:spcBef>
                <a:spcPts val="0"/>
              </a:spcBef>
              <a:spcAft>
                <a:spcPts val="250"/>
              </a:spcAft>
            </a:pPr>
            <a:r>
              <a:rPr sz="1000" b="0" i="1" u="none">
                <a:solidFill>
                  <a:srgbClr val="232A38"/>
                </a:solidFill>
                <a:latin typeface="Calibri"/>
              </a:rPr>
              <a:t>Colossians 2:15-16</a:t>
            </a:r>
          </a:p>
          <a:p>
            <a:pPr algn="l">
              <a:lnSpc>
                <a:spcPct val="110000"/>
              </a:lnSpc>
              <a:spcBef>
                <a:spcPts val="400"/>
              </a:spcBef>
              <a:spcAft>
                <a:spcPts val="0"/>
              </a:spcAft>
            </a:pPr>
            <a:r>
              <a:rPr sz="950" b="0" i="0" u="none">
                <a:solidFill>
                  <a:srgbClr val="4C566B"/>
                </a:solidFill>
                <a:latin typeface="Calibri"/>
              </a:rPr>
              <a:t>The ground of the Church's witness and of its defence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apologetics is the defence of the faith in the light of the word of God, conducted with the scholarship, the discernment, and the love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Classical Arguments for the Existence of God</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classical arguments for the existence of God are the arguments of the natural theology that present the evidence of the God from the creation and the reason. They include the cosmological argument (the argument from the existence of the world to the first cause), the teleological argument (the argument from the order and the design of the world to the designer), the moral argument (the argument from the moral law to the moral lawgiver), and the ontological argument (the argument from the concept of the God to the existence of the God). These arguments are the ground of the natural theology and of the apologetics, and they are to be held in the balance with the doctrine of the revelation. The doctrine of the classical arguments is the ground of the natural theology and of the Church's witness to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cosmological, the teleological, the moral, and the ontological arguments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evidence of the God from the creation and the reason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balance with the doctrine of the revelation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natural theology and of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1:19-20</a:t>
            </a:r>
          </a:p>
          <a:p>
            <a:pPr algn="l">
              <a:lnSpc>
                <a:spcPct val="108000"/>
              </a:lnSpc>
              <a:spcBef>
                <a:spcPts val="0"/>
              </a:spcBef>
              <a:spcAft>
                <a:spcPts val="250"/>
              </a:spcAft>
            </a:pPr>
            <a:r>
              <a:rPr sz="1000" b="0" i="1" u="none">
                <a:solidFill>
                  <a:srgbClr val="232A38"/>
                </a:solidFill>
                <a:latin typeface="Calibri"/>
              </a:rPr>
              <a:t>Psalm 19:1-4</a:t>
            </a:r>
          </a:p>
          <a:p>
            <a:pPr algn="l">
              <a:lnSpc>
                <a:spcPct val="108000"/>
              </a:lnSpc>
              <a:spcBef>
                <a:spcPts val="0"/>
              </a:spcBef>
              <a:spcAft>
                <a:spcPts val="250"/>
              </a:spcAft>
            </a:pPr>
            <a:r>
              <a:rPr sz="1000" b="0" i="1" u="none">
                <a:solidFill>
                  <a:srgbClr val="232A38"/>
                </a:solidFill>
                <a:latin typeface="Calibri"/>
              </a:rPr>
              <a:t>Acts 17:27-28</a:t>
            </a:r>
          </a:p>
          <a:p>
            <a:pPr algn="l">
              <a:lnSpc>
                <a:spcPct val="108000"/>
              </a:lnSpc>
              <a:spcBef>
                <a:spcPts val="0"/>
              </a:spcBef>
              <a:spcAft>
                <a:spcPts val="250"/>
              </a:spcAft>
            </a:pPr>
            <a:r>
              <a:rPr sz="1000" b="0" i="1" u="none">
                <a:solidFill>
                  <a:srgbClr val="232A38"/>
                </a:solidFill>
                <a:latin typeface="Calibri"/>
              </a:rPr>
              <a:t>Exodus 20:1-3</a:t>
            </a:r>
          </a:p>
          <a:p>
            <a:pPr algn="l">
              <a:lnSpc>
                <a:spcPct val="110000"/>
              </a:lnSpc>
              <a:spcBef>
                <a:spcPts val="400"/>
              </a:spcBef>
              <a:spcAft>
                <a:spcPts val="0"/>
              </a:spcAft>
            </a:pPr>
            <a:r>
              <a:rPr sz="950" b="0" i="0" u="none">
                <a:solidFill>
                  <a:srgbClr val="4C566B"/>
                </a:solidFill>
                <a:latin typeface="Calibri"/>
              </a:rPr>
              <a:t>The ground of the natural theology and of the Church's witness to the world.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classical arguments present the evidence of the God from the creation and the reason, the ground of the natural theology and of the apologetics.</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Apologetics and the Problem of Evil</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problem of the evil is the question of how the good and the omnipotent God permits the evil and the suffering in the world. It is the chief objection to the faith, and it is the ground of the negative apologetics. The Christian answer holds the doctrine of the freedom of the man, the fall of the creation, the sovereignty of the God in the redemption, and the hope of the new creation. The evil is the result of the rebellion of the creature, and the God is working all things together for the good of those who love him (Rom 8:28). The answer to the problem of the evil is to be given with the compassion of the Christ and the truth of the gospel, and it is the ground of the Church's witness to the sufferer. The doctrine of the apologetics and the problem of the evil is the ground of the Church's witness.</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problem of the evil as the chief objection to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answer: the freedom of the man, the fall, the sovereignty of the God</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compassion of the Christ and the truth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to the sufferer</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8:28</a:t>
            </a:r>
          </a:p>
          <a:p>
            <a:pPr algn="l">
              <a:lnSpc>
                <a:spcPct val="108000"/>
              </a:lnSpc>
              <a:spcBef>
                <a:spcPts val="0"/>
              </a:spcBef>
              <a:spcAft>
                <a:spcPts val="250"/>
              </a:spcAft>
            </a:pPr>
            <a:r>
              <a:rPr sz="1000" b="0" i="1" u="none">
                <a:solidFill>
                  <a:srgbClr val="232A38"/>
                </a:solidFill>
                <a:latin typeface="Calibri"/>
              </a:rPr>
              <a:t>Job 38:1-7</a:t>
            </a:r>
          </a:p>
          <a:p>
            <a:pPr algn="l">
              <a:lnSpc>
                <a:spcPct val="108000"/>
              </a:lnSpc>
              <a:spcBef>
                <a:spcPts val="0"/>
              </a:spcBef>
              <a:spcAft>
                <a:spcPts val="250"/>
              </a:spcAft>
            </a:pPr>
            <a:r>
              <a:rPr sz="1000" b="0" i="1" u="none">
                <a:solidFill>
                  <a:srgbClr val="232A38"/>
                </a:solidFill>
                <a:latin typeface="Calibri"/>
              </a:rPr>
              <a:t>2 Corinthians 4:17-18</a:t>
            </a:r>
          </a:p>
          <a:p>
            <a:pPr algn="l">
              <a:lnSpc>
                <a:spcPct val="108000"/>
              </a:lnSpc>
              <a:spcBef>
                <a:spcPts val="0"/>
              </a:spcBef>
              <a:spcAft>
                <a:spcPts val="250"/>
              </a:spcAft>
            </a:pPr>
            <a:r>
              <a:rPr sz="1000" b="0" i="1" u="none">
                <a:solidFill>
                  <a:srgbClr val="232A38"/>
                </a:solidFill>
                <a:latin typeface="Calibri"/>
              </a:rPr>
              <a:t>Revelation 21:4</a:t>
            </a:r>
          </a:p>
          <a:p>
            <a:pPr algn="l">
              <a:lnSpc>
                <a:spcPct val="110000"/>
              </a:lnSpc>
              <a:spcBef>
                <a:spcPts val="400"/>
              </a:spcBef>
              <a:spcAft>
                <a:spcPts val="0"/>
              </a:spcAft>
            </a:pPr>
            <a:r>
              <a:rPr sz="950" b="0" i="0" u="none">
                <a:solidFill>
                  <a:srgbClr val="4C566B"/>
                </a:solidFill>
                <a:latin typeface="Calibri"/>
              </a:rPr>
              <a:t>The ground of the Church's witness to the sufferer and of its defence of the faith.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answer to the problem of the evil holds the freedom of the man, the fall, and the sovereignty of the God in the redemption, given with the compassion of the Christ.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Reliability of the Bible: Defense and Criticism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reliability of the Bible is the defence of the Scripture against the criticism of the unbelief and the doubt. It includes the defence of the transmission of the text (the manuscript evidence), the defence of the historical reliability of the narratives, and the defence of the inspiration and the authority of the Scripture. The criticism of the Bible includes the higher criticism, the form criticism, and the redaction criticism, and it is to be answered with the honesty of the scholarship and the discernment of the faith. The Bible is the word of God, and it is the ground of the faith and the life of the Church. The doctrine of the reliability of the Bible is the ground of the Church's witness and of its defence of the Scripture.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of the transmission of the text and the manuscript evidence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of the historical reliability of the narratives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answer to the higher criticism in the honesty of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faith and the life of the Church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3:16-17</a:t>
            </a:r>
          </a:p>
          <a:p>
            <a:pPr algn="l">
              <a:lnSpc>
                <a:spcPct val="108000"/>
              </a:lnSpc>
              <a:spcBef>
                <a:spcPts val="0"/>
              </a:spcBef>
              <a:spcAft>
                <a:spcPts val="250"/>
              </a:spcAft>
            </a:pPr>
            <a:r>
              <a:rPr sz="1000" b="0" i="1" u="none">
                <a:solidFill>
                  <a:srgbClr val="232A38"/>
                </a:solidFill>
                <a:latin typeface="Calibri"/>
              </a:rPr>
              <a:t>Psalm 119:89</a:t>
            </a:r>
          </a:p>
          <a:p>
            <a:pPr algn="l">
              <a:lnSpc>
                <a:spcPct val="108000"/>
              </a:lnSpc>
              <a:spcBef>
                <a:spcPts val="0"/>
              </a:spcBef>
              <a:spcAft>
                <a:spcPts val="250"/>
              </a:spcAft>
            </a:pPr>
            <a:r>
              <a:rPr sz="1000" b="0" i="1" u="none">
                <a:solidFill>
                  <a:srgbClr val="232A38"/>
                </a:solidFill>
                <a:latin typeface="Calibri"/>
              </a:rPr>
              <a:t>2 Peter 1:19-21</a:t>
            </a:r>
          </a:p>
          <a:p>
            <a:pPr algn="l">
              <a:lnSpc>
                <a:spcPct val="108000"/>
              </a:lnSpc>
              <a:spcBef>
                <a:spcPts val="0"/>
              </a:spcBef>
              <a:spcAft>
                <a:spcPts val="250"/>
              </a:spcAft>
            </a:pPr>
            <a:r>
              <a:rPr sz="1000" b="0" i="1" u="none">
                <a:solidFill>
                  <a:srgbClr val="232A38"/>
                </a:solidFill>
                <a:latin typeface="Calibri"/>
              </a:rPr>
              <a:t>Matthew 5:17-18</a:t>
            </a:r>
          </a:p>
          <a:p>
            <a:pPr algn="l">
              <a:lnSpc>
                <a:spcPct val="110000"/>
              </a:lnSpc>
              <a:spcBef>
                <a:spcPts val="400"/>
              </a:spcBef>
              <a:spcAft>
                <a:spcPts val="0"/>
              </a:spcAft>
            </a:pPr>
            <a:r>
              <a:rPr sz="950" b="0" i="0" u="none">
                <a:solidFill>
                  <a:srgbClr val="4C566B"/>
                </a:solidFill>
                <a:latin typeface="Calibri"/>
              </a:rPr>
              <a:t>The ground of the faith, the life of the Church, and of its defence of the Scripture.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reliability of the Bible is the defence of the Scripture against the criticism, in the honesty of the scholarship and the discernment of the faith.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Christ in Apologetics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Christ in the apologetics is the centre of the defence of the faith, for the Christ is the word of God and the ground of the faith (John 1:1-14; 14:6). The apologetics of the Christ includes the defence of the person of the Christ (the divinity and the humanity), the defence of the work of the Christ (the atonement and the resurrection), and the defence of the witness of the Christ (the apostolic witness and the Scripture). The Christ is the answer to the questions of the unbelief and the doubt, and he is the ground of the Church's witness to the world. The doctrine of the Christ in the apologetics is the ground of the Church's witness and of its defence of the faith. The Christ is the way, the truth, and the life (John 14:6).</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 as the centre of the defence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of the person, the work, and the witness of the Christ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Christ as the answer to the questions of the unbelief</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of its defence of the faith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14:6</a:t>
            </a:r>
          </a:p>
          <a:p>
            <a:pPr algn="l">
              <a:lnSpc>
                <a:spcPct val="108000"/>
              </a:lnSpc>
              <a:spcBef>
                <a:spcPts val="0"/>
              </a:spcBef>
              <a:spcAft>
                <a:spcPts val="250"/>
              </a:spcAft>
            </a:pPr>
            <a:r>
              <a:rPr sz="1000" b="0" i="1" u="none">
                <a:solidFill>
                  <a:srgbClr val="232A38"/>
                </a:solidFill>
                <a:latin typeface="Calibri"/>
              </a:rPr>
              <a:t>John 1:1-14</a:t>
            </a:r>
          </a:p>
          <a:p>
            <a:pPr algn="l">
              <a:lnSpc>
                <a:spcPct val="108000"/>
              </a:lnSpc>
              <a:spcBef>
                <a:spcPts val="0"/>
              </a:spcBef>
              <a:spcAft>
                <a:spcPts val="250"/>
              </a:spcAft>
            </a:pPr>
            <a:r>
              <a:rPr sz="1000" b="0" i="1" u="none">
                <a:solidFill>
                  <a:srgbClr val="232A38"/>
                </a:solidFill>
                <a:latin typeface="Calibri"/>
              </a:rPr>
              <a:t>1 Corinthians 15:3-8</a:t>
            </a:r>
          </a:p>
          <a:p>
            <a:pPr algn="l">
              <a:lnSpc>
                <a:spcPct val="108000"/>
              </a:lnSpc>
              <a:spcBef>
                <a:spcPts val="0"/>
              </a:spcBef>
              <a:spcAft>
                <a:spcPts val="250"/>
              </a:spcAft>
            </a:pPr>
            <a:r>
              <a:rPr sz="1000" b="0" i="1" u="none">
                <a:solidFill>
                  <a:srgbClr val="232A38"/>
                </a:solidFill>
                <a:latin typeface="Calibri"/>
              </a:rPr>
              <a:t>Acts 2:22-36</a:t>
            </a:r>
          </a:p>
          <a:p>
            <a:pPr algn="l">
              <a:lnSpc>
                <a:spcPct val="110000"/>
              </a:lnSpc>
              <a:spcBef>
                <a:spcPts val="400"/>
              </a:spcBef>
              <a:spcAft>
                <a:spcPts val="0"/>
              </a:spcAft>
            </a:pPr>
            <a:r>
              <a:rPr sz="950" b="0" i="0" u="none">
                <a:solidFill>
                  <a:srgbClr val="4C566B"/>
                </a:solidFill>
                <a:latin typeface="Calibri"/>
              </a:rPr>
              <a:t>The ground of the Church's witness and of its defence of the faith in the person of the Christ.</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Christ is the centre of the apologetics, the word of God and the ground of the faith, the answer to the questions of the unbelief and the doubt.</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Defense of the Resurrection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defence of the resurrection is the defence of the resurrection of the Christ against the objections of the unbelief and the doubt. It includes the defence of the empty tomb, the defence of the post-resurrection appearances, the defence of the transformation of the disciples, and the defence of the origin of the Church. The resurrection is the ground of the faith (1 Cor 15:14), and it is the power of the gospel (Rom 1:4). The defence of the resurrection is to be conducted with the honesty of the scholarship and the power of the faith, and it is the ground of the Church's witness to the world. The doctrine of the defence of the resurrection is the ground of the Church's witness and of its hope. The Christ is risen, and he is the firstfruits of those who have fallen asleep (1 Cor 15:20).</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of the empty tomb and the appearances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of the transformation of the disciples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resurrection as the ground of the faith and the power of the gospel</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of its hope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Corinthians 15:3-8</a:t>
            </a:r>
          </a:p>
          <a:p>
            <a:pPr algn="l">
              <a:lnSpc>
                <a:spcPct val="108000"/>
              </a:lnSpc>
              <a:spcBef>
                <a:spcPts val="0"/>
              </a:spcBef>
              <a:spcAft>
                <a:spcPts val="250"/>
              </a:spcAft>
            </a:pPr>
            <a:r>
              <a:rPr sz="1000" b="0" i="1" u="none">
                <a:solidFill>
                  <a:srgbClr val="232A38"/>
                </a:solidFill>
                <a:latin typeface="Calibri"/>
              </a:rPr>
              <a:t>1 Corinthians 15:14</a:t>
            </a:r>
          </a:p>
          <a:p>
            <a:pPr algn="l">
              <a:lnSpc>
                <a:spcPct val="108000"/>
              </a:lnSpc>
              <a:spcBef>
                <a:spcPts val="0"/>
              </a:spcBef>
              <a:spcAft>
                <a:spcPts val="250"/>
              </a:spcAft>
            </a:pPr>
            <a:r>
              <a:rPr sz="1000" b="0" i="1" u="none">
                <a:solidFill>
                  <a:srgbClr val="232A38"/>
                </a:solidFill>
                <a:latin typeface="Calibri"/>
              </a:rPr>
              <a:t>Romans 1:4</a:t>
            </a:r>
          </a:p>
          <a:p>
            <a:pPr algn="l">
              <a:lnSpc>
                <a:spcPct val="108000"/>
              </a:lnSpc>
              <a:spcBef>
                <a:spcPts val="0"/>
              </a:spcBef>
              <a:spcAft>
                <a:spcPts val="250"/>
              </a:spcAft>
            </a:pPr>
            <a:r>
              <a:rPr sz="1000" b="0" i="1" u="none">
                <a:solidFill>
                  <a:srgbClr val="232A38"/>
                </a:solidFill>
                <a:latin typeface="Calibri"/>
              </a:rPr>
              <a:t>Luke 24:36-49</a:t>
            </a:r>
          </a:p>
          <a:p>
            <a:pPr algn="l">
              <a:lnSpc>
                <a:spcPct val="110000"/>
              </a:lnSpc>
              <a:spcBef>
                <a:spcPts val="400"/>
              </a:spcBef>
              <a:spcAft>
                <a:spcPts val="0"/>
              </a:spcAft>
            </a:pPr>
            <a:r>
              <a:rPr sz="950" b="0" i="0" u="none">
                <a:solidFill>
                  <a:srgbClr val="4C566B"/>
                </a:solidFill>
                <a:latin typeface="Calibri"/>
              </a:rPr>
              <a:t>The ground of the faith, the power of the gospel, and of the Church's hope.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defence of the resurrection is the ground of the faith, for the Christ is risen and is the firstfruits of those who have fallen asleep.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Faith and Reason in the Life of Belief</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209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Faith and reason in the life of belief is the relation of the faith and the reason in the life of the believer. The faith is the gift of the God and the response of the man to the revelation, and the reason is the faculty of the man to know the truth. The two are not opposed but complementary: the faith is the ground of the knowledge of the God, and the reason is the instrument of the knowledge of the truth. The Christian is to use the reason in the service of the faith, and he is to hold the faith in the light of the reason (1 Pet 3:15; Heb 5:14). The doctrine of the faith and the reason is the ground of the life of the belief and of the Church's witness to the world of the scholarship.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faith as the gift of the God and the response to the revelation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reason as the instrument of the knowledge of the truth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reason in the service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life of the belief and of the Church's witness</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Peter 3:15</a:t>
            </a:r>
          </a:p>
          <a:p>
            <a:pPr algn="l">
              <a:lnSpc>
                <a:spcPct val="108000"/>
              </a:lnSpc>
              <a:spcBef>
                <a:spcPts val="0"/>
              </a:spcBef>
              <a:spcAft>
                <a:spcPts val="250"/>
              </a:spcAft>
            </a:pPr>
            <a:r>
              <a:rPr sz="1000" b="0" i="1" u="none">
                <a:solidFill>
                  <a:srgbClr val="232A38"/>
                </a:solidFill>
                <a:latin typeface="Calibri"/>
              </a:rPr>
              <a:t>Hebrews 5:14</a:t>
            </a:r>
          </a:p>
          <a:p>
            <a:pPr algn="l">
              <a:lnSpc>
                <a:spcPct val="108000"/>
              </a:lnSpc>
              <a:spcBef>
                <a:spcPts val="0"/>
              </a:spcBef>
              <a:spcAft>
                <a:spcPts val="250"/>
              </a:spcAft>
            </a:pPr>
            <a:r>
              <a:rPr sz="1000" b="0" i="1" u="none">
                <a:solidFill>
                  <a:srgbClr val="232A38"/>
                </a:solidFill>
                <a:latin typeface="Calibri"/>
              </a:rPr>
              <a:t>Proverbs 1:7</a:t>
            </a:r>
          </a:p>
          <a:p>
            <a:pPr algn="l">
              <a:lnSpc>
                <a:spcPct val="108000"/>
              </a:lnSpc>
              <a:spcBef>
                <a:spcPts val="0"/>
              </a:spcBef>
              <a:spcAft>
                <a:spcPts val="250"/>
              </a:spcAft>
            </a:pPr>
            <a:r>
              <a:rPr sz="1000" b="0" i="1" u="none">
                <a:solidFill>
                  <a:srgbClr val="232A38"/>
                </a:solidFill>
                <a:latin typeface="Calibri"/>
              </a:rPr>
              <a:t>Romans 12:2</a:t>
            </a:r>
          </a:p>
          <a:p>
            <a:pPr algn="l">
              <a:lnSpc>
                <a:spcPct val="110000"/>
              </a:lnSpc>
              <a:spcBef>
                <a:spcPts val="400"/>
              </a:spcBef>
              <a:spcAft>
                <a:spcPts val="0"/>
              </a:spcAft>
            </a:pPr>
            <a:r>
              <a:rPr sz="950" b="0" i="0" u="none">
                <a:solidFill>
                  <a:srgbClr val="4C566B"/>
                </a:solidFill>
                <a:latin typeface="Calibri"/>
              </a:rPr>
              <a:t>The ground of the life of the belief and of the Church's witness to the world of the scholarship.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Faith and reason are not opposed but complementary: the faith is the ground of the knowledge of the God, and the reason is the instrument of the knowledge of the truth.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the Philosophy of Religion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the philosophy of religion is the relation of the Christian theology to the academic discipline of the philosophy of religion. The philosophy of religion is the study of the questions of the God, the religious experience, and the meaning of the life, in the light of the reason. The theology is the study of the same questions in the light of the revelation and the faith. The two are related but distinct: the philosophy of religion is the study of the questions in the reason, and the theology is the study of the questions in the faith. The theologian is to engage the philosophy of religion with the honesty of the scholarship and the discernment of the faith, and the dialogue of the two is the ground of the Church's witness to the world of the scholarship.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philosophy of religion as the study of the questions in the reason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theology as the study of the questions in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relation and the distinction of the two</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to the world of the scholarship</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1:19-22</a:t>
            </a:r>
          </a:p>
          <a:p>
            <a:pPr algn="l">
              <a:lnSpc>
                <a:spcPct val="108000"/>
              </a:lnSpc>
              <a:spcBef>
                <a:spcPts val="0"/>
              </a:spcBef>
              <a:spcAft>
                <a:spcPts val="250"/>
              </a:spcAft>
            </a:pPr>
            <a:r>
              <a:rPr sz="1000" b="0" i="1" u="none">
                <a:solidFill>
                  <a:srgbClr val="232A38"/>
                </a:solidFill>
                <a:latin typeface="Calibri"/>
              </a:rPr>
              <a:t>Proverbs 1:7</a:t>
            </a:r>
          </a:p>
          <a:p>
            <a:pPr algn="l">
              <a:lnSpc>
                <a:spcPct val="108000"/>
              </a:lnSpc>
              <a:spcBef>
                <a:spcPts val="0"/>
              </a:spcBef>
              <a:spcAft>
                <a:spcPts val="250"/>
              </a:spcAft>
            </a:pPr>
            <a:r>
              <a:rPr sz="1000" b="0" i="1" u="none">
                <a:solidFill>
                  <a:srgbClr val="232A38"/>
                </a:solidFill>
                <a:latin typeface="Calibri"/>
              </a:rPr>
              <a:t>1 Corinthians 1:20-25</a:t>
            </a:r>
          </a:p>
          <a:p>
            <a:pPr algn="l">
              <a:lnSpc>
                <a:spcPct val="108000"/>
              </a:lnSpc>
              <a:spcBef>
                <a:spcPts val="0"/>
              </a:spcBef>
              <a:spcAft>
                <a:spcPts val="250"/>
              </a:spcAft>
            </a:pPr>
            <a:r>
              <a:rPr sz="1000" b="0" i="1" u="none">
                <a:solidFill>
                  <a:srgbClr val="232A38"/>
                </a:solidFill>
                <a:latin typeface="Calibri"/>
              </a:rPr>
              <a:t>Psalm 19:1-4</a:t>
            </a:r>
          </a:p>
          <a:p>
            <a:pPr algn="l">
              <a:lnSpc>
                <a:spcPct val="110000"/>
              </a:lnSpc>
              <a:spcBef>
                <a:spcPts val="400"/>
              </a:spcBef>
              <a:spcAft>
                <a:spcPts val="0"/>
              </a:spcAft>
            </a:pPr>
            <a:r>
              <a:rPr sz="950" b="0" i="0" u="none">
                <a:solidFill>
                  <a:srgbClr val="4C566B"/>
                </a:solidFill>
                <a:latin typeface="Calibri"/>
              </a:rPr>
              <a:t>The ground of the dialogue between the faith and the reason in the world of the scholarship.</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the philosophy of religion are related but distinct: the former studies the questions in the faith, the latter in the reason, in the dialogue of the two.</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Theology and the Sciences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211</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Theology and the sciences is the relation of the Christian theology to the natural and the social sciences. The sciences are the study of the creation in the light of the observation and the experiment, and the theology is the study of the creation and the Creator in the light of the revelation. The two are not opposed but complementary: the science is the study of the how of the creation, and the theology is the study of the why and the who of the creation. The theologian is to engage the sciences with the honesty of the scholarship and the discernment of the faith, and the dialogue of the two is the ground of the Church's witness to the world of the science. The doctrine of the theology and the sciences is the ground of the Church's witness and of its engagement with the world of the science.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science as the study of the how of the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theology as the study of the why and the who of the creation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complementarity of the two</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to the world of the science</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Romans 1:19-20</a:t>
            </a:r>
          </a:p>
          <a:p>
            <a:pPr algn="l">
              <a:lnSpc>
                <a:spcPct val="108000"/>
              </a:lnSpc>
              <a:spcBef>
                <a:spcPts val="0"/>
              </a:spcBef>
              <a:spcAft>
                <a:spcPts val="250"/>
              </a:spcAft>
            </a:pPr>
            <a:r>
              <a:rPr sz="1000" b="0" i="1" u="none">
                <a:solidFill>
                  <a:srgbClr val="232A38"/>
                </a:solidFill>
                <a:latin typeface="Calibri"/>
              </a:rPr>
              <a:t>Psalm 19:1-4</a:t>
            </a:r>
          </a:p>
          <a:p>
            <a:pPr algn="l">
              <a:lnSpc>
                <a:spcPct val="108000"/>
              </a:lnSpc>
              <a:spcBef>
                <a:spcPts val="0"/>
              </a:spcBef>
              <a:spcAft>
                <a:spcPts val="250"/>
              </a:spcAft>
            </a:pPr>
            <a:r>
              <a:rPr sz="1000" b="0" i="1" u="none">
                <a:solidFill>
                  <a:srgbClr val="232A38"/>
                </a:solidFill>
                <a:latin typeface="Calibri"/>
              </a:rPr>
              <a:t>Jeremiah 10:12</a:t>
            </a:r>
          </a:p>
          <a:p>
            <a:pPr algn="l">
              <a:lnSpc>
                <a:spcPct val="108000"/>
              </a:lnSpc>
              <a:spcBef>
                <a:spcPts val="0"/>
              </a:spcBef>
              <a:spcAft>
                <a:spcPts val="250"/>
              </a:spcAft>
            </a:pPr>
            <a:r>
              <a:rPr sz="1000" b="0" i="1" u="none">
                <a:solidFill>
                  <a:srgbClr val="232A38"/>
                </a:solidFill>
                <a:latin typeface="Calibri"/>
              </a:rPr>
              <a:t>Proverbs 3:19-20</a:t>
            </a:r>
          </a:p>
          <a:p>
            <a:pPr algn="l">
              <a:lnSpc>
                <a:spcPct val="110000"/>
              </a:lnSpc>
              <a:spcBef>
                <a:spcPts val="400"/>
              </a:spcBef>
              <a:spcAft>
                <a:spcPts val="0"/>
              </a:spcAft>
            </a:pPr>
            <a:r>
              <a:rPr sz="950" b="0" i="0" u="none">
                <a:solidFill>
                  <a:srgbClr val="4C566B"/>
                </a:solidFill>
                <a:latin typeface="Calibri"/>
              </a:rPr>
              <a:t>The ground of the Church's witness and of its engagement with the world of the science.</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Theology and the sciences are not opposed but complementary: the science studies the how of the creation, the theology the why and the who of the creation.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17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Christian Response to Religious Pluralism</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212</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Christian response to the religious pluralism is the answer of the faith to the claim that all the religions are the equal ways to the God. The Christian faith holds the uniqueness of the Christ as the way, the truth, and the life (John 14:6), and the uniqueness of the gospel as the power of the salvation (Acts 4:12). The Christian response is to be conducted with the truth of the gospel and the love of the neighbour, in the witness and the dialogue, not the condemnation. The Christian is to present the gospel to the world of the religions with the gentleness and the reverence (1 Pet 3:15), and the dialogue is the preparation of the way for the witness. The doctrine of the Christian response to the religious pluralism is the ground of the Church's witness and of its dialogue with the world.</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uniqueness of the Christ and of the gospel in the Christian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and the dialogue, not the condemnation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truth of the gospel and the love of the neighbour</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Church's witness and of its dialogue with the world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John 14:6</a:t>
            </a:r>
          </a:p>
          <a:p>
            <a:pPr algn="l">
              <a:lnSpc>
                <a:spcPct val="108000"/>
              </a:lnSpc>
              <a:spcBef>
                <a:spcPts val="0"/>
              </a:spcBef>
              <a:spcAft>
                <a:spcPts val="250"/>
              </a:spcAft>
            </a:pPr>
            <a:r>
              <a:rPr sz="1000" b="0" i="1" u="none">
                <a:solidFill>
                  <a:srgbClr val="232A38"/>
                </a:solidFill>
                <a:latin typeface="Calibri"/>
              </a:rPr>
              <a:t>Acts 4:12</a:t>
            </a:r>
          </a:p>
          <a:p>
            <a:pPr algn="l">
              <a:lnSpc>
                <a:spcPct val="108000"/>
              </a:lnSpc>
              <a:spcBef>
                <a:spcPts val="0"/>
              </a:spcBef>
              <a:spcAft>
                <a:spcPts val="250"/>
              </a:spcAft>
            </a:pPr>
            <a:r>
              <a:rPr sz="1000" b="0" i="1" u="none">
                <a:solidFill>
                  <a:srgbClr val="232A38"/>
                </a:solidFill>
                <a:latin typeface="Calibri"/>
              </a:rPr>
              <a:t>1 Peter 3:15-16</a:t>
            </a:r>
          </a:p>
          <a:p>
            <a:pPr algn="l">
              <a:lnSpc>
                <a:spcPct val="108000"/>
              </a:lnSpc>
              <a:spcBef>
                <a:spcPts val="0"/>
              </a:spcBef>
              <a:spcAft>
                <a:spcPts val="250"/>
              </a:spcAft>
            </a:pPr>
            <a:r>
              <a:rPr sz="1000" b="0" i="1" u="none">
                <a:solidFill>
                  <a:srgbClr val="232A38"/>
                </a:solidFill>
                <a:latin typeface="Calibri"/>
              </a:rPr>
              <a:t>Colossians 4:5-6</a:t>
            </a:r>
          </a:p>
          <a:p>
            <a:pPr algn="l">
              <a:lnSpc>
                <a:spcPct val="110000"/>
              </a:lnSpc>
              <a:spcBef>
                <a:spcPts val="400"/>
              </a:spcBef>
              <a:spcAft>
                <a:spcPts val="0"/>
              </a:spcAft>
            </a:pPr>
            <a:r>
              <a:rPr sz="950" b="0" i="0" u="none">
                <a:solidFill>
                  <a:srgbClr val="4C566B"/>
                </a:solidFill>
                <a:latin typeface="Calibri"/>
              </a:rPr>
              <a:t>The ground of the Church's witness and of its dialogue with the world of the religions.</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Christian response to religious pluralism holds the uniqueness of the Christ and the gospel, conducted in the witness and the dialogue with the love of the neighbour.</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17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Apologetics and Theology in Dialogue</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apologetics is the defence of the faith in the light of the word of God, in the positive and the negative methods, with the scholarship and the love of the neighbour.</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classical arguments present the evidence of the God from the creation, and the problem of the evil is answered in the sovereignty of the God and the compassion of the Christ.</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Christ and the resurrection are the centre and the ground of the defence of the faith, for the Christ is risen and is the power of the gospel.</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faith is to be in dialogue with the reason, the philosophy, the science, and the world's religions, in the truth of the gospel and the love of the neighbour.</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apologetics and the theology in dialogue is the ground of the Church's witness and of its defence of the faith; it flows from the doctrines of the Scripture, of the Christ, and of the mission, and it is the ground of the Church's engagement with the world of the scholarship and of the religions.</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Having defended the faith in the dialogue, the programme reaches its capstone: the advanced theological research and the thesis.</a:t>
            </a:r>
          </a:p>
        </p:txBody>
      </p:sp>
      <p:sp>
        <p:nvSpPr>
          <p:cNvPr id="16" name="TextBox 15"/>
          <p:cNvSpPr txBox="1"/>
          <p:nvPr/>
        </p:nvSpPr>
        <p:spPr>
          <a:xfrm>
            <a:off x="7598664" y="5614416"/>
            <a:ext cx="3550615" cy="365760"/>
          </a:xfrm>
          <a:prstGeom prst="rect">
            <a:avLst/>
          </a:prstGeom>
          <a:noFill/>
        </p:spPr>
        <p:txBody>
          <a:bodyPr wrap="square" anchor="t" lIns="0" rIns="0" tIns="0" bIns="0">
            <a:spAutoFit/>
          </a:bodyPr>
          <a:lstStyle/>
          <a:p>
            <a:pPr algn="l">
              <a:lnSpc>
                <a:spcPct val="112000"/>
              </a:lnSpc>
              <a:spcBef>
                <a:spcPts val="0"/>
              </a:spcBef>
              <a:spcAft>
                <a:spcPts val="0"/>
              </a:spcAft>
            </a:pPr>
            <a:r>
              <a:rPr sz="860" b="1" i="0" u="none" spc="100">
                <a:solidFill>
                  <a:srgbClr val="E6D3A3"/>
                </a:solidFill>
                <a:latin typeface="Calibri Light"/>
              </a:rPr>
              <a:t>NEXT  →  MODULE 18 · Advanced Theological Research</a:t>
            </a:r>
          </a:p>
        </p:txBody>
      </p:sp>
      <p:sp>
        <p:nvSpPr>
          <p:cNvPr id="17" name="Rectangle 16"/>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575303"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77190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96849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65091" y="6473952"/>
            <a:ext cx="146304" cy="32004"/>
          </a:xfrm>
          <a:prstGeom prst="rect">
            <a:avLst/>
          </a:prstGeom>
          <a:solidFill>
            <a:srgbClr val="A8AAA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B1526"/>
              </a:gs>
              <a:gs pos="100000">
                <a:srgbClr val="122A4E"/>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095847" y="685800"/>
            <a:ext cx="0" cy="73152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063843" y="1449324"/>
            <a:ext cx="64008" cy="6400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828800"/>
            <a:ext cx="10545775" cy="320040"/>
          </a:xfrm>
          <a:prstGeom prst="rect">
            <a:avLst/>
          </a:prstGeom>
          <a:noFill/>
        </p:spPr>
        <p:txBody>
          <a:bodyPr wrap="square" anchor="t" lIns="0" rIns="0" tIns="0" bIns="0">
            <a:spAutoFit/>
          </a:bodyPr>
          <a:lstStyle/>
          <a:p>
            <a:pPr algn="ctr">
              <a:lnSpc>
                <a:spcPct val="100000"/>
              </a:lnSpc>
              <a:spcBef>
                <a:spcPts val="0"/>
              </a:spcBef>
              <a:spcAft>
                <a:spcPts val="0"/>
              </a:spcAft>
            </a:pPr>
            <a:r>
              <a:rPr sz="1000" b="1" i="0" u="none" spc="300">
                <a:solidFill>
                  <a:srgbClr val="9AA5BC"/>
                </a:solidFill>
                <a:latin typeface="Calibri Light"/>
              </a:rPr>
              <a:t>PROCEEDING TO THE NEXT MODULE</a:t>
            </a:r>
          </a:p>
        </p:txBody>
      </p:sp>
      <p:sp>
        <p:nvSpPr>
          <p:cNvPr id="6" name="TextBox 5"/>
          <p:cNvSpPr txBox="1"/>
          <p:nvPr/>
        </p:nvSpPr>
        <p:spPr>
          <a:xfrm>
            <a:off x="822960" y="2286000"/>
            <a:ext cx="10545775" cy="822960"/>
          </a:xfrm>
          <a:prstGeom prst="rect">
            <a:avLst/>
          </a:prstGeom>
          <a:noFill/>
        </p:spPr>
        <p:txBody>
          <a:bodyPr wrap="square" anchor="t" lIns="0" rIns="0" tIns="0" bIns="0">
            <a:spAutoFit/>
          </a:bodyPr>
          <a:lstStyle/>
          <a:p>
            <a:pPr algn="ctr">
              <a:lnSpc>
                <a:spcPct val="100000"/>
              </a:lnSpc>
              <a:spcBef>
                <a:spcPts val="0"/>
              </a:spcBef>
              <a:spcAft>
                <a:spcPts val="0"/>
              </a:spcAft>
            </a:pPr>
            <a:r>
              <a:rPr sz="3800" b="1" i="0" u="none" spc="300">
                <a:solidFill>
                  <a:srgbClr val="C9A45C"/>
                </a:solidFill>
                <a:latin typeface="Palatino Linotype"/>
              </a:rPr>
              <a:t>MODULE 18</a:t>
            </a:r>
          </a:p>
        </p:txBody>
      </p:sp>
      <p:sp>
        <p:nvSpPr>
          <p:cNvPr id="7" name="TextBox 6"/>
          <p:cNvSpPr txBox="1"/>
          <p:nvPr/>
        </p:nvSpPr>
        <p:spPr>
          <a:xfrm>
            <a:off x="822960" y="3246120"/>
            <a:ext cx="10545775" cy="777240"/>
          </a:xfrm>
          <a:prstGeom prst="rect">
            <a:avLst/>
          </a:prstGeom>
          <a:noFill/>
        </p:spPr>
        <p:txBody>
          <a:bodyPr wrap="square" anchor="t" lIns="0" rIns="0" tIns="0" bIns="0">
            <a:spAutoFit/>
          </a:bodyPr>
          <a:lstStyle/>
          <a:p>
            <a:pPr algn="ctr">
              <a:lnSpc>
                <a:spcPct val="110000"/>
              </a:lnSpc>
              <a:spcBef>
                <a:spcPts val="0"/>
              </a:spcBef>
              <a:spcAft>
                <a:spcPts val="0"/>
              </a:spcAft>
            </a:pPr>
            <a:r>
              <a:rPr sz="2100" b="1" i="0" u="none" spc="100">
                <a:solidFill>
                  <a:srgbClr val="FFFFFF"/>
                </a:solidFill>
                <a:latin typeface="Palatino Linotype"/>
              </a:rPr>
              <a:t>ADVANCED THEOLOGICAL RESEARCH</a:t>
            </a:r>
          </a:p>
        </p:txBody>
      </p:sp>
      <p:cxnSp>
        <p:nvCxnSpPr>
          <p:cNvPr id="8" name="Connector 7"/>
          <p:cNvCxnSpPr/>
          <p:nvPr/>
        </p:nvCxnSpPr>
        <p:spPr>
          <a:xfrm>
            <a:off x="518144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233007" y="4224528"/>
            <a:ext cx="77724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377440" y="4526280"/>
            <a:ext cx="7436815" cy="822960"/>
          </a:xfrm>
          <a:prstGeom prst="rect">
            <a:avLst/>
          </a:prstGeom>
          <a:noFill/>
        </p:spPr>
        <p:txBody>
          <a:bodyPr wrap="square" anchor="t" lIns="0" rIns="0" tIns="0" bIns="0">
            <a:spAutoFit/>
          </a:bodyPr>
          <a:lstStyle/>
          <a:p>
            <a:pPr algn="ctr">
              <a:lnSpc>
                <a:spcPct val="135000"/>
              </a:lnSpc>
              <a:spcBef>
                <a:spcPts val="0"/>
              </a:spcBef>
              <a:spcAft>
                <a:spcPts val="0"/>
              </a:spcAft>
            </a:pPr>
            <a:r>
              <a:rPr sz="1250" b="0" i="1" u="none">
                <a:solidFill>
                  <a:srgbClr val="C9CDD6"/>
                </a:solidFill>
                <a:latin typeface="Palatino Linotype"/>
              </a:rPr>
              <a:t>Having defended the faith in the dialogue, the programme reaches its capstone: the advanced theological research and the thesis.</a:t>
            </a:r>
          </a:p>
        </p:txBody>
      </p:sp>
      <p:sp>
        <p:nvSpPr>
          <p:cNvPr id="11" name="Rectangle 10"/>
          <p:cNvSpPr/>
          <p:nvPr/>
        </p:nvSpPr>
        <p:spPr>
          <a:xfrm>
            <a:off x="271485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09432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7380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85328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23275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61223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99170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37118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75066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13013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0961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88908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68565"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7648041"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027517"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406993"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786469" y="5806440"/>
            <a:ext cx="310896" cy="45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165945" y="5806440"/>
            <a:ext cx="310896" cy="45720"/>
          </a:xfrm>
          <a:prstGeom prst="rect">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321040" y="2638044"/>
            <a:ext cx="1417320" cy="1920240"/>
          </a:xfrm>
          <a:prstGeom prst="rect">
            <a:avLst/>
          </a:prstGeom>
          <a:noFill/>
          <a:ln w="1397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 name="Connector 4"/>
          <p:cNvCxnSpPr/>
          <p:nvPr/>
        </p:nvCxnSpPr>
        <p:spPr>
          <a:xfrm>
            <a:off x="8549640" y="304952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549640" y="332384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549640" y="359816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49640" y="3872484"/>
            <a:ext cx="777240" cy="0"/>
          </a:xfrm>
          <a:prstGeom prst="line">
            <a:avLst/>
          </a:prstGeom>
          <a:ln w="8890">
            <a:solidFill>
              <a:srgbClr val="6E7A93"/>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29800" y="3095244"/>
            <a:ext cx="1188720" cy="1188720"/>
          </a:xfrm>
          <a:prstGeom prst="ellipse">
            <a:avLst/>
          </a:prstGeom>
          <a:noFill/>
          <a:ln w="1905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744200" y="4055364"/>
            <a:ext cx="594360" cy="594360"/>
          </a:xfrm>
          <a:prstGeom prst="line">
            <a:avLst/>
          </a:prstGeom>
          <a:ln w="279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378440" y="3643884"/>
            <a:ext cx="91440" cy="91440"/>
          </a:xfrm>
          <a:prstGeom prst="ellipse">
            <a:avLst/>
          </a:prstGeom>
          <a:solidFill>
            <a:srgbClr val="E6D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7635240" y="1554480"/>
            <a:ext cx="0" cy="356616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1170432"/>
            <a:ext cx="6583680" cy="320040"/>
          </a:xfrm>
          <a:prstGeom prst="rect">
            <a:avLst/>
          </a:prstGeom>
          <a:noFill/>
        </p:spPr>
        <p:txBody>
          <a:bodyPr wrap="square" anchor="t" lIns="0" rIns="0" tIns="0" bIns="0">
            <a:spAutoFit/>
          </a:bodyPr>
          <a:lstStyle/>
          <a:p>
            <a:pPr algn="l">
              <a:lnSpc>
                <a:spcPct val="100000"/>
              </a:lnSpc>
              <a:spcBef>
                <a:spcPts val="0"/>
              </a:spcBef>
              <a:spcAft>
                <a:spcPts val="0"/>
              </a:spcAft>
            </a:pPr>
            <a:r>
              <a:rPr sz="1150" b="1" i="0" u="none" spc="340">
                <a:solidFill>
                  <a:srgbClr val="C9A45C"/>
                </a:solidFill>
                <a:latin typeface="Calibri Light"/>
              </a:rPr>
              <a:t>MODULE 18</a:t>
            </a:r>
          </a:p>
        </p:txBody>
      </p:sp>
      <p:sp>
        <p:nvSpPr>
          <p:cNvPr id="14" name="TextBox 13"/>
          <p:cNvSpPr txBox="1"/>
          <p:nvPr/>
        </p:nvSpPr>
        <p:spPr>
          <a:xfrm>
            <a:off x="768096" y="1481328"/>
            <a:ext cx="6400800" cy="2286000"/>
          </a:xfrm>
          <a:prstGeom prst="rect">
            <a:avLst/>
          </a:prstGeom>
          <a:noFill/>
        </p:spPr>
        <p:txBody>
          <a:bodyPr wrap="square" anchor="t" lIns="0" rIns="0" tIns="0" bIns="0">
            <a:spAutoFit/>
          </a:bodyPr>
          <a:lstStyle/>
          <a:p>
            <a:pPr algn="l">
              <a:lnSpc>
                <a:spcPct val="100000"/>
              </a:lnSpc>
              <a:spcBef>
                <a:spcPts val="0"/>
              </a:spcBef>
              <a:spcAft>
                <a:spcPts val="0"/>
              </a:spcAft>
            </a:pPr>
            <a:r>
              <a:rPr sz="13200" b="1" i="0" u="none" spc="200">
                <a:solidFill>
                  <a:srgbClr val="C9A45C"/>
                </a:solidFill>
                <a:latin typeface="Palatino Linotype"/>
              </a:rPr>
              <a:t>18</a:t>
            </a:r>
          </a:p>
        </p:txBody>
      </p:sp>
      <p:sp>
        <p:nvSpPr>
          <p:cNvPr id="15" name="TextBox 14"/>
          <p:cNvSpPr txBox="1"/>
          <p:nvPr/>
        </p:nvSpPr>
        <p:spPr>
          <a:xfrm>
            <a:off x="822960" y="3913632"/>
            <a:ext cx="6583680" cy="960120"/>
          </a:xfrm>
          <a:prstGeom prst="rect">
            <a:avLst/>
          </a:prstGeom>
          <a:noFill/>
        </p:spPr>
        <p:txBody>
          <a:bodyPr wrap="square" anchor="t" lIns="0" rIns="0" tIns="0" bIns="0">
            <a:spAutoFit/>
          </a:bodyPr>
          <a:lstStyle/>
          <a:p>
            <a:pPr algn="l">
              <a:lnSpc>
                <a:spcPct val="108000"/>
              </a:lnSpc>
              <a:spcBef>
                <a:spcPts val="0"/>
              </a:spcBef>
              <a:spcAft>
                <a:spcPts val="0"/>
              </a:spcAft>
            </a:pPr>
            <a:r>
              <a:rPr sz="2700" b="1" i="0" u="none" spc="80">
                <a:solidFill>
                  <a:srgbClr val="FFFFFF"/>
                </a:solidFill>
                <a:latin typeface="Palatino Linotype"/>
              </a:rPr>
              <a:t>ADVANCED THEOLOGICAL RESEARCH</a:t>
            </a:r>
          </a:p>
        </p:txBody>
      </p:sp>
      <p:cxnSp>
        <p:nvCxnSpPr>
          <p:cNvPr id="16" name="Connector 15"/>
          <p:cNvCxnSpPr/>
          <p:nvPr/>
        </p:nvCxnSpPr>
        <p:spPr>
          <a:xfrm>
            <a:off x="822960" y="4956048"/>
            <a:ext cx="1051559"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5138928"/>
            <a:ext cx="6492240" cy="868680"/>
          </a:xfrm>
          <a:prstGeom prst="rect">
            <a:avLst/>
          </a:prstGeom>
          <a:noFill/>
        </p:spPr>
        <p:txBody>
          <a:bodyPr wrap="square" anchor="t" lIns="0" rIns="0" tIns="0" bIns="0">
            <a:spAutoFit/>
          </a:bodyPr>
          <a:lstStyle/>
          <a:p>
            <a:pPr algn="l">
              <a:lnSpc>
                <a:spcPct val="130000"/>
              </a:lnSpc>
              <a:spcBef>
                <a:spcPts val="0"/>
              </a:spcBef>
              <a:spcAft>
                <a:spcPts val="0"/>
              </a:spcAft>
            </a:pPr>
            <a:r>
              <a:rPr sz="1250" b="0" i="1" u="none">
                <a:solidFill>
                  <a:srgbClr val="E6D3A3"/>
                </a:solidFill>
                <a:latin typeface="Palatino Linotype"/>
              </a:rPr>
              <a:t>The capstone: the research process, the sources and the methods, the thesis, and its defence.</a:t>
            </a:r>
          </a:p>
        </p:txBody>
      </p:sp>
      <p:sp>
        <p:nvSpPr>
          <p:cNvPr id="18" name="Rectangle 17"/>
          <p:cNvSpPr/>
          <p:nvPr/>
        </p:nvSpPr>
        <p:spPr>
          <a:xfrm>
            <a:off x="82296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01955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21615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41274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60934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80594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00253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19913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39572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592324"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78892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985515"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182112"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378708"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575303"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771900"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968496"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165091" y="6144768"/>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39535" y="6108192"/>
            <a:ext cx="5029200" cy="274320"/>
          </a:xfrm>
          <a:prstGeom prst="rect">
            <a:avLst/>
          </a:prstGeom>
          <a:noFill/>
        </p:spPr>
        <p:txBody>
          <a:bodyPr wrap="square" anchor="t" lIns="0" rIns="0" tIns="0" bIns="0">
            <a:spAutoFit/>
          </a:bodyPr>
          <a:lstStyle/>
          <a:p>
            <a:pPr algn="r">
              <a:lnSpc>
                <a:spcPct val="100000"/>
              </a:lnSpc>
              <a:spcBef>
                <a:spcPts val="0"/>
              </a:spcBef>
              <a:spcAft>
                <a:spcPts val="0"/>
              </a:spcAft>
            </a:pPr>
            <a:r>
              <a:rPr sz="850" b="1" i="0" u="none" spc="120">
                <a:solidFill>
                  <a:srgbClr val="6E7A93"/>
                </a:solidFill>
                <a:latin typeface="Calibri Light"/>
              </a:rPr>
              <a:t>Christian Theology · A Comprehensive Academic Study</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3063240" cy="68580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3063240" y="0"/>
            <a:ext cx="32004"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02920" y="777240"/>
            <a:ext cx="2286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80">
                <a:solidFill>
                  <a:srgbClr val="E6D3A3"/>
                </a:solidFill>
                <a:latin typeface="Calibri Light"/>
              </a:rPr>
              <a:t>MODULE</a:t>
            </a:r>
          </a:p>
        </p:txBody>
      </p:sp>
      <p:sp>
        <p:nvSpPr>
          <p:cNvPr id="5" name="TextBox 4"/>
          <p:cNvSpPr txBox="1"/>
          <p:nvPr/>
        </p:nvSpPr>
        <p:spPr>
          <a:xfrm>
            <a:off x="457200" y="1143000"/>
            <a:ext cx="2377440" cy="1463040"/>
          </a:xfrm>
          <a:prstGeom prst="rect">
            <a:avLst/>
          </a:prstGeom>
          <a:noFill/>
        </p:spPr>
        <p:txBody>
          <a:bodyPr wrap="square" anchor="t" lIns="0" rIns="0" tIns="0" bIns="0">
            <a:spAutoFit/>
          </a:bodyPr>
          <a:lstStyle/>
          <a:p>
            <a:pPr algn="l">
              <a:lnSpc>
                <a:spcPct val="100000"/>
              </a:lnSpc>
              <a:spcBef>
                <a:spcPts val="0"/>
              </a:spcBef>
              <a:spcAft>
                <a:spcPts val="0"/>
              </a:spcAft>
            </a:pPr>
            <a:r>
              <a:rPr sz="8400" b="1" i="0" u="none">
                <a:solidFill>
                  <a:srgbClr val="E6D3A3"/>
                </a:solidFill>
                <a:latin typeface="Palatino Linotype"/>
              </a:rPr>
              <a:t>18</a:t>
            </a:r>
          </a:p>
        </p:txBody>
      </p:sp>
      <p:cxnSp>
        <p:nvCxnSpPr>
          <p:cNvPr id="6" name="Connector 5"/>
          <p:cNvCxnSpPr/>
          <p:nvPr/>
        </p:nvCxnSpPr>
        <p:spPr>
          <a:xfrm>
            <a:off x="502920" y="2487168"/>
            <a:ext cx="822960" cy="0"/>
          </a:xfrm>
          <a:prstGeom prst="line">
            <a:avLst/>
          </a:prstGeom>
          <a:ln w="15240">
            <a:solidFill>
              <a:srgbClr val="C9A4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2697480"/>
            <a:ext cx="2331720" cy="2011680"/>
          </a:xfrm>
          <a:prstGeom prst="rect">
            <a:avLst/>
          </a:prstGeom>
          <a:noFill/>
        </p:spPr>
        <p:txBody>
          <a:bodyPr wrap="square" anchor="t" lIns="0" rIns="0" tIns="0" bIns="0">
            <a:spAutoFit/>
          </a:bodyPr>
          <a:lstStyle/>
          <a:p>
            <a:pPr algn="l">
              <a:lnSpc>
                <a:spcPct val="115000"/>
              </a:lnSpc>
              <a:spcBef>
                <a:spcPts val="0"/>
              </a:spcBef>
              <a:spcAft>
                <a:spcPts val="0"/>
              </a:spcAft>
            </a:pPr>
            <a:r>
              <a:rPr sz="1550" b="1" i="0" u="none" spc="60">
                <a:solidFill>
                  <a:srgbClr val="FFFFFF"/>
                </a:solidFill>
                <a:latin typeface="Palatino Linotype"/>
              </a:rPr>
              <a:t>ADVANCED THEOLOGICAL RESEARCH</a:t>
            </a:r>
          </a:p>
        </p:txBody>
      </p:sp>
      <p:sp>
        <p:nvSpPr>
          <p:cNvPr id="8" name="Rectangle 7"/>
          <p:cNvSpPr/>
          <p:nvPr/>
        </p:nvSpPr>
        <p:spPr>
          <a:xfrm>
            <a:off x="50292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9951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89611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270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28930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48590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68249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79091"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7568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2272284"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46888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66547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86207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3058668"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255263"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451860"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3648456"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845052" y="6263640"/>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1880" y="749808"/>
            <a:ext cx="775685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INTRODUCTION TO THIS MODULE</a:t>
            </a:r>
          </a:p>
        </p:txBody>
      </p:sp>
      <p:sp>
        <p:nvSpPr>
          <p:cNvPr id="27" name="TextBox 26"/>
          <p:cNvSpPr txBox="1"/>
          <p:nvPr/>
        </p:nvSpPr>
        <p:spPr>
          <a:xfrm>
            <a:off x="3611880" y="1060704"/>
            <a:ext cx="7756855" cy="914400"/>
          </a:xfrm>
          <a:prstGeom prst="rect">
            <a:avLst/>
          </a:prstGeom>
          <a:noFill/>
        </p:spPr>
        <p:txBody>
          <a:bodyPr wrap="square" anchor="t" lIns="0" rIns="0" tIns="0" bIns="0">
            <a:spAutoFit/>
          </a:bodyPr>
          <a:lstStyle/>
          <a:p>
            <a:pPr algn="l">
              <a:lnSpc>
                <a:spcPct val="104000"/>
              </a:lnSpc>
              <a:spcBef>
                <a:spcPts val="0"/>
              </a:spcBef>
              <a:spcAft>
                <a:spcPts val="0"/>
              </a:spcAft>
            </a:pPr>
            <a:r>
              <a:rPr sz="2400" b="1" i="0" u="none">
                <a:solidFill>
                  <a:srgbClr val="232A38"/>
                </a:solidFill>
                <a:latin typeface="Palatino Linotype"/>
              </a:rPr>
              <a:t>Advanced Theological Research</a:t>
            </a:r>
          </a:p>
        </p:txBody>
      </p:sp>
      <p:cxnSp>
        <p:nvCxnSpPr>
          <p:cNvPr id="28" name="Connector 27"/>
          <p:cNvCxnSpPr/>
          <p:nvPr/>
        </p:nvCxnSpPr>
        <p:spPr>
          <a:xfrm>
            <a:off x="3611880" y="2084831"/>
            <a:ext cx="7756855" cy="0"/>
          </a:xfrm>
          <a:prstGeom prst="line">
            <a:avLst/>
          </a:prstGeom>
          <a:ln w="1016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611880" y="2377440"/>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THE DISCIPLINE</a:t>
            </a:r>
          </a:p>
        </p:txBody>
      </p:sp>
      <p:sp>
        <p:nvSpPr>
          <p:cNvPr id="30" name="TextBox 29"/>
          <p:cNvSpPr txBox="1"/>
          <p:nvPr/>
        </p:nvSpPr>
        <p:spPr>
          <a:xfrm>
            <a:off x="3611880" y="2651760"/>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This module is the capstone of the programme: the advanced theological research. It treats the nature and purpose of the research, the process from question to defence, the sources, the methods, and the writing and defence of the thesis.</a:t>
            </a:r>
          </a:p>
        </p:txBody>
      </p:sp>
      <p:sp>
        <p:nvSpPr>
          <p:cNvPr id="31" name="TextBox 30"/>
          <p:cNvSpPr txBox="1"/>
          <p:nvPr/>
        </p:nvSpPr>
        <p:spPr>
          <a:xfrm>
            <a:off x="3611880" y="3328416"/>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BIBLICAL &amp; HISTORICAL CONTEXT</a:t>
            </a:r>
          </a:p>
        </p:txBody>
      </p:sp>
      <p:sp>
        <p:nvSpPr>
          <p:cNvPr id="32" name="TextBox 31"/>
          <p:cNvSpPr txBox="1"/>
          <p:nvPr/>
        </p:nvSpPr>
        <p:spPr>
          <a:xfrm>
            <a:off x="3611880" y="3602736"/>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Theological research is the systematic study of the questions of the faith in the light of the word of God and the method of the scholarship. It is the capstone of the formation of the theologian.</a:t>
            </a:r>
          </a:p>
        </p:txBody>
      </p:sp>
      <p:sp>
        <p:nvSpPr>
          <p:cNvPr id="33" name="TextBox 32"/>
          <p:cNvSpPr txBox="1"/>
          <p:nvPr/>
        </p:nvSpPr>
        <p:spPr>
          <a:xfrm>
            <a:off x="3611880" y="4279392"/>
            <a:ext cx="7756855" cy="256032"/>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RELEVANCE TO CHRISTIAN THEOLOGY</a:t>
            </a:r>
          </a:p>
        </p:txBody>
      </p:sp>
      <p:sp>
        <p:nvSpPr>
          <p:cNvPr id="34" name="TextBox 33"/>
          <p:cNvSpPr txBox="1"/>
          <p:nvPr/>
        </p:nvSpPr>
        <p:spPr>
          <a:xfrm>
            <a:off x="3611880" y="4553712"/>
            <a:ext cx="7756855" cy="658368"/>
          </a:xfrm>
          <a:prstGeom prst="rect">
            <a:avLst/>
          </a:prstGeom>
          <a:noFill/>
        </p:spPr>
        <p:txBody>
          <a:bodyPr wrap="square" anchor="t" lIns="0" rIns="0" tIns="0" bIns="0">
            <a:spAutoFit/>
          </a:bodyPr>
          <a:lstStyle/>
          <a:p>
            <a:pPr algn="l">
              <a:lnSpc>
                <a:spcPct val="118000"/>
              </a:lnSpc>
              <a:spcBef>
                <a:spcPts val="0"/>
              </a:spcBef>
              <a:spcAft>
                <a:spcPts val="0"/>
              </a:spcAft>
            </a:pPr>
            <a:r>
              <a:rPr sz="1120" b="0" i="0" u="none">
                <a:solidFill>
                  <a:srgbClr val="4C566B"/>
                </a:solidFill>
                <a:latin typeface="Calibri"/>
              </a:rPr>
              <a:t>The doctrine of the advanced theological research is the capstone of the programme and the ground of the professional development of the theologian. It answers the questions of how the research is to be conducted, and how the thesis is to be written and defended.</a:t>
            </a:r>
          </a:p>
        </p:txBody>
      </p:sp>
      <p:sp>
        <p:nvSpPr>
          <p:cNvPr id="35" name="Rectangle 34"/>
          <p:cNvSpPr/>
          <p:nvPr/>
        </p:nvSpPr>
        <p:spPr>
          <a:xfrm>
            <a:off x="3611880" y="5248655"/>
            <a:ext cx="7756855" cy="1115568"/>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611880" y="5248655"/>
            <a:ext cx="36576" cy="111556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86200" y="5413248"/>
            <a:ext cx="72082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LEARNING FOCUS</a:t>
            </a:r>
          </a:p>
        </p:txBody>
      </p:sp>
      <p:sp>
        <p:nvSpPr>
          <p:cNvPr id="38" name="TextBox 37"/>
          <p:cNvSpPr txBox="1"/>
          <p:nvPr/>
        </p:nvSpPr>
        <p:spPr>
          <a:xfrm>
            <a:off x="3886200" y="5705856"/>
            <a:ext cx="7208215" cy="566928"/>
          </a:xfrm>
          <a:prstGeom prst="rect">
            <a:avLst/>
          </a:prstGeom>
          <a:noFill/>
        </p:spPr>
        <p:txBody>
          <a:bodyPr wrap="square" anchor="t" lIns="0" rIns="0" tIns="0" bIns="0">
            <a:spAutoFit/>
          </a:bodyPr>
          <a:lstStyle/>
          <a:p>
            <a:pPr algn="l">
              <a:lnSpc>
                <a:spcPct val="122000"/>
              </a:lnSpc>
              <a:spcBef>
                <a:spcPts val="0"/>
              </a:spcBef>
              <a:spcAft>
                <a:spcPts val="0"/>
              </a:spcAft>
            </a:pPr>
            <a:r>
              <a:rPr sz="1200" b="0" i="1" u="none">
                <a:solidFill>
                  <a:srgbClr val="232A38"/>
                </a:solidFill>
                <a:latin typeface="Palatino Linotype"/>
              </a:rPr>
              <a:t>To conduct the theological research in the method of the scholarship, to write and defend the theological thesis, and to develop the professional skills of the theologian.</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Nature and Purpose of Theological Research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213</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Theological research is the systematic study of the questions of the faith in the light of the word of God and the method of the scholarship. Its purpose is the deepening of the understanding of the faith, the development of the theology, and the application of the theology to the ministry of the Church. The theological research is to be conducted with the honesty of the scholarship and the discernment of the faith, and it is distinct from the popular writing in that it is the disciplined study in the light of the sources and the method. The research is the capstone of the formation of the theologian, and it is the ground of the development of the theology and of the ministry of the Church. The doctrine of the nature and the purpose of the theological research is the ground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systematic study of the questions of the faith in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purpose: the deepening, the development, the application of the theology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distinction from the popular writing</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professional development of the theologian</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2:15</a:t>
            </a:r>
          </a:p>
          <a:p>
            <a:pPr algn="l">
              <a:lnSpc>
                <a:spcPct val="108000"/>
              </a:lnSpc>
              <a:spcBef>
                <a:spcPts val="0"/>
              </a:spcBef>
              <a:spcAft>
                <a:spcPts val="250"/>
              </a:spcAft>
            </a:pPr>
            <a:r>
              <a:rPr sz="1000" b="0" i="1" u="none">
                <a:solidFill>
                  <a:srgbClr val="232A38"/>
                </a:solidFill>
                <a:latin typeface="Calibri"/>
              </a:rPr>
              <a:t>Colossians 1:9-10</a:t>
            </a:r>
          </a:p>
          <a:p>
            <a:pPr algn="l">
              <a:lnSpc>
                <a:spcPct val="108000"/>
              </a:lnSpc>
              <a:spcBef>
                <a:spcPts val="0"/>
              </a:spcBef>
              <a:spcAft>
                <a:spcPts val="250"/>
              </a:spcAft>
            </a:pPr>
            <a:r>
              <a:rPr sz="1000" b="0" i="1" u="none">
                <a:solidFill>
                  <a:srgbClr val="232A38"/>
                </a:solidFill>
                <a:latin typeface="Calibri"/>
              </a:rPr>
              <a:t>Proverbs 25:2</a:t>
            </a:r>
          </a:p>
          <a:p>
            <a:pPr algn="l">
              <a:lnSpc>
                <a:spcPct val="108000"/>
              </a:lnSpc>
              <a:spcBef>
                <a:spcPts val="0"/>
              </a:spcBef>
              <a:spcAft>
                <a:spcPts val="250"/>
              </a:spcAft>
            </a:pPr>
            <a:r>
              <a:rPr sz="1000" b="0" i="1" u="none">
                <a:solidFill>
                  <a:srgbClr val="232A38"/>
                </a:solidFill>
                <a:latin typeface="Calibri"/>
              </a:rPr>
              <a:t>Hebrews 5:14</a:t>
            </a:r>
          </a:p>
          <a:p>
            <a:pPr algn="l">
              <a:lnSpc>
                <a:spcPct val="110000"/>
              </a:lnSpc>
              <a:spcBef>
                <a:spcPts val="400"/>
              </a:spcBef>
              <a:spcAft>
                <a:spcPts val="0"/>
              </a:spcAft>
            </a:pPr>
            <a:r>
              <a:rPr sz="950" b="0" i="0" u="none">
                <a:solidFill>
                  <a:srgbClr val="4C566B"/>
                </a:solidFill>
                <a:latin typeface="Calibri"/>
              </a:rPr>
              <a:t>The capstone of the formation of the theologian and of the development of the theology.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Theological research is the systematic study of the questions of the faith in the light of the word of God and the scholarship, the capstone of the theologian's formation.</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The Research Process: From Question to Defence</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214</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research process is the way by which the theological research is to be conducted, from the question to the defence. It includes the identification of the question, the delimitation of the topic, the review of the literature, the collection of the data, the analysis of the data, the writing of the thesis, and the defence of the thesis. Each stage is to be conducted with the honesty of the scholarship and the discernment of the faith, and the whole process is to be conducted in the order of the method. The research process is the ground of the research and of the thesis, and it is the application of the whole of the programme to the research. The doctrine of the research process is the ground of the theological research and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stages: the question, the delimitation, the literature, the data, the analysis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writing and the defence of the thesis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conduct in the order of the method and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application of the whole of the programme to the research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Proverbs 18:15</a:t>
            </a:r>
          </a:p>
          <a:p>
            <a:pPr algn="l">
              <a:lnSpc>
                <a:spcPct val="108000"/>
              </a:lnSpc>
              <a:spcBef>
                <a:spcPts val="0"/>
              </a:spcBef>
              <a:spcAft>
                <a:spcPts val="250"/>
              </a:spcAft>
            </a:pPr>
            <a:r>
              <a:rPr sz="1000" b="0" i="1" u="none">
                <a:solidFill>
                  <a:srgbClr val="232A38"/>
                </a:solidFill>
                <a:latin typeface="Calibri"/>
              </a:rPr>
              <a:t>2 Timothy 2:15</a:t>
            </a:r>
          </a:p>
          <a:p>
            <a:pPr algn="l">
              <a:lnSpc>
                <a:spcPct val="108000"/>
              </a:lnSpc>
              <a:spcBef>
                <a:spcPts val="0"/>
              </a:spcBef>
              <a:spcAft>
                <a:spcPts val="250"/>
              </a:spcAft>
            </a:pPr>
            <a:r>
              <a:rPr sz="1000" b="0" i="1" u="none">
                <a:solidFill>
                  <a:srgbClr val="232A38"/>
                </a:solidFill>
                <a:latin typeface="Calibri"/>
              </a:rPr>
              <a:t>Luke 14:28-30</a:t>
            </a:r>
          </a:p>
          <a:p>
            <a:pPr algn="l">
              <a:lnSpc>
                <a:spcPct val="108000"/>
              </a:lnSpc>
              <a:spcBef>
                <a:spcPts val="0"/>
              </a:spcBef>
              <a:spcAft>
                <a:spcPts val="250"/>
              </a:spcAft>
            </a:pPr>
            <a:r>
              <a:rPr sz="1000" b="0" i="1" u="none">
                <a:solidFill>
                  <a:srgbClr val="232A38"/>
                </a:solidFill>
                <a:latin typeface="Calibri"/>
              </a:rPr>
              <a:t>1 Thessalonians 5:21</a:t>
            </a:r>
          </a:p>
          <a:p>
            <a:pPr algn="l">
              <a:lnSpc>
                <a:spcPct val="110000"/>
              </a:lnSpc>
              <a:spcBef>
                <a:spcPts val="400"/>
              </a:spcBef>
              <a:spcAft>
                <a:spcPts val="0"/>
              </a:spcAft>
            </a:pPr>
            <a:r>
              <a:rPr sz="950" b="0" i="0" u="none">
                <a:solidFill>
                  <a:srgbClr val="4C566B"/>
                </a:solidFill>
                <a:latin typeface="Calibri"/>
              </a:rPr>
              <a:t>The ground of the theological research and of the professional development of the theologian.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research process is the way from the question to the defence, in the order of the method, the application of the whole of the programme to the research.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Primary and Secondary Sources in Theological Study</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215</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primary and the secondary sources in the theological study are the materials of the research. The primary sources are the Scripture, the documents of the Church (the creeds and the confessions), and the writings of the theologians of the history. The secondary sources are the books and the articles of the scholarship on the question. The research is to be conducted in the light of the primary sources, with the help of the secondary sources, and it is to be conducted with the honesty of the citation and the scholarship. The doctrine of the primary and the secondary sources is the ground of the theological research and of the credibility of the research. The theologian is to be grounded in the Scripture and the tradition, and he is to be informed by the scholarship.</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primary sources: the Scripture, the confessions, the theologians of the history</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secondary sources: the books and the articles of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of the citation and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credibility of the theological research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3:14-17</a:t>
            </a:r>
          </a:p>
          <a:p>
            <a:pPr algn="l">
              <a:lnSpc>
                <a:spcPct val="108000"/>
              </a:lnSpc>
              <a:spcBef>
                <a:spcPts val="0"/>
              </a:spcBef>
              <a:spcAft>
                <a:spcPts val="250"/>
              </a:spcAft>
            </a:pPr>
            <a:r>
              <a:rPr sz="1000" b="0" i="1" u="none">
                <a:solidFill>
                  <a:srgbClr val="232A38"/>
                </a:solidFill>
                <a:latin typeface="Calibri"/>
              </a:rPr>
              <a:t>Jude 1:3</a:t>
            </a:r>
          </a:p>
          <a:p>
            <a:pPr algn="l">
              <a:lnSpc>
                <a:spcPct val="108000"/>
              </a:lnSpc>
              <a:spcBef>
                <a:spcPts val="0"/>
              </a:spcBef>
              <a:spcAft>
                <a:spcPts val="250"/>
              </a:spcAft>
            </a:pPr>
            <a:r>
              <a:rPr sz="1000" b="0" i="1" u="none">
                <a:solidFill>
                  <a:srgbClr val="232A38"/>
                </a:solidFill>
                <a:latin typeface="Calibri"/>
              </a:rPr>
              <a:t>Acts 17:11</a:t>
            </a:r>
          </a:p>
          <a:p>
            <a:pPr algn="l">
              <a:lnSpc>
                <a:spcPct val="108000"/>
              </a:lnSpc>
              <a:spcBef>
                <a:spcPts val="0"/>
              </a:spcBef>
              <a:spcAft>
                <a:spcPts val="250"/>
              </a:spcAft>
            </a:pPr>
            <a:r>
              <a:rPr sz="1000" b="0" i="1" u="none">
                <a:solidFill>
                  <a:srgbClr val="232A38"/>
                </a:solidFill>
                <a:latin typeface="Calibri"/>
              </a:rPr>
              <a:t>1 Thessalonians 5:21</a:t>
            </a:r>
          </a:p>
          <a:p>
            <a:pPr algn="l">
              <a:lnSpc>
                <a:spcPct val="110000"/>
              </a:lnSpc>
              <a:spcBef>
                <a:spcPts val="400"/>
              </a:spcBef>
              <a:spcAft>
                <a:spcPts val="0"/>
              </a:spcAft>
            </a:pPr>
            <a:r>
              <a:rPr sz="950" b="0" i="0" u="none">
                <a:solidFill>
                  <a:srgbClr val="4C566B"/>
                </a:solidFill>
                <a:latin typeface="Calibri"/>
              </a:rPr>
              <a:t>The ground of the theological research and of the credibility of the research.</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theological research is to be grounded in the primary sources — the Scripture and the confessions — and informed by the secondary sources of the scholarship.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Exegesis and the Method of Biblical Research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216</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Exegesis and the method of the biblical research is the study of the Scripture in the method of the research. The exegesis is the drawing out of the meaning of the text in its context, in its language, and in its history. The method of the biblical research includes the grammatical-historical method, the literary method, the canonical method, and the theological method. The exegesis is to be conducted with the honesty of the scholarship and the discernment of the faith, and it is the ground of the biblical research and of the preaching. The doctrine of the exegesis and the method of the biblical research is the ground of the biblical research and of the ministry of the word. The theologian is to handle the word of truth aright (2 Tim 2:15).</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exegesis as the drawing out of the meaning of the text</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grammatical-historical, the literary, the canonical, the theological methods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of the scholarship and the discernment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biblical research and of the ministry of the word</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2:15</a:t>
            </a:r>
          </a:p>
          <a:p>
            <a:pPr algn="l">
              <a:lnSpc>
                <a:spcPct val="108000"/>
              </a:lnSpc>
              <a:spcBef>
                <a:spcPts val="0"/>
              </a:spcBef>
              <a:spcAft>
                <a:spcPts val="250"/>
              </a:spcAft>
            </a:pPr>
            <a:r>
              <a:rPr sz="1000" b="0" i="1" u="none">
                <a:solidFill>
                  <a:srgbClr val="232A38"/>
                </a:solidFill>
                <a:latin typeface="Calibri"/>
              </a:rPr>
              <a:t>Acts 17:11</a:t>
            </a:r>
          </a:p>
          <a:p>
            <a:pPr algn="l">
              <a:lnSpc>
                <a:spcPct val="108000"/>
              </a:lnSpc>
              <a:spcBef>
                <a:spcPts val="0"/>
              </a:spcBef>
              <a:spcAft>
                <a:spcPts val="250"/>
              </a:spcAft>
            </a:pPr>
            <a:r>
              <a:rPr sz="1000" b="0" i="1" u="none">
                <a:solidFill>
                  <a:srgbClr val="232A38"/>
                </a:solidFill>
                <a:latin typeface="Calibri"/>
              </a:rPr>
              <a:t>1 Corinthians 2:13</a:t>
            </a:r>
          </a:p>
          <a:p>
            <a:pPr algn="l">
              <a:lnSpc>
                <a:spcPct val="108000"/>
              </a:lnSpc>
              <a:spcBef>
                <a:spcPts val="0"/>
              </a:spcBef>
              <a:spcAft>
                <a:spcPts val="250"/>
              </a:spcAft>
            </a:pPr>
            <a:r>
              <a:rPr sz="1000" b="0" i="1" u="none">
                <a:solidFill>
                  <a:srgbClr val="232A38"/>
                </a:solidFill>
                <a:latin typeface="Calibri"/>
              </a:rPr>
              <a:t>Hebrews 5:14</a:t>
            </a:r>
          </a:p>
          <a:p>
            <a:pPr algn="l">
              <a:lnSpc>
                <a:spcPct val="110000"/>
              </a:lnSpc>
              <a:spcBef>
                <a:spcPts val="400"/>
              </a:spcBef>
              <a:spcAft>
                <a:spcPts val="0"/>
              </a:spcAft>
            </a:pPr>
            <a:r>
              <a:rPr sz="950" b="0" i="0" u="none">
                <a:solidFill>
                  <a:srgbClr val="4C566B"/>
                </a:solidFill>
                <a:latin typeface="Calibri"/>
              </a:rPr>
              <a:t>The ground of the biblical research and of the ministry of the word.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Exegesis is the drawing out of the meaning of the text in its context, the ground of the biblical research and of the ministry of the word.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Historical and Philosophical Research Methods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217</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historical and the philosophical research methods are the methods of the theological research in the history and the philosophy. The historical method is the study of the development of the doctrine across the centuries, in the light of the documents and the context. The philosophical method is the analysis of the concepts of the doctrine in the light of the reason, and the examination of their coherence and their implications. The two methods are to be conducted with the honesty of the scholarship and the discernment of the faith, and they are the ground of the historical and the philosophical research. The doctrine of the historical and the philosophical methods is the ground of the theological research in the history and the philosophy. The theologian is to be grounded in the Scripture, and he is to be informed by the history and the philosophy.</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historical method and the study of the development of the doctrine</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philosophical method and the analysis of the concepts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of the scholarship and the discernment of the faith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theological research in the history and the philosophy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Timothy 3:15</a:t>
            </a:r>
          </a:p>
          <a:p>
            <a:pPr algn="l">
              <a:lnSpc>
                <a:spcPct val="108000"/>
              </a:lnSpc>
              <a:spcBef>
                <a:spcPts val="0"/>
              </a:spcBef>
              <a:spcAft>
                <a:spcPts val="250"/>
              </a:spcAft>
            </a:pPr>
            <a:r>
              <a:rPr sz="1000" b="0" i="1" u="none">
                <a:solidFill>
                  <a:srgbClr val="232A38"/>
                </a:solidFill>
                <a:latin typeface="Calibri"/>
              </a:rPr>
              <a:t>2 Timothy 2:2</a:t>
            </a:r>
          </a:p>
          <a:p>
            <a:pPr algn="l">
              <a:lnSpc>
                <a:spcPct val="108000"/>
              </a:lnSpc>
              <a:spcBef>
                <a:spcPts val="0"/>
              </a:spcBef>
              <a:spcAft>
                <a:spcPts val="250"/>
              </a:spcAft>
            </a:pPr>
            <a:r>
              <a:rPr sz="1000" b="0" i="1" u="none">
                <a:solidFill>
                  <a:srgbClr val="232A38"/>
                </a:solidFill>
                <a:latin typeface="Calibri"/>
              </a:rPr>
              <a:t>Romans 15:4</a:t>
            </a:r>
          </a:p>
          <a:p>
            <a:pPr algn="l">
              <a:lnSpc>
                <a:spcPct val="108000"/>
              </a:lnSpc>
              <a:spcBef>
                <a:spcPts val="0"/>
              </a:spcBef>
              <a:spcAft>
                <a:spcPts val="250"/>
              </a:spcAft>
            </a:pPr>
            <a:r>
              <a:rPr sz="1000" b="0" i="1" u="none">
                <a:solidFill>
                  <a:srgbClr val="232A38"/>
                </a:solidFill>
                <a:latin typeface="Calibri"/>
              </a:rPr>
              <a:t>Proverbs 1:7</a:t>
            </a:r>
          </a:p>
          <a:p>
            <a:pPr algn="l">
              <a:lnSpc>
                <a:spcPct val="110000"/>
              </a:lnSpc>
              <a:spcBef>
                <a:spcPts val="400"/>
              </a:spcBef>
              <a:spcAft>
                <a:spcPts val="0"/>
              </a:spcAft>
            </a:pPr>
            <a:r>
              <a:rPr sz="950" b="0" i="0" u="none">
                <a:solidFill>
                  <a:srgbClr val="4C566B"/>
                </a:solidFill>
                <a:latin typeface="Calibri"/>
              </a:rPr>
              <a:t>The ground of the theological research in the history and the philosophy.</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historical and the philosophical methods are the study of the development of the doctrine and the analysis of its concepts, in the honesty of the scholarship.</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Writing the Theological Thesis or Dissertation</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218</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writing of the theological thesis or dissertation is the application of the whole of the programme to the writing of the theological work. The thesis is to be written in the standard form of the introduction, the review of the literature, the statement of the method, the discussion of the question, and the conclusion. The writing is to be conducted with the honesty of the scholarship, the citation of the sources, the clarity of the argument, and the presentation of the result in the light of the word of God. The thesis is the public work of the theologian, and it is the ground of the completion of the programme. The doctrine of the writing of the thesis is the capstone of the programme and the ground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standard form: introduction, literature, method, discussion, conclusion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of the scholarship and the citation of the sources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thesis as the public work of the theologian</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capstone of the programme and the ground of the professional development</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2 Timothy 2:15</a:t>
            </a:r>
          </a:p>
          <a:p>
            <a:pPr algn="l">
              <a:lnSpc>
                <a:spcPct val="108000"/>
              </a:lnSpc>
              <a:spcBef>
                <a:spcPts val="0"/>
              </a:spcBef>
              <a:spcAft>
                <a:spcPts val="250"/>
              </a:spcAft>
            </a:pPr>
            <a:r>
              <a:rPr sz="1000" b="0" i="1" u="none">
                <a:solidFill>
                  <a:srgbClr val="232A38"/>
                </a:solidFill>
                <a:latin typeface="Calibri"/>
              </a:rPr>
              <a:t>Colossians 4:6</a:t>
            </a:r>
          </a:p>
          <a:p>
            <a:pPr algn="l">
              <a:lnSpc>
                <a:spcPct val="108000"/>
              </a:lnSpc>
              <a:spcBef>
                <a:spcPts val="0"/>
              </a:spcBef>
              <a:spcAft>
                <a:spcPts val="250"/>
              </a:spcAft>
            </a:pPr>
            <a:r>
              <a:rPr sz="1000" b="0" i="1" u="none">
                <a:solidFill>
                  <a:srgbClr val="232A38"/>
                </a:solidFill>
                <a:latin typeface="Calibri"/>
              </a:rPr>
              <a:t>1 Corinthians 14:40</a:t>
            </a:r>
          </a:p>
          <a:p>
            <a:pPr algn="l">
              <a:lnSpc>
                <a:spcPct val="108000"/>
              </a:lnSpc>
              <a:spcBef>
                <a:spcPts val="0"/>
              </a:spcBef>
              <a:spcAft>
                <a:spcPts val="250"/>
              </a:spcAft>
            </a:pPr>
            <a:r>
              <a:rPr sz="1000" b="0" i="1" u="none">
                <a:solidFill>
                  <a:srgbClr val="232A38"/>
                </a:solidFill>
                <a:latin typeface="Calibri"/>
              </a:rPr>
              <a:t>Proverbs 25:2</a:t>
            </a:r>
          </a:p>
          <a:p>
            <a:pPr algn="l">
              <a:lnSpc>
                <a:spcPct val="110000"/>
              </a:lnSpc>
              <a:spcBef>
                <a:spcPts val="400"/>
              </a:spcBef>
              <a:spcAft>
                <a:spcPts val="0"/>
              </a:spcAft>
            </a:pPr>
            <a:r>
              <a:rPr sz="950" b="0" i="0" u="none">
                <a:solidFill>
                  <a:srgbClr val="4C566B"/>
                </a:solidFill>
                <a:latin typeface="Calibri"/>
              </a:rPr>
              <a:t>The capstone of the programme and the public work of the theologian.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theological thesis is the application of the whole of the programme to the writing of the theological work, in the honesty of the scholarship and the light of the word of God.</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Academic Integrity and Research Ethics</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219</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Academic integrity and research ethics is the conduct of the theological research in the light of the honesty and the ethics of the scholarship. It includes the citation of the sources, the avoidance of the plagiarism, the honesty of the presentation of the data, the respect for the other scholars, and the care for the persons involved in the research. The academic integrity is the ground of the credibility of the theological research and of the witness of the theologian. The Christian researcher is to be the witness of the truth in the scholarship, and he is to conduct the research in the fear of the God and the love of the neighbour. The doctrine of the academic integrity is the ground of the theological research and of the professional development of the theologian.</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citation of the sources and the avoidance of the plagiarism</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honesty of the presentation of the data and the respect for the scholars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witness of the truth in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ground of the credibility of the theological research</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Proverbs 12:22</a:t>
            </a:r>
          </a:p>
          <a:p>
            <a:pPr algn="l">
              <a:lnSpc>
                <a:spcPct val="108000"/>
              </a:lnSpc>
              <a:spcBef>
                <a:spcPts val="0"/>
              </a:spcBef>
              <a:spcAft>
                <a:spcPts val="250"/>
              </a:spcAft>
            </a:pPr>
            <a:r>
              <a:rPr sz="1000" b="0" i="1" u="none">
                <a:solidFill>
                  <a:srgbClr val="232A38"/>
                </a:solidFill>
                <a:latin typeface="Calibri"/>
              </a:rPr>
              <a:t>Colossians 3:9</a:t>
            </a:r>
          </a:p>
          <a:p>
            <a:pPr algn="l">
              <a:lnSpc>
                <a:spcPct val="108000"/>
              </a:lnSpc>
              <a:spcBef>
                <a:spcPts val="0"/>
              </a:spcBef>
              <a:spcAft>
                <a:spcPts val="250"/>
              </a:spcAft>
            </a:pPr>
            <a:r>
              <a:rPr sz="1000" b="0" i="1" u="none">
                <a:solidFill>
                  <a:srgbClr val="232A38"/>
                </a:solidFill>
                <a:latin typeface="Calibri"/>
              </a:rPr>
              <a:t>Ephesians 4:25</a:t>
            </a:r>
          </a:p>
          <a:p>
            <a:pPr algn="l">
              <a:lnSpc>
                <a:spcPct val="108000"/>
              </a:lnSpc>
              <a:spcBef>
                <a:spcPts val="0"/>
              </a:spcBef>
              <a:spcAft>
                <a:spcPts val="250"/>
              </a:spcAft>
            </a:pPr>
            <a:r>
              <a:rPr sz="1000" b="0" i="1" u="none">
                <a:solidFill>
                  <a:srgbClr val="232A38"/>
                </a:solidFill>
                <a:latin typeface="Calibri"/>
              </a:rPr>
              <a:t>1 Peter 3:15-16</a:t>
            </a:r>
          </a:p>
          <a:p>
            <a:pPr algn="l">
              <a:lnSpc>
                <a:spcPct val="110000"/>
              </a:lnSpc>
              <a:spcBef>
                <a:spcPts val="400"/>
              </a:spcBef>
              <a:spcAft>
                <a:spcPts val="0"/>
              </a:spcAft>
            </a:pPr>
            <a:r>
              <a:rPr sz="950" b="0" i="0" u="none">
                <a:solidFill>
                  <a:srgbClr val="4C566B"/>
                </a:solidFill>
                <a:latin typeface="Calibri"/>
              </a:rPr>
              <a:t>The ground of the credibility of the theological research and of the witness of the theologian.</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Academic integrity and research ethics is the conduct of the research in the light of the honesty and the ethics of the scholarship, the witness of the truth.</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TextBox 1"/>
          <p:cNvSpPr txBox="1"/>
          <p:nvPr/>
        </p:nvSpPr>
        <p:spPr>
          <a:xfrm>
            <a:off x="822960" y="475488"/>
            <a:ext cx="914400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220">
                <a:solidFill>
                  <a:srgbClr val="A67F3B"/>
                </a:solidFill>
                <a:latin typeface="Calibri Light"/>
              </a:rPr>
              <a:t>MODULE 18  ·  LECTURE TOPIC</a:t>
            </a:r>
          </a:p>
        </p:txBody>
      </p:sp>
      <p:sp>
        <p:nvSpPr>
          <p:cNvPr id="3" name="TextBox 2"/>
          <p:cNvSpPr txBox="1"/>
          <p:nvPr/>
        </p:nvSpPr>
        <p:spPr>
          <a:xfrm>
            <a:off x="822960" y="768096"/>
            <a:ext cx="10149840" cy="749808"/>
          </a:xfrm>
          <a:prstGeom prst="rect">
            <a:avLst/>
          </a:prstGeom>
          <a:noFill/>
        </p:spPr>
        <p:txBody>
          <a:bodyPr wrap="square" anchor="t" lIns="0" rIns="0" tIns="0" bIns="0">
            <a:spAutoFit/>
          </a:bodyPr>
          <a:lstStyle/>
          <a:p>
            <a:pPr algn="l">
              <a:lnSpc>
                <a:spcPct val="102000"/>
              </a:lnSpc>
              <a:spcBef>
                <a:spcPts val="0"/>
              </a:spcBef>
              <a:spcAft>
                <a:spcPts val="0"/>
              </a:spcAft>
            </a:pPr>
            <a:r>
              <a:rPr sz="2300" b="1" i="0" u="none">
                <a:solidFill>
                  <a:srgbClr val="232A38"/>
                </a:solidFill>
                <a:latin typeface="Palatino Linotype"/>
              </a:rPr>
              <a:t>Presenting and Defending Theological Research</a:t>
            </a:r>
          </a:p>
        </p:txBody>
      </p:sp>
      <p:sp>
        <p:nvSpPr>
          <p:cNvPr id="4" name="Rectangle 3"/>
          <p:cNvSpPr/>
          <p:nvPr/>
        </p:nvSpPr>
        <p:spPr>
          <a:xfrm>
            <a:off x="11228832" y="502920"/>
            <a:ext cx="566928" cy="566928"/>
          </a:xfrm>
          <a:prstGeom prst="rect">
            <a:avLst/>
          </a:prstGeom>
          <a:solidFill>
            <a:srgbClr val="FBFAF4"/>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228832" y="502920"/>
            <a:ext cx="566928" cy="566928"/>
          </a:xfrm>
          <a:prstGeom prst="rect">
            <a:avLst/>
          </a:prstGeom>
          <a:noFill/>
        </p:spPr>
        <p:txBody>
          <a:bodyPr wrap="square" anchor="ctr" lIns="0" rIns="0" tIns="0" bIns="0">
            <a:spAutoFit/>
          </a:bodyPr>
          <a:lstStyle/>
          <a:p>
            <a:pPr algn="ctr">
              <a:lnSpc>
                <a:spcPct val="100000"/>
              </a:lnSpc>
              <a:spcBef>
                <a:spcPts val="0"/>
              </a:spcBef>
              <a:spcAft>
                <a:spcPts val="0"/>
              </a:spcAft>
            </a:pPr>
            <a:r>
              <a:rPr sz="1500" b="1" i="0" u="none">
                <a:solidFill>
                  <a:srgbClr val="77212E"/>
                </a:solidFill>
                <a:latin typeface="Palatino Linotype"/>
              </a:rPr>
              <a:t>220</a:t>
            </a:r>
          </a:p>
        </p:txBody>
      </p:sp>
      <p:cxnSp>
        <p:nvCxnSpPr>
          <p:cNvPr id="6" name="Connector 5"/>
          <p:cNvCxnSpPr/>
          <p:nvPr/>
        </p:nvCxnSpPr>
        <p:spPr>
          <a:xfrm>
            <a:off x="822960" y="1572768"/>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1810512"/>
            <a:ext cx="32004" cy="40416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78992" y="1847088"/>
            <a:ext cx="6446520" cy="4041648"/>
          </a:xfrm>
          <a:prstGeom prst="rect">
            <a:avLst/>
          </a:prstGeom>
          <a:noFill/>
        </p:spPr>
        <p:txBody>
          <a:bodyPr wrap="square" anchor="t" lIns="0" rIns="0" tIns="0" bIns="0">
            <a:spAutoFit/>
          </a:bodyPr>
          <a:lstStyle/>
          <a:p>
            <a:pPr algn="l">
              <a:lnSpc>
                <a:spcPct val="134000"/>
              </a:lnSpc>
              <a:spcBef>
                <a:spcPts val="0"/>
              </a:spcBef>
              <a:spcAft>
                <a:spcPts val="0"/>
              </a:spcAft>
            </a:pPr>
            <a:r>
              <a:rPr sz="1300" b="0" i="0" u="none">
                <a:solidFill>
                  <a:srgbClr val="232A38"/>
                </a:solidFill>
                <a:latin typeface="Palatino Linotype"/>
              </a:rPr>
              <a:t>The presenting and the defending of the theological research is the final stage of the research, and it is the public witness of the work of the theologian. The presentation is the exposition of the research to the examiners and the community of the scholarship, and the defence is the answering of the questions of the examiners in the light of the research and the word of God. The defence is to be conducted with the confidence of the faith and the humility of the scholarship, and it is the ground of the completion of the programme. The theologian who has defended the thesis is the one who is sent to the ministry of the word and the witness of the gospel, grounded in the Scripture, the tradition, and the scholarship. The doctrine of the presenting and the defending of the research is the capstone of the programme.</a:t>
            </a:r>
          </a:p>
        </p:txBody>
      </p:sp>
      <p:sp>
        <p:nvSpPr>
          <p:cNvPr id="9" name="Rectangle 8"/>
          <p:cNvSpPr/>
          <p:nvPr/>
        </p:nvSpPr>
        <p:spPr>
          <a:xfrm>
            <a:off x="7973568" y="1810512"/>
            <a:ext cx="3395167" cy="2066543"/>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7973568" y="1810512"/>
            <a:ext cx="3395167"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11312" y="1975104"/>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CONCEPTS</a:t>
            </a:r>
          </a:p>
        </p:txBody>
      </p:sp>
      <p:sp>
        <p:nvSpPr>
          <p:cNvPr id="12" name="TextBox 11"/>
          <p:cNvSpPr txBox="1"/>
          <p:nvPr/>
        </p:nvSpPr>
        <p:spPr>
          <a:xfrm>
            <a:off x="8211312" y="2286000"/>
            <a:ext cx="2937967" cy="1536192"/>
          </a:xfrm>
          <a:prstGeom prst="rect">
            <a:avLst/>
          </a:prstGeom>
          <a:noFill/>
        </p:spPr>
        <p:txBody>
          <a:bodyPr wrap="square" anchor="t" lIns="0" rIns="0" tIns="0" bIns="0">
            <a:spAutoFit/>
          </a:bodyPr>
          <a:lstStyle/>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presentation as the exposition of the research to the examiners</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defence as the answering of the questions in the light of the research</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confidence of the faith and the humility of the scholarship</a:t>
            </a:r>
          </a:p>
          <a:p>
            <a:pPr algn="l" marL="201600" indent="-201600">
              <a:lnSpc>
                <a:spcPct val="110000"/>
              </a:lnSpc>
              <a:spcBef>
                <a:spcPts val="0"/>
              </a:spcBef>
              <a:spcAft>
                <a:spcPts val="400"/>
              </a:spcAft>
              <a:buClr>
                <a:srgbClr val="A67F3B"/>
              </a:buClr>
              <a:buSzPct val="76000"/>
              <a:buFont typeface="Arial"/>
              <a:buChar char="—"/>
            </a:pPr>
            <a:r>
              <a:rPr sz="1000" b="0" i="0" u="none">
                <a:solidFill>
                  <a:srgbClr val="4C566B"/>
                </a:solidFill>
                <a:latin typeface="Calibri"/>
              </a:rPr>
              <a:t>The capstone of the programme and the sending to the ministry</a:t>
            </a:r>
          </a:p>
        </p:txBody>
      </p:sp>
      <p:sp>
        <p:nvSpPr>
          <p:cNvPr id="13" name="Rectangle 12"/>
          <p:cNvSpPr/>
          <p:nvPr/>
        </p:nvSpPr>
        <p:spPr>
          <a:xfrm>
            <a:off x="7973568" y="3968496"/>
            <a:ext cx="3395167" cy="201168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973568" y="3968496"/>
            <a:ext cx="3395167" cy="41148"/>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11312" y="4133087"/>
            <a:ext cx="2937967"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SCRIPTURE &amp; CONTEXT</a:t>
            </a:r>
          </a:p>
        </p:txBody>
      </p:sp>
      <p:sp>
        <p:nvSpPr>
          <p:cNvPr id="16" name="TextBox 15"/>
          <p:cNvSpPr txBox="1"/>
          <p:nvPr/>
        </p:nvSpPr>
        <p:spPr>
          <a:xfrm>
            <a:off x="8211312" y="4443984"/>
            <a:ext cx="2937967" cy="1463040"/>
          </a:xfrm>
          <a:prstGeom prst="rect">
            <a:avLst/>
          </a:prstGeom>
          <a:noFill/>
        </p:spPr>
        <p:txBody>
          <a:bodyPr wrap="square" anchor="t" lIns="0" rIns="0" tIns="0" bIns="0">
            <a:spAutoFit/>
          </a:bodyPr>
          <a:lstStyle/>
          <a:p>
            <a:pPr algn="l">
              <a:lnSpc>
                <a:spcPct val="108000"/>
              </a:lnSpc>
              <a:spcBef>
                <a:spcPts val="0"/>
              </a:spcBef>
              <a:spcAft>
                <a:spcPts val="250"/>
              </a:spcAft>
            </a:pPr>
            <a:r>
              <a:rPr sz="1000" b="0" i="1" u="none">
                <a:solidFill>
                  <a:srgbClr val="232A38"/>
                </a:solidFill>
                <a:latin typeface="Calibri"/>
              </a:rPr>
              <a:t>1 Peter 3:15</a:t>
            </a:r>
          </a:p>
          <a:p>
            <a:pPr algn="l">
              <a:lnSpc>
                <a:spcPct val="108000"/>
              </a:lnSpc>
              <a:spcBef>
                <a:spcPts val="0"/>
              </a:spcBef>
              <a:spcAft>
                <a:spcPts val="250"/>
              </a:spcAft>
            </a:pPr>
            <a:r>
              <a:rPr sz="1000" b="0" i="1" u="none">
                <a:solidFill>
                  <a:srgbClr val="232A38"/>
                </a:solidFill>
                <a:latin typeface="Calibri"/>
              </a:rPr>
              <a:t>2 Timothy 2:24-26</a:t>
            </a:r>
          </a:p>
          <a:p>
            <a:pPr algn="l">
              <a:lnSpc>
                <a:spcPct val="108000"/>
              </a:lnSpc>
              <a:spcBef>
                <a:spcPts val="0"/>
              </a:spcBef>
              <a:spcAft>
                <a:spcPts val="250"/>
              </a:spcAft>
            </a:pPr>
            <a:r>
              <a:rPr sz="1000" b="0" i="1" u="none">
                <a:solidFill>
                  <a:srgbClr val="232A38"/>
                </a:solidFill>
                <a:latin typeface="Calibri"/>
              </a:rPr>
              <a:t>Colossians 4:5-6</a:t>
            </a:r>
          </a:p>
          <a:p>
            <a:pPr algn="l">
              <a:lnSpc>
                <a:spcPct val="108000"/>
              </a:lnSpc>
              <a:spcBef>
                <a:spcPts val="0"/>
              </a:spcBef>
              <a:spcAft>
                <a:spcPts val="250"/>
              </a:spcAft>
            </a:pPr>
            <a:r>
              <a:rPr sz="1000" b="0" i="1" u="none">
                <a:solidFill>
                  <a:srgbClr val="232A38"/>
                </a:solidFill>
                <a:latin typeface="Calibri"/>
              </a:rPr>
              <a:t>Proverbs 15:1</a:t>
            </a:r>
          </a:p>
          <a:p>
            <a:pPr algn="l">
              <a:lnSpc>
                <a:spcPct val="110000"/>
              </a:lnSpc>
              <a:spcBef>
                <a:spcPts val="400"/>
              </a:spcBef>
              <a:spcAft>
                <a:spcPts val="0"/>
              </a:spcAft>
            </a:pPr>
            <a:r>
              <a:rPr sz="950" b="0" i="0" u="none">
                <a:solidFill>
                  <a:srgbClr val="4C566B"/>
                </a:solidFill>
                <a:latin typeface="Calibri"/>
              </a:rPr>
              <a:t>The capstone of the programme and the sending of the theologian to the ministry of the word.</a:t>
            </a:r>
          </a:p>
        </p:txBody>
      </p:sp>
      <p:sp>
        <p:nvSpPr>
          <p:cNvPr id="17" name="Rectangle 16"/>
          <p:cNvSpPr/>
          <p:nvPr/>
        </p:nvSpPr>
        <p:spPr>
          <a:xfrm>
            <a:off x="822960" y="6053328"/>
            <a:ext cx="10545775" cy="18288"/>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8680" y="6236208"/>
            <a:ext cx="12344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200">
                <a:solidFill>
                  <a:srgbClr val="77212E"/>
                </a:solidFill>
                <a:latin typeface="Calibri Light"/>
              </a:rPr>
              <a:t>TAKEAWAY</a:t>
            </a:r>
          </a:p>
        </p:txBody>
      </p:sp>
      <p:sp>
        <p:nvSpPr>
          <p:cNvPr id="19" name="TextBox 18"/>
          <p:cNvSpPr txBox="1"/>
          <p:nvPr/>
        </p:nvSpPr>
        <p:spPr>
          <a:xfrm>
            <a:off x="2194560" y="6208776"/>
            <a:ext cx="9082735" cy="384048"/>
          </a:xfrm>
          <a:prstGeom prst="rect">
            <a:avLst/>
          </a:prstGeom>
          <a:noFill/>
        </p:spPr>
        <p:txBody>
          <a:bodyPr wrap="square" anchor="t" lIns="0" rIns="0" tIns="0" bIns="0">
            <a:spAutoFit/>
          </a:bodyPr>
          <a:lstStyle/>
          <a:p>
            <a:pPr algn="l">
              <a:lnSpc>
                <a:spcPct val="105000"/>
              </a:lnSpc>
              <a:spcBef>
                <a:spcPts val="0"/>
              </a:spcBef>
              <a:spcAft>
                <a:spcPts val="0"/>
              </a:spcAft>
            </a:pPr>
            <a:r>
              <a:rPr sz="1150" b="1" i="0" u="none">
                <a:solidFill>
                  <a:srgbClr val="232A38"/>
                </a:solidFill>
                <a:latin typeface="Calibri"/>
              </a:rPr>
              <a:t>The presenting and the defending of the theological research is the public witness of the work of the theologian, and the capstone of the programme.</a:t>
            </a:r>
          </a:p>
        </p:txBody>
      </p:sp>
      <p:sp>
        <p:nvSpPr>
          <p:cNvPr id="20" name="Rectangle 19"/>
          <p:cNvSpPr/>
          <p:nvPr/>
        </p:nvSpPr>
        <p:spPr>
          <a:xfrm>
            <a:off x="82296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955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21615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41274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60934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80594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0253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19913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239572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2592324"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78892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985515"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182112"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3378708"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3575303"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3771900"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3968496"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165091" y="656539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13232"/>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40">
                <a:solidFill>
                  <a:srgbClr val="E6D3A3"/>
                </a:solidFill>
                <a:latin typeface="Calibri Light"/>
              </a:rPr>
              <a:t>MODULE 18  ·  ADVANCED THEOLOGICAL RESEARCH</a:t>
            </a:r>
          </a:p>
        </p:txBody>
      </p:sp>
      <p:sp>
        <p:nvSpPr>
          <p:cNvPr id="5" name="TextBox 4"/>
          <p:cNvSpPr txBox="1"/>
          <p:nvPr/>
        </p:nvSpPr>
        <p:spPr>
          <a:xfrm>
            <a:off x="822960" y="1024128"/>
            <a:ext cx="10607040" cy="640080"/>
          </a:xfrm>
          <a:prstGeom prst="rect">
            <a:avLst/>
          </a:prstGeom>
          <a:noFill/>
        </p:spPr>
        <p:txBody>
          <a:bodyPr wrap="square" anchor="t" lIns="0" rIns="0" tIns="0" bIns="0">
            <a:spAutoFit/>
          </a:bodyPr>
          <a:lstStyle/>
          <a:p>
            <a:pPr algn="l">
              <a:lnSpc>
                <a:spcPct val="100000"/>
              </a:lnSpc>
              <a:spcBef>
                <a:spcPts val="0"/>
              </a:spcBef>
              <a:spcAft>
                <a:spcPts val="0"/>
              </a:spcAft>
            </a:pPr>
            <a:r>
              <a:rPr sz="2400" b="1" i="0" u="none">
                <a:solidFill>
                  <a:srgbClr val="FFFFFF"/>
                </a:solidFill>
                <a:latin typeface="Palatino Linotype"/>
              </a:rPr>
              <a:t>The Process of Advanced Theological Research</a:t>
            </a:r>
          </a:p>
        </p:txBody>
      </p:sp>
      <p:cxnSp>
        <p:nvCxnSpPr>
          <p:cNvPr id="6" name="Connector 5"/>
          <p:cNvCxnSpPr/>
          <p:nvPr/>
        </p:nvCxnSpPr>
        <p:spPr>
          <a:xfrm>
            <a:off x="822960" y="1700784"/>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22960"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24128" y="2395728"/>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RESEARCH PROBLEM</a:t>
            </a:r>
          </a:p>
          <a:p>
            <a:pPr algn="l">
              <a:lnSpc>
                <a:spcPct val="110000"/>
              </a:lnSpc>
              <a:spcBef>
                <a:spcPts val="0"/>
              </a:spcBef>
              <a:spcAft>
                <a:spcPts val="0"/>
              </a:spcAft>
            </a:pPr>
            <a:r>
              <a:rPr sz="919" b="0" i="0" u="none">
                <a:solidFill>
                  <a:srgbClr val="C9CDD6"/>
                </a:solidFill>
                <a:latin typeface="Calibri"/>
              </a:rPr>
              <a:t>identify and frame a live theological question</a:t>
            </a:r>
          </a:p>
        </p:txBody>
      </p:sp>
      <p:cxnSp>
        <p:nvCxnSpPr>
          <p:cNvPr id="10" name="Connector 9"/>
          <p:cNvCxnSpPr/>
          <p:nvPr/>
        </p:nvCxnSpPr>
        <p:spPr>
          <a:xfrm>
            <a:off x="3511296" y="2770632"/>
            <a:ext cx="310895" cy="0"/>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858768"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3858768"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059935" y="2395728"/>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LITERATURE REVIEW</a:t>
            </a:r>
          </a:p>
          <a:p>
            <a:pPr algn="l">
              <a:lnSpc>
                <a:spcPct val="110000"/>
              </a:lnSpc>
              <a:spcBef>
                <a:spcPts val="0"/>
              </a:spcBef>
              <a:spcAft>
                <a:spcPts val="0"/>
              </a:spcAft>
            </a:pPr>
            <a:r>
              <a:rPr sz="919" b="0" i="0" u="none">
                <a:solidFill>
                  <a:srgbClr val="C9CDD6"/>
                </a:solidFill>
                <a:latin typeface="Calibri"/>
              </a:rPr>
              <a:t>map the field: Scripture, church, academy</a:t>
            </a:r>
          </a:p>
        </p:txBody>
      </p:sp>
      <p:cxnSp>
        <p:nvCxnSpPr>
          <p:cNvPr id="14" name="Connector 13"/>
          <p:cNvCxnSpPr/>
          <p:nvPr/>
        </p:nvCxnSpPr>
        <p:spPr>
          <a:xfrm>
            <a:off x="6547103" y="2770632"/>
            <a:ext cx="310896" cy="0"/>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894576"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894576"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095744" y="2395728"/>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THEORETICAL FRAMEWORK</a:t>
            </a:r>
          </a:p>
          <a:p>
            <a:pPr algn="l">
              <a:lnSpc>
                <a:spcPct val="110000"/>
              </a:lnSpc>
              <a:spcBef>
                <a:spcPts val="0"/>
              </a:spcBef>
              <a:spcAft>
                <a:spcPts val="0"/>
              </a:spcAft>
            </a:pPr>
            <a:r>
              <a:rPr sz="919" b="0" i="0" u="none">
                <a:solidFill>
                  <a:srgbClr val="C9CDD6"/>
                </a:solidFill>
                <a:latin typeface="Calibri"/>
              </a:rPr>
              <a:t>define doctrine, method and assumptions</a:t>
            </a:r>
          </a:p>
        </p:txBody>
      </p:sp>
      <p:cxnSp>
        <p:nvCxnSpPr>
          <p:cNvPr id="18" name="Connector 17"/>
          <p:cNvCxnSpPr/>
          <p:nvPr/>
        </p:nvCxnSpPr>
        <p:spPr>
          <a:xfrm>
            <a:off x="9582911" y="2770632"/>
            <a:ext cx="310897" cy="0"/>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930384" y="2286000"/>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9930384" y="2286000"/>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131552" y="2395728"/>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METHODOLOGY</a:t>
            </a:r>
          </a:p>
          <a:p>
            <a:pPr algn="l">
              <a:lnSpc>
                <a:spcPct val="110000"/>
              </a:lnSpc>
              <a:spcBef>
                <a:spcPts val="0"/>
              </a:spcBef>
              <a:spcAft>
                <a:spcPts val="0"/>
              </a:spcAft>
            </a:pPr>
            <a:r>
              <a:rPr sz="919" b="0" i="0" u="none">
                <a:solidFill>
                  <a:srgbClr val="C9CDD6"/>
                </a:solidFill>
                <a:latin typeface="Calibri"/>
              </a:rPr>
              <a:t>exegesis, history, philosophy or empirical study</a:t>
            </a:r>
          </a:p>
        </p:txBody>
      </p:sp>
      <p:cxnSp>
        <p:nvCxnSpPr>
          <p:cNvPr id="22" name="Connector 21"/>
          <p:cNvCxnSpPr/>
          <p:nvPr/>
        </p:nvCxnSpPr>
        <p:spPr>
          <a:xfrm>
            <a:off x="11256263" y="3310128"/>
            <a:ext cx="0" cy="713232"/>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822960" y="4078224"/>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22960" y="4078224"/>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24128" y="4187952"/>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ANALYSIS &amp; ARGUMENT</a:t>
            </a:r>
          </a:p>
          <a:p>
            <a:pPr algn="l">
              <a:lnSpc>
                <a:spcPct val="110000"/>
              </a:lnSpc>
              <a:spcBef>
                <a:spcPts val="0"/>
              </a:spcBef>
              <a:spcAft>
                <a:spcPts val="0"/>
              </a:spcAft>
            </a:pPr>
            <a:r>
              <a:rPr sz="919" b="0" i="0" u="none">
                <a:solidFill>
                  <a:srgbClr val="C9CDD6"/>
                </a:solidFill>
                <a:latin typeface="Calibri"/>
              </a:rPr>
              <a:t>weigh evidence; construct the thesis</a:t>
            </a:r>
          </a:p>
        </p:txBody>
      </p:sp>
      <p:cxnSp>
        <p:nvCxnSpPr>
          <p:cNvPr id="26" name="Connector 25"/>
          <p:cNvCxnSpPr/>
          <p:nvPr/>
        </p:nvCxnSpPr>
        <p:spPr>
          <a:xfrm>
            <a:off x="3511296" y="4562856"/>
            <a:ext cx="310895" cy="0"/>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858768" y="4078224"/>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858768" y="4078224"/>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059935" y="4187952"/>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DRAFT &amp; REVISION</a:t>
            </a:r>
          </a:p>
          <a:p>
            <a:pPr algn="l">
              <a:lnSpc>
                <a:spcPct val="110000"/>
              </a:lnSpc>
              <a:spcBef>
                <a:spcPts val="0"/>
              </a:spcBef>
              <a:spcAft>
                <a:spcPts val="0"/>
              </a:spcAft>
            </a:pPr>
            <a:r>
              <a:rPr sz="919" b="0" i="0" u="none">
                <a:solidFill>
                  <a:srgbClr val="C9CDD6"/>
                </a:solidFill>
                <a:latin typeface="Calibri"/>
              </a:rPr>
              <a:t>write, critique, refine through dialogue</a:t>
            </a:r>
          </a:p>
        </p:txBody>
      </p:sp>
      <p:cxnSp>
        <p:nvCxnSpPr>
          <p:cNvPr id="30" name="Connector 29"/>
          <p:cNvCxnSpPr/>
          <p:nvPr/>
        </p:nvCxnSpPr>
        <p:spPr>
          <a:xfrm>
            <a:off x="6547103" y="4562856"/>
            <a:ext cx="310896" cy="0"/>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894576" y="4078224"/>
            <a:ext cx="2651760" cy="969264"/>
          </a:xfrm>
          <a:prstGeom prst="rect">
            <a:avLst/>
          </a:prstGeom>
          <a:solidFill>
            <a:srgbClr val="1B3A66"/>
          </a:solidFill>
          <a:ln w="1270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894576" y="4078224"/>
            <a:ext cx="41148" cy="96926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095744" y="4187952"/>
            <a:ext cx="2286000" cy="786384"/>
          </a:xfrm>
          <a:prstGeom prst="rect">
            <a:avLst/>
          </a:prstGeom>
          <a:noFill/>
        </p:spPr>
        <p:txBody>
          <a:bodyPr wrap="square" anchor="t" lIns="0" rIns="0" tIns="0" bIns="0">
            <a:spAutoFit/>
          </a:bodyPr>
          <a:lstStyle/>
          <a:p>
            <a:pPr algn="l">
              <a:lnSpc>
                <a:spcPct val="100000"/>
              </a:lnSpc>
              <a:spcBef>
                <a:spcPts val="0"/>
              </a:spcBef>
              <a:spcAft>
                <a:spcPts val="200"/>
              </a:spcAft>
            </a:pPr>
            <a:r>
              <a:rPr sz="1050" b="1" i="0" u="none" spc="80">
                <a:solidFill>
                  <a:srgbClr val="E6D3A3"/>
                </a:solidFill>
                <a:latin typeface="Calibri Light"/>
              </a:rPr>
              <a:t>DEFENCE &amp; PUBLICATION</a:t>
            </a:r>
          </a:p>
          <a:p>
            <a:pPr algn="l">
              <a:lnSpc>
                <a:spcPct val="110000"/>
              </a:lnSpc>
              <a:spcBef>
                <a:spcPts val="0"/>
              </a:spcBef>
              <a:spcAft>
                <a:spcPts val="0"/>
              </a:spcAft>
            </a:pPr>
            <a:r>
              <a:rPr sz="919" b="0" i="0" u="none">
                <a:solidFill>
                  <a:srgbClr val="C9CDD6"/>
                </a:solidFill>
                <a:latin typeface="Calibri"/>
              </a:rPr>
              <a:t>present the work to the academic community</a:t>
            </a:r>
          </a:p>
        </p:txBody>
      </p:sp>
      <p:cxnSp>
        <p:nvCxnSpPr>
          <p:cNvPr id="34" name="Connector 33"/>
          <p:cNvCxnSpPr/>
          <p:nvPr/>
        </p:nvCxnSpPr>
        <p:spPr>
          <a:xfrm>
            <a:off x="9582911" y="4562856"/>
            <a:ext cx="310897" cy="0"/>
          </a:xfrm>
          <a:prstGeom prst="line">
            <a:avLst/>
          </a:prstGeom>
          <a:ln w="19050">
            <a:solidFill>
              <a:srgbClr val="C9A45C"/>
            </a:solidFill>
            <a:headEnd type="arrow"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148840" y="5157216"/>
            <a:ext cx="6071616" cy="0"/>
          </a:xfrm>
          <a:prstGeom prst="line">
            <a:avLst/>
          </a:prstGeom>
          <a:ln w="12700">
            <a:solidFill>
              <a:srgbClr val="A67F3B"/>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148840" y="3310128"/>
            <a:ext cx="0" cy="1847088"/>
          </a:xfrm>
          <a:prstGeom prst="line">
            <a:avLst/>
          </a:prstGeom>
          <a:ln w="12700">
            <a:solidFill>
              <a:srgbClr val="A67F3B"/>
            </a:solidFill>
            <a:prstDash val="dash"/>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331720" y="5065775"/>
            <a:ext cx="4206240"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1" u="none">
                <a:solidFill>
                  <a:srgbClr val="9AA5BC"/>
                </a:solidFill>
                <a:latin typeface="Palatino Linotype"/>
              </a:rPr>
              <a:t>revision loop: findings refine the research question</a:t>
            </a:r>
          </a:p>
        </p:txBody>
      </p:sp>
      <p:sp>
        <p:nvSpPr>
          <p:cNvPr id="38" name="Rectangle 37"/>
          <p:cNvSpPr/>
          <p:nvPr/>
        </p:nvSpPr>
        <p:spPr>
          <a:xfrm>
            <a:off x="82296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01955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21615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141274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160934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180594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200253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219913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239572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2592324"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278892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2985515"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3182112"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378708"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3575303"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3771900"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3968496"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Rectangle 54"/>
          <p:cNvSpPr/>
          <p:nvPr/>
        </p:nvSpPr>
        <p:spPr>
          <a:xfrm>
            <a:off x="4165091" y="6382512"/>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566928"/>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20">
                <a:solidFill>
                  <a:srgbClr val="A67F3B"/>
                </a:solidFill>
                <a:latin typeface="Calibri Light"/>
              </a:rPr>
              <a:t>MODULE 18  ·  SUMMARY</a:t>
            </a:r>
          </a:p>
        </p:txBody>
      </p:sp>
      <p:sp>
        <p:nvSpPr>
          <p:cNvPr id="4" name="TextBox 3"/>
          <p:cNvSpPr txBox="1"/>
          <p:nvPr/>
        </p:nvSpPr>
        <p:spPr>
          <a:xfrm>
            <a:off x="822960" y="877824"/>
            <a:ext cx="10515600"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Consolidating Advanced Theological Research</a:t>
            </a:r>
          </a:p>
        </p:txBody>
      </p:sp>
      <p:cxnSp>
        <p:nvCxnSpPr>
          <p:cNvPr id="5" name="Connector 4"/>
          <p:cNvCxnSpPr/>
          <p:nvPr/>
        </p:nvCxnSpPr>
        <p:spPr>
          <a:xfrm>
            <a:off x="822960" y="1591056"/>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1874519"/>
            <a:ext cx="585216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MAJOR THEOLOGICAL IDEAS</a:t>
            </a:r>
          </a:p>
        </p:txBody>
      </p:sp>
      <p:sp>
        <p:nvSpPr>
          <p:cNvPr id="7" name="TextBox 6"/>
          <p:cNvSpPr txBox="1"/>
          <p:nvPr/>
        </p:nvSpPr>
        <p:spPr>
          <a:xfrm>
            <a:off x="822960" y="2212848"/>
            <a:ext cx="5897880" cy="3840480"/>
          </a:xfrm>
          <a:prstGeom prst="rect">
            <a:avLst/>
          </a:prstGeom>
          <a:noFill/>
        </p:spPr>
        <p:txBody>
          <a:bodyPr wrap="square" anchor="t" lIns="0" rIns="0" tIns="0" bIns="0">
            <a:spAutoFit/>
          </a:bodyPr>
          <a:lstStyle/>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Theological research is the systematic study of the questions of the faith in the light of the word of God and the method of the scholarship.</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research process moves from the question to the defence, grounded in the primary sources and informed by the secondary sources.</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biblical, the historical, and the philosophical methods are the tools of the research, conducted in the honesty of the scholarship and the discernment of the faith.</a:t>
            </a:r>
          </a:p>
          <a:p>
            <a:pPr algn="l" marL="201600" indent="-201600">
              <a:lnSpc>
                <a:spcPct val="120000"/>
              </a:lnSpc>
              <a:spcBef>
                <a:spcPts val="0"/>
              </a:spcBef>
              <a:spcAft>
                <a:spcPts val="700"/>
              </a:spcAft>
              <a:buClr>
                <a:srgbClr val="A67F3B"/>
              </a:buClr>
              <a:buSzPct val="76000"/>
              <a:buFont typeface="Arial"/>
              <a:buChar char="—"/>
            </a:pPr>
            <a:r>
              <a:rPr sz="1150" b="0" i="0" u="none">
                <a:solidFill>
                  <a:srgbClr val="232A38"/>
                </a:solidFill>
                <a:latin typeface="Calibri"/>
              </a:rPr>
              <a:t>The thesis and its defence are the public work of the theologian, the capstone of the programme and the sending to the ministry of the word.</a:t>
            </a:r>
          </a:p>
        </p:txBody>
      </p:sp>
      <p:sp>
        <p:nvSpPr>
          <p:cNvPr id="8" name="Rectangle 7"/>
          <p:cNvSpPr/>
          <p:nvPr/>
        </p:nvSpPr>
        <p:spPr>
          <a:xfrm>
            <a:off x="7360920" y="1874519"/>
            <a:ext cx="4007815" cy="2148840"/>
          </a:xfrm>
          <a:prstGeom prst="rect">
            <a:avLst/>
          </a:prstGeom>
          <a:solidFill>
            <a:srgbClr val="FBFAF4"/>
          </a:solidFill>
          <a:ln w="9525">
            <a:solidFill>
              <a:srgbClr val="D6D3C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7360920" y="1874519"/>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98664" y="2066543"/>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77212E"/>
                </a:solidFill>
                <a:latin typeface="Calibri Light"/>
              </a:rPr>
              <a:t>KEY CONNECTIONS</a:t>
            </a:r>
          </a:p>
        </p:txBody>
      </p:sp>
      <p:sp>
        <p:nvSpPr>
          <p:cNvPr id="11" name="TextBox 10"/>
          <p:cNvSpPr txBox="1"/>
          <p:nvPr/>
        </p:nvSpPr>
        <p:spPr>
          <a:xfrm>
            <a:off x="7598664" y="2395728"/>
            <a:ext cx="3550615" cy="1463040"/>
          </a:xfrm>
          <a:prstGeom prst="rect">
            <a:avLst/>
          </a:prstGeom>
          <a:noFill/>
        </p:spPr>
        <p:txBody>
          <a:bodyPr wrap="square" anchor="t" lIns="0" rIns="0" tIns="0" bIns="0">
            <a:spAutoFit/>
          </a:bodyPr>
          <a:lstStyle/>
          <a:p>
            <a:pPr algn="l">
              <a:lnSpc>
                <a:spcPct val="125000"/>
              </a:lnSpc>
              <a:spcBef>
                <a:spcPts val="0"/>
              </a:spcBef>
              <a:spcAft>
                <a:spcPts val="0"/>
              </a:spcAft>
            </a:pPr>
            <a:r>
              <a:rPr sz="1100" b="0" i="0" u="none">
                <a:solidFill>
                  <a:srgbClr val="4C566B"/>
                </a:solidFill>
                <a:latin typeface="Calibri"/>
              </a:rPr>
              <a:t>The doctrine of the advanced theological research is the capstone of the programme; it flows from the whole of the programme and is the ground of the professional development of the theologian and of his ministry in the Church and the world.</a:t>
            </a:r>
          </a:p>
        </p:txBody>
      </p:sp>
      <p:sp>
        <p:nvSpPr>
          <p:cNvPr id="12" name="Rectangle 11"/>
          <p:cNvSpPr/>
          <p:nvPr/>
        </p:nvSpPr>
        <p:spPr>
          <a:xfrm>
            <a:off x="7360920" y="4224528"/>
            <a:ext cx="4007815" cy="1828800"/>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7360920" y="4224528"/>
            <a:ext cx="4007815"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598664" y="4425696"/>
            <a:ext cx="3550615" cy="274320"/>
          </a:xfrm>
          <a:prstGeom prst="rect">
            <a:avLst/>
          </a:prstGeom>
          <a:noFill/>
        </p:spPr>
        <p:txBody>
          <a:bodyPr wrap="square" anchor="t" lIns="0" rIns="0" tIns="0" bIns="0">
            <a:spAutoFit/>
          </a:bodyPr>
          <a:lstStyle/>
          <a:p>
            <a:pPr algn="l">
              <a:lnSpc>
                <a:spcPct val="100000"/>
              </a:lnSpc>
              <a:spcBef>
                <a:spcPts val="0"/>
              </a:spcBef>
              <a:spcAft>
                <a:spcPts val="0"/>
              </a:spcAft>
            </a:pPr>
            <a:r>
              <a:rPr sz="900" b="1" i="0" u="none" spc="180">
                <a:solidFill>
                  <a:srgbClr val="E6D3A3"/>
                </a:solidFill>
                <a:latin typeface="Calibri Light"/>
              </a:rPr>
              <a:t>ACADEMIC PROGRESSION</a:t>
            </a:r>
          </a:p>
        </p:txBody>
      </p:sp>
      <p:sp>
        <p:nvSpPr>
          <p:cNvPr id="15" name="TextBox 14"/>
          <p:cNvSpPr txBox="1"/>
          <p:nvPr/>
        </p:nvSpPr>
        <p:spPr>
          <a:xfrm>
            <a:off x="7598664" y="4700016"/>
            <a:ext cx="3532327" cy="841248"/>
          </a:xfrm>
          <a:prstGeom prst="rect">
            <a:avLst/>
          </a:prstGeom>
          <a:noFill/>
        </p:spPr>
        <p:txBody>
          <a:bodyPr wrap="square" anchor="t" lIns="0" rIns="0" tIns="0" bIns="0">
            <a:spAutoFit/>
          </a:bodyPr>
          <a:lstStyle/>
          <a:p>
            <a:pPr algn="l">
              <a:lnSpc>
                <a:spcPct val="120000"/>
              </a:lnSpc>
              <a:spcBef>
                <a:spcPts val="0"/>
              </a:spcBef>
              <a:spcAft>
                <a:spcPts val="0"/>
              </a:spcAft>
            </a:pPr>
            <a:r>
              <a:rPr sz="1060" b="0" i="0" u="none">
                <a:solidFill>
                  <a:srgbClr val="F4EFE3"/>
                </a:solidFill>
                <a:latin typeface="Calibri"/>
              </a:rPr>
              <a:t>The programme reaches its completion in the advanced theological research, and the theologian is sent to the ministry of the word and the witness of the gospel in the Church and the world.</a:t>
            </a:r>
          </a:p>
        </p:txBody>
      </p:sp>
      <p:sp>
        <p:nvSpPr>
          <p:cNvPr id="16" name="Rectangle 15"/>
          <p:cNvSpPr/>
          <p:nvPr/>
        </p:nvSpPr>
        <p:spPr>
          <a:xfrm>
            <a:off x="82296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1955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21615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41274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60934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80594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200253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219913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39572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2592324"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78892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2985515"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3182112"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378708"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3575303"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771900"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3968496"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165091" y="6473952"/>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77240"/>
            <a:ext cx="10545775" cy="32004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20">
                <a:solidFill>
                  <a:srgbClr val="E6D3A3"/>
                </a:solidFill>
                <a:latin typeface="Calibri Light"/>
              </a:rPr>
              <a:t>COURSE CONCLUSION</a:t>
            </a:r>
          </a:p>
        </p:txBody>
      </p:sp>
      <p:sp>
        <p:nvSpPr>
          <p:cNvPr id="5" name="TextBox 4"/>
          <p:cNvSpPr txBox="1"/>
          <p:nvPr/>
        </p:nvSpPr>
        <p:spPr>
          <a:xfrm>
            <a:off x="822960" y="1143000"/>
            <a:ext cx="10545775"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FFFFFF"/>
                </a:solidFill>
                <a:latin typeface="Palatino Linotype"/>
              </a:rPr>
              <a:t>Comprehensive Review of the Theological Curriculum</a:t>
            </a:r>
          </a:p>
        </p:txBody>
      </p:sp>
      <p:cxnSp>
        <p:nvCxnSpPr>
          <p:cNvPr id="6" name="Connector 5"/>
          <p:cNvCxnSpPr/>
          <p:nvPr/>
        </p:nvCxnSpPr>
        <p:spPr>
          <a:xfrm>
            <a:off x="822960" y="1874519"/>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22960"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FOUNDATIONS</a:t>
            </a:r>
          </a:p>
        </p:txBody>
      </p:sp>
      <p:sp>
        <p:nvSpPr>
          <p:cNvPr id="10" name="TextBox 9"/>
          <p:cNvSpPr txBox="1"/>
          <p:nvPr/>
        </p:nvSpPr>
        <p:spPr>
          <a:xfrm>
            <a:off x="1051560"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The nature and sources of theology; the formation, inspiration and authority of the Bible.</a:t>
            </a:r>
          </a:p>
        </p:txBody>
      </p:sp>
      <p:sp>
        <p:nvSpPr>
          <p:cNvPr id="11" name="TextBox 10"/>
          <p:cNvSpPr txBox="1"/>
          <p:nvPr/>
        </p:nvSpPr>
        <p:spPr>
          <a:xfrm>
            <a:off x="1051560"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1–2</a:t>
            </a:r>
          </a:p>
        </p:txBody>
      </p:sp>
      <p:sp>
        <p:nvSpPr>
          <p:cNvPr id="12" name="Rectangle 11"/>
          <p:cNvSpPr/>
          <p:nvPr/>
        </p:nvSpPr>
        <p:spPr>
          <a:xfrm>
            <a:off x="2996123"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996123"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224723"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SYSTEMATIC DOCTRINES</a:t>
            </a:r>
          </a:p>
        </p:txBody>
      </p:sp>
      <p:sp>
        <p:nvSpPr>
          <p:cNvPr id="15" name="TextBox 14"/>
          <p:cNvSpPr txBox="1"/>
          <p:nvPr/>
        </p:nvSpPr>
        <p:spPr>
          <a:xfrm>
            <a:off x="3224723"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God and the Trinity, creation and providence, humanity and sin, the Spirit, Christ, salvation, the Church, last things.</a:t>
            </a:r>
          </a:p>
        </p:txBody>
      </p:sp>
      <p:sp>
        <p:nvSpPr>
          <p:cNvPr id="16" name="TextBox 15"/>
          <p:cNvSpPr txBox="1"/>
          <p:nvPr/>
        </p:nvSpPr>
        <p:spPr>
          <a:xfrm>
            <a:off x="3224723"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3–10</a:t>
            </a:r>
          </a:p>
        </p:txBody>
      </p:sp>
      <p:sp>
        <p:nvSpPr>
          <p:cNvPr id="17" name="Rectangle 16"/>
          <p:cNvSpPr/>
          <p:nvPr/>
        </p:nvSpPr>
        <p:spPr>
          <a:xfrm>
            <a:off x="5169286"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169286"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97886"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THE CHRISTIAN LIFE</a:t>
            </a:r>
          </a:p>
        </p:txBody>
      </p:sp>
      <p:sp>
        <p:nvSpPr>
          <p:cNvPr id="20" name="TextBox 19"/>
          <p:cNvSpPr txBox="1"/>
          <p:nvPr/>
        </p:nvSpPr>
        <p:spPr>
          <a:xfrm>
            <a:off x="5397886"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Spiritual formation and ethics, the mission of the Church, the theology of the contemporary world.</a:t>
            </a:r>
          </a:p>
        </p:txBody>
      </p:sp>
      <p:sp>
        <p:nvSpPr>
          <p:cNvPr id="21" name="TextBox 20"/>
          <p:cNvSpPr txBox="1"/>
          <p:nvPr/>
        </p:nvSpPr>
        <p:spPr>
          <a:xfrm>
            <a:off x="5397886"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11–14</a:t>
            </a:r>
          </a:p>
        </p:txBody>
      </p:sp>
      <p:sp>
        <p:nvSpPr>
          <p:cNvPr id="22" name="Rectangle 21"/>
          <p:cNvSpPr/>
          <p:nvPr/>
        </p:nvSpPr>
        <p:spPr>
          <a:xfrm>
            <a:off x="7342449"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342449"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571049"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HISTORY &amp; CONTEXT</a:t>
            </a:r>
          </a:p>
        </p:txBody>
      </p:sp>
      <p:sp>
        <p:nvSpPr>
          <p:cNvPr id="25" name="TextBox 24"/>
          <p:cNvSpPr txBox="1"/>
          <p:nvPr/>
        </p:nvSpPr>
        <p:spPr>
          <a:xfrm>
            <a:off x="7571049"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The development of the faith across two millennia; the church in society and culture.</a:t>
            </a:r>
          </a:p>
        </p:txBody>
      </p:sp>
      <p:sp>
        <p:nvSpPr>
          <p:cNvPr id="26" name="TextBox 25"/>
          <p:cNvSpPr txBox="1"/>
          <p:nvPr/>
        </p:nvSpPr>
        <p:spPr>
          <a:xfrm>
            <a:off x="7571049"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 15</a:t>
            </a:r>
          </a:p>
        </p:txBody>
      </p:sp>
      <p:sp>
        <p:nvSpPr>
          <p:cNvPr id="27" name="Rectangle 26"/>
          <p:cNvSpPr/>
          <p:nvPr/>
        </p:nvSpPr>
        <p:spPr>
          <a:xfrm>
            <a:off x="9515612" y="2286000"/>
            <a:ext cx="1853123" cy="3200400"/>
          </a:xfrm>
          <a:prstGeom prst="rect">
            <a:avLst/>
          </a:prstGeom>
          <a:solidFill>
            <a:srgbClr val="1B3A66"/>
          </a:solidFill>
          <a:ln w="1016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515612" y="2286000"/>
            <a:ext cx="1853123" cy="41148"/>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744212" y="2542032"/>
            <a:ext cx="1395923" cy="566928"/>
          </a:xfrm>
          <a:prstGeom prst="rect">
            <a:avLst/>
          </a:prstGeom>
          <a:noFill/>
        </p:spPr>
        <p:txBody>
          <a:bodyPr wrap="square" anchor="t" lIns="0" rIns="0" tIns="0" bIns="0">
            <a:spAutoFit/>
          </a:bodyPr>
          <a:lstStyle/>
          <a:p>
            <a:pPr algn="l">
              <a:lnSpc>
                <a:spcPct val="115000"/>
              </a:lnSpc>
              <a:spcBef>
                <a:spcPts val="0"/>
              </a:spcBef>
              <a:spcAft>
                <a:spcPts val="0"/>
              </a:spcAft>
            </a:pPr>
            <a:r>
              <a:rPr sz="1050" b="1" i="0" u="none" spc="160">
                <a:solidFill>
                  <a:srgbClr val="E6D3A3"/>
                </a:solidFill>
                <a:latin typeface="Calibri Light"/>
              </a:rPr>
              <a:t>ADVANCED STUDY</a:t>
            </a:r>
          </a:p>
        </p:txBody>
      </p:sp>
      <p:sp>
        <p:nvSpPr>
          <p:cNvPr id="30" name="TextBox 29"/>
          <p:cNvSpPr txBox="1"/>
          <p:nvPr/>
        </p:nvSpPr>
        <p:spPr>
          <a:xfrm>
            <a:off x="9744212" y="3200400"/>
            <a:ext cx="1395923" cy="1691640"/>
          </a:xfrm>
          <a:prstGeom prst="rect">
            <a:avLst/>
          </a:prstGeom>
          <a:noFill/>
        </p:spPr>
        <p:txBody>
          <a:bodyPr wrap="square" anchor="t" lIns="0" rIns="0" tIns="0" bIns="0">
            <a:spAutoFit/>
          </a:bodyPr>
          <a:lstStyle/>
          <a:p>
            <a:pPr algn="l">
              <a:lnSpc>
                <a:spcPct val="125000"/>
              </a:lnSpc>
              <a:spcBef>
                <a:spcPts val="0"/>
              </a:spcBef>
              <a:spcAft>
                <a:spcPts val="0"/>
              </a:spcAft>
            </a:pPr>
            <a:r>
              <a:rPr sz="1000" b="0" i="0" u="none">
                <a:solidFill>
                  <a:srgbClr val="C9CDD6"/>
                </a:solidFill>
                <a:latin typeface="Calibri"/>
              </a:rPr>
              <a:t>Apologetics, comparative traditions, theology and modernity, original research.</a:t>
            </a:r>
          </a:p>
        </p:txBody>
      </p:sp>
      <p:sp>
        <p:nvSpPr>
          <p:cNvPr id="31" name="TextBox 30"/>
          <p:cNvSpPr txBox="1"/>
          <p:nvPr/>
        </p:nvSpPr>
        <p:spPr>
          <a:xfrm>
            <a:off x="9744212" y="5029200"/>
            <a:ext cx="1395923" cy="320040"/>
          </a:xfrm>
          <a:prstGeom prst="rect">
            <a:avLst/>
          </a:prstGeom>
          <a:noFill/>
        </p:spPr>
        <p:txBody>
          <a:bodyPr wrap="square" anchor="t" lIns="0" rIns="0" tIns="0" bIns="0">
            <a:spAutoFit/>
          </a:bodyPr>
          <a:lstStyle/>
          <a:p>
            <a:pPr algn="l">
              <a:lnSpc>
                <a:spcPct val="100000"/>
              </a:lnSpc>
              <a:spcBef>
                <a:spcPts val="0"/>
              </a:spcBef>
              <a:spcAft>
                <a:spcPts val="0"/>
              </a:spcAft>
            </a:pPr>
            <a:r>
              <a:rPr sz="850" b="1" i="0" u="none" spc="120">
                <a:solidFill>
                  <a:srgbClr val="9AA5BC"/>
                </a:solidFill>
                <a:latin typeface="Calibri Light"/>
              </a:rPr>
              <a:t>Modules 16–18</a:t>
            </a:r>
          </a:p>
        </p:txBody>
      </p:sp>
      <p:sp>
        <p:nvSpPr>
          <p:cNvPr id="32" name="Rectangle 31"/>
          <p:cNvSpPr/>
          <p:nvPr/>
        </p:nvSpPr>
        <p:spPr>
          <a:xfrm>
            <a:off x="82296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101955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121615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41274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160934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180594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200253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219913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239572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2592324"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278892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2985515"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3182112"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378708"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3575303"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3771900"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3968496"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4165091" y="6172200"/>
            <a:ext cx="146304" cy="32004"/>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11460175" cy="6126480"/>
          </a:xfrm>
          <a:prstGeom prst="rect">
            <a:avLst/>
          </a:prstGeom>
          <a:no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777240"/>
            <a:ext cx="10545775" cy="32004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20">
                <a:solidFill>
                  <a:srgbClr val="E6D3A3"/>
                </a:solidFill>
                <a:latin typeface="Calibri Light"/>
              </a:rPr>
              <a:t>COURSE CONCLUSION</a:t>
            </a:r>
          </a:p>
        </p:txBody>
      </p:sp>
      <p:sp>
        <p:nvSpPr>
          <p:cNvPr id="5" name="TextBox 4"/>
          <p:cNvSpPr txBox="1"/>
          <p:nvPr/>
        </p:nvSpPr>
        <p:spPr>
          <a:xfrm>
            <a:off x="822960" y="1115568"/>
            <a:ext cx="10545775" cy="640080"/>
          </a:xfrm>
          <a:prstGeom prst="rect">
            <a:avLst/>
          </a:prstGeom>
          <a:noFill/>
        </p:spPr>
        <p:txBody>
          <a:bodyPr wrap="square" anchor="t" lIns="0" rIns="0" tIns="0" bIns="0">
            <a:spAutoFit/>
          </a:bodyPr>
          <a:lstStyle/>
          <a:p>
            <a:pPr algn="l">
              <a:lnSpc>
                <a:spcPct val="100000"/>
              </a:lnSpc>
              <a:spcBef>
                <a:spcPts val="0"/>
              </a:spcBef>
              <a:spcAft>
                <a:spcPts val="0"/>
              </a:spcAft>
            </a:pPr>
            <a:r>
              <a:rPr sz="2600" b="1" i="0" u="none">
                <a:solidFill>
                  <a:srgbClr val="FFFFFF"/>
                </a:solidFill>
                <a:latin typeface="Palatino Linotype"/>
              </a:rPr>
              <a:t>The Integration of the Theological Disciplines</a:t>
            </a:r>
          </a:p>
        </p:txBody>
      </p:sp>
      <p:cxnSp>
        <p:nvCxnSpPr>
          <p:cNvPr id="6" name="Connector 5"/>
          <p:cNvCxnSpPr/>
          <p:nvPr/>
        </p:nvCxnSpPr>
        <p:spPr>
          <a:xfrm>
            <a:off x="822960" y="1828800"/>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097280" y="2212848"/>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097280" y="2212848"/>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371600" y="2295144"/>
            <a:ext cx="4709160" cy="438912"/>
          </a:xfrm>
          <a:prstGeom prst="rect">
            <a:avLst/>
          </a:prstGeom>
          <a:noFill/>
        </p:spPr>
        <p:txBody>
          <a:bodyPr wrap="square" anchor="t" lIns="0" rIns="0" tIns="0" bIns="0">
            <a:spAutoFit/>
          </a:bodyPr>
          <a:lstStyle/>
          <a:p>
            <a:pPr algn="l">
              <a:lnSpc>
                <a:spcPct val="100000"/>
              </a:lnSpc>
              <a:spcBef>
                <a:spcPts val="0"/>
              </a:spcBef>
              <a:spcAft>
                <a:spcPts val="100"/>
              </a:spcAft>
            </a:pPr>
            <a:r>
              <a:rPr sz="1050" b="1" i="0" u="none" spc="100">
                <a:solidFill>
                  <a:srgbClr val="E6D3A3"/>
                </a:solidFill>
                <a:latin typeface="Calibri Light"/>
              </a:rPr>
              <a:t>BIBLICAL THEOLOGY</a:t>
            </a:r>
          </a:p>
          <a:p>
            <a:pPr algn="l">
              <a:lnSpc>
                <a:spcPct val="100000"/>
              </a:lnSpc>
              <a:spcBef>
                <a:spcPts val="0"/>
              </a:spcBef>
              <a:spcAft>
                <a:spcPts val="0"/>
              </a:spcAft>
            </a:pPr>
            <a:r>
              <a:rPr sz="950" b="0" i="1" u="none">
                <a:solidFill>
                  <a:srgbClr val="C9CDD6"/>
                </a:solidFill>
                <a:latin typeface="Palatino Linotype"/>
              </a:rPr>
              <a:t>the Scriptures as the norm of all doctrine</a:t>
            </a:r>
          </a:p>
        </p:txBody>
      </p:sp>
      <p:sp>
        <p:nvSpPr>
          <p:cNvPr id="10" name="Rectangle 9"/>
          <p:cNvSpPr/>
          <p:nvPr/>
        </p:nvSpPr>
        <p:spPr>
          <a:xfrm>
            <a:off x="1097280" y="2980944"/>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97280" y="2980944"/>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371600" y="3063239"/>
            <a:ext cx="4709160" cy="438912"/>
          </a:xfrm>
          <a:prstGeom prst="rect">
            <a:avLst/>
          </a:prstGeom>
          <a:noFill/>
        </p:spPr>
        <p:txBody>
          <a:bodyPr wrap="square" anchor="t" lIns="0" rIns="0" tIns="0" bIns="0">
            <a:spAutoFit/>
          </a:bodyPr>
          <a:lstStyle/>
          <a:p>
            <a:pPr algn="l">
              <a:lnSpc>
                <a:spcPct val="100000"/>
              </a:lnSpc>
              <a:spcBef>
                <a:spcPts val="0"/>
              </a:spcBef>
              <a:spcAft>
                <a:spcPts val="100"/>
              </a:spcAft>
            </a:pPr>
            <a:r>
              <a:rPr sz="1050" b="1" i="0" u="none" spc="100">
                <a:solidFill>
                  <a:srgbClr val="E6D3A3"/>
                </a:solidFill>
                <a:latin typeface="Calibri Light"/>
              </a:rPr>
              <a:t>SYSTEMATIC THEOLOGY</a:t>
            </a:r>
          </a:p>
          <a:p>
            <a:pPr algn="l">
              <a:lnSpc>
                <a:spcPct val="100000"/>
              </a:lnSpc>
              <a:spcBef>
                <a:spcPts val="0"/>
              </a:spcBef>
              <a:spcAft>
                <a:spcPts val="0"/>
              </a:spcAft>
            </a:pPr>
            <a:r>
              <a:rPr sz="950" b="0" i="1" u="none">
                <a:solidFill>
                  <a:srgbClr val="C9CDD6"/>
                </a:solidFill>
                <a:latin typeface="Palatino Linotype"/>
              </a:rPr>
              <a:t>doctrine ordered into coherent dogmatics</a:t>
            </a:r>
          </a:p>
        </p:txBody>
      </p:sp>
      <p:sp>
        <p:nvSpPr>
          <p:cNvPr id="13" name="Rectangle 12"/>
          <p:cNvSpPr/>
          <p:nvPr/>
        </p:nvSpPr>
        <p:spPr>
          <a:xfrm>
            <a:off x="1097280" y="3749039"/>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097280" y="3749039"/>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371600" y="3831335"/>
            <a:ext cx="4709160" cy="438912"/>
          </a:xfrm>
          <a:prstGeom prst="rect">
            <a:avLst/>
          </a:prstGeom>
          <a:noFill/>
        </p:spPr>
        <p:txBody>
          <a:bodyPr wrap="square" anchor="t" lIns="0" rIns="0" tIns="0" bIns="0">
            <a:spAutoFit/>
          </a:bodyPr>
          <a:lstStyle/>
          <a:p>
            <a:pPr algn="l">
              <a:lnSpc>
                <a:spcPct val="100000"/>
              </a:lnSpc>
              <a:spcBef>
                <a:spcPts val="0"/>
              </a:spcBef>
              <a:spcAft>
                <a:spcPts val="100"/>
              </a:spcAft>
            </a:pPr>
            <a:r>
              <a:rPr sz="1050" b="1" i="0" u="none" spc="100">
                <a:solidFill>
                  <a:srgbClr val="E6D3A3"/>
                </a:solidFill>
                <a:latin typeface="Calibri Light"/>
              </a:rPr>
              <a:t>HISTORICAL THEOLOGY</a:t>
            </a:r>
          </a:p>
          <a:p>
            <a:pPr algn="l">
              <a:lnSpc>
                <a:spcPct val="100000"/>
              </a:lnSpc>
              <a:spcBef>
                <a:spcPts val="0"/>
              </a:spcBef>
              <a:spcAft>
                <a:spcPts val="0"/>
              </a:spcAft>
            </a:pPr>
            <a:r>
              <a:rPr sz="950" b="0" i="1" u="none">
                <a:solidFill>
                  <a:srgbClr val="C9CDD6"/>
                </a:solidFill>
                <a:latin typeface="Palatino Linotype"/>
              </a:rPr>
              <a:t>the faith as confessed across the centuries</a:t>
            </a:r>
          </a:p>
        </p:txBody>
      </p:sp>
      <p:sp>
        <p:nvSpPr>
          <p:cNvPr id="16" name="Rectangle 15"/>
          <p:cNvSpPr/>
          <p:nvPr/>
        </p:nvSpPr>
        <p:spPr>
          <a:xfrm>
            <a:off x="1097280" y="4517136"/>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97280" y="4517136"/>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371600" y="4599431"/>
            <a:ext cx="4709160" cy="438912"/>
          </a:xfrm>
          <a:prstGeom prst="rect">
            <a:avLst/>
          </a:prstGeom>
          <a:noFill/>
        </p:spPr>
        <p:txBody>
          <a:bodyPr wrap="square" anchor="t" lIns="0" rIns="0" tIns="0" bIns="0">
            <a:spAutoFit/>
          </a:bodyPr>
          <a:lstStyle/>
          <a:p>
            <a:pPr algn="l">
              <a:lnSpc>
                <a:spcPct val="100000"/>
              </a:lnSpc>
              <a:spcBef>
                <a:spcPts val="0"/>
              </a:spcBef>
              <a:spcAft>
                <a:spcPts val="100"/>
              </a:spcAft>
            </a:pPr>
            <a:r>
              <a:rPr sz="1050" b="1" i="0" u="none" spc="100">
                <a:solidFill>
                  <a:srgbClr val="E6D3A3"/>
                </a:solidFill>
                <a:latin typeface="Calibri Light"/>
              </a:rPr>
              <a:t>PRACTICAL THEOLOGY</a:t>
            </a:r>
          </a:p>
          <a:p>
            <a:pPr algn="l">
              <a:lnSpc>
                <a:spcPct val="100000"/>
              </a:lnSpc>
              <a:spcBef>
                <a:spcPts val="0"/>
              </a:spcBef>
              <a:spcAft>
                <a:spcPts val="0"/>
              </a:spcAft>
            </a:pPr>
            <a:r>
              <a:rPr sz="950" b="0" i="1" u="none">
                <a:solidFill>
                  <a:srgbClr val="C9CDD6"/>
                </a:solidFill>
                <a:latin typeface="Palatino Linotype"/>
              </a:rPr>
              <a:t>doctrine embodied in life and ministry</a:t>
            </a:r>
          </a:p>
        </p:txBody>
      </p:sp>
      <p:sp>
        <p:nvSpPr>
          <p:cNvPr id="19" name="Rectangle 18"/>
          <p:cNvSpPr/>
          <p:nvPr/>
        </p:nvSpPr>
        <p:spPr>
          <a:xfrm>
            <a:off x="1097280" y="5285231"/>
            <a:ext cx="5212080" cy="585216"/>
          </a:xfrm>
          <a:prstGeom prst="rect">
            <a:avLst/>
          </a:prstGeom>
          <a:solidFill>
            <a:srgbClr val="1B3A66"/>
          </a:solidFill>
          <a:ln w="1143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097280" y="5285231"/>
            <a:ext cx="41148" cy="585216"/>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371600" y="5367527"/>
            <a:ext cx="4709160" cy="438912"/>
          </a:xfrm>
          <a:prstGeom prst="rect">
            <a:avLst/>
          </a:prstGeom>
          <a:noFill/>
        </p:spPr>
        <p:txBody>
          <a:bodyPr wrap="square" anchor="t" lIns="0" rIns="0" tIns="0" bIns="0">
            <a:spAutoFit/>
          </a:bodyPr>
          <a:lstStyle/>
          <a:p>
            <a:pPr algn="l">
              <a:lnSpc>
                <a:spcPct val="100000"/>
              </a:lnSpc>
              <a:spcBef>
                <a:spcPts val="0"/>
              </a:spcBef>
              <a:spcAft>
                <a:spcPts val="100"/>
              </a:spcAft>
            </a:pPr>
            <a:r>
              <a:rPr sz="1050" b="1" i="0" u="none" spc="100">
                <a:solidFill>
                  <a:srgbClr val="E6D3A3"/>
                </a:solidFill>
                <a:latin typeface="Calibri Light"/>
              </a:rPr>
              <a:t>ADVANCED THEOLOGY</a:t>
            </a:r>
          </a:p>
          <a:p>
            <a:pPr algn="l">
              <a:lnSpc>
                <a:spcPct val="100000"/>
              </a:lnSpc>
              <a:spcBef>
                <a:spcPts val="0"/>
              </a:spcBef>
              <a:spcAft>
                <a:spcPts val="0"/>
              </a:spcAft>
            </a:pPr>
            <a:r>
              <a:rPr sz="950" b="0" i="1" u="none">
                <a:solidFill>
                  <a:srgbClr val="C9CDD6"/>
                </a:solidFill>
                <a:latin typeface="Palatino Linotype"/>
              </a:rPr>
              <a:t>critique, context and original research</a:t>
            </a:r>
          </a:p>
        </p:txBody>
      </p:sp>
      <p:cxnSp>
        <p:nvCxnSpPr>
          <p:cNvPr id="22" name="Connector 21"/>
          <p:cNvCxnSpPr/>
          <p:nvPr/>
        </p:nvCxnSpPr>
        <p:spPr>
          <a:xfrm>
            <a:off x="6419088" y="2505456"/>
            <a:ext cx="2514185" cy="1234117"/>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382512" y="2468879"/>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6419088" y="3273551"/>
            <a:ext cx="2440040" cy="66257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382512" y="3236975"/>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6419088" y="4041648"/>
            <a:ext cx="2403077" cy="125487"/>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382512" y="4005072"/>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6419088" y="4405920"/>
            <a:ext cx="2416631" cy="403824"/>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382512" y="4773168"/>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6419088" y="4621226"/>
            <a:ext cx="2475561" cy="956614"/>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382512" y="5541264"/>
            <a:ext cx="73152" cy="73152"/>
          </a:xfrm>
          <a:prstGeom prst="ellipse">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641080" y="2944368"/>
            <a:ext cx="2560320" cy="2560320"/>
          </a:xfrm>
          <a:prstGeom prst="ellipse">
            <a:avLst/>
          </a:prstGeom>
          <a:noFill/>
          <a:ln w="11430">
            <a:solidFill>
              <a:srgbClr val="A67F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842248" y="3145536"/>
            <a:ext cx="2157984" cy="2157984"/>
          </a:xfrm>
          <a:prstGeom prst="ellipse">
            <a:avLst/>
          </a:prstGeom>
          <a:noFill/>
          <a:ln w="2032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025128" y="3328416"/>
            <a:ext cx="1792224" cy="1792224"/>
          </a:xfrm>
          <a:prstGeom prst="ellipse">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19" y="3721608"/>
            <a:ext cx="1920240" cy="1005840"/>
          </a:xfrm>
          <a:prstGeom prst="rect">
            <a:avLst/>
          </a:prstGeom>
          <a:noFill/>
        </p:spPr>
        <p:txBody>
          <a:bodyPr wrap="square" anchor="ctr" lIns="0" rIns="0" tIns="0" bIns="0">
            <a:spAutoFit/>
          </a:bodyPr>
          <a:lstStyle/>
          <a:p>
            <a:pPr algn="ctr">
              <a:lnSpc>
                <a:spcPct val="100000"/>
              </a:lnSpc>
              <a:spcBef>
                <a:spcPts val="0"/>
              </a:spcBef>
              <a:spcAft>
                <a:spcPts val="100"/>
              </a:spcAft>
            </a:pPr>
            <a:r>
              <a:rPr sz="900" b="1" i="0" u="none" spc="160">
                <a:solidFill>
                  <a:srgbClr val="E6D3A3"/>
                </a:solidFill>
                <a:latin typeface="Calibri Light"/>
              </a:rPr>
              <a:t>THE</a:t>
            </a:r>
          </a:p>
          <a:p>
            <a:pPr algn="ctr">
              <a:lnSpc>
                <a:spcPct val="100000"/>
              </a:lnSpc>
              <a:spcBef>
                <a:spcPts val="0"/>
              </a:spcBef>
              <a:spcAft>
                <a:spcPts val="100"/>
              </a:spcAft>
            </a:pPr>
            <a:r>
              <a:rPr sz="1350" b="1" i="0" u="none">
                <a:solidFill>
                  <a:srgbClr val="FFFFFF"/>
                </a:solidFill>
                <a:latin typeface="Palatino Linotype"/>
              </a:rPr>
              <a:t>CHRISTIAN</a:t>
            </a:r>
          </a:p>
          <a:p>
            <a:pPr algn="ctr">
              <a:lnSpc>
                <a:spcPct val="100000"/>
              </a:lnSpc>
              <a:spcBef>
                <a:spcPts val="0"/>
              </a:spcBef>
              <a:spcAft>
                <a:spcPts val="0"/>
              </a:spcAft>
            </a:pPr>
            <a:r>
              <a:rPr sz="1350" b="1" i="0" u="none">
                <a:solidFill>
                  <a:srgbClr val="FFFFFF"/>
                </a:solidFill>
                <a:latin typeface="Palatino Linotype"/>
              </a:rPr>
              <a:t>FAITH</a:t>
            </a:r>
          </a:p>
        </p:txBody>
      </p:sp>
      <p:sp>
        <p:nvSpPr>
          <p:cNvPr id="36" name="TextBox 35"/>
          <p:cNvSpPr txBox="1"/>
          <p:nvPr/>
        </p:nvSpPr>
        <p:spPr>
          <a:xfrm>
            <a:off x="5669280" y="6053328"/>
            <a:ext cx="5669280" cy="548640"/>
          </a:xfrm>
          <a:prstGeom prst="rect">
            <a:avLst/>
          </a:prstGeom>
          <a:noFill/>
        </p:spPr>
        <p:txBody>
          <a:bodyPr wrap="square" anchor="t" lIns="0" rIns="0" tIns="0" bIns="0">
            <a:spAutoFit/>
          </a:bodyPr>
          <a:lstStyle/>
          <a:p>
            <a:pPr algn="r">
              <a:lnSpc>
                <a:spcPct val="130000"/>
              </a:lnSpc>
              <a:spcBef>
                <a:spcPts val="0"/>
              </a:spcBef>
              <a:spcAft>
                <a:spcPts val="0"/>
              </a:spcAft>
            </a:pPr>
            <a:r>
              <a:rPr sz="1100" b="0" i="1" u="none">
                <a:solidFill>
                  <a:srgbClr val="9AA5BC"/>
                </a:solidFill>
                <a:latin typeface="Palatino Linotype"/>
              </a:rPr>
              <a:t>Every discipline converges on the person and work of Christ — the centre of the Christian faith.</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4EFE3"/>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603504"/>
            <a:ext cx="9601200" cy="274320"/>
          </a:xfrm>
          <a:prstGeom prst="rect">
            <a:avLst/>
          </a:prstGeom>
          <a:noFill/>
        </p:spPr>
        <p:txBody>
          <a:bodyPr wrap="square" anchor="t" lIns="0" rIns="0" tIns="0" bIns="0">
            <a:spAutoFit/>
          </a:bodyPr>
          <a:lstStyle/>
          <a:p>
            <a:pPr algn="l">
              <a:lnSpc>
                <a:spcPct val="100000"/>
              </a:lnSpc>
              <a:spcBef>
                <a:spcPts val="0"/>
              </a:spcBef>
              <a:spcAft>
                <a:spcPts val="0"/>
              </a:spcAft>
            </a:pPr>
            <a:r>
              <a:rPr sz="1000" b="1" i="0" u="none" spc="260">
                <a:solidFill>
                  <a:srgbClr val="A67F3B"/>
                </a:solidFill>
                <a:latin typeface="Calibri Light"/>
              </a:rPr>
              <a:t>COURSE CONCLUSION</a:t>
            </a:r>
          </a:p>
        </p:txBody>
      </p:sp>
      <p:sp>
        <p:nvSpPr>
          <p:cNvPr id="4" name="TextBox 3"/>
          <p:cNvSpPr txBox="1"/>
          <p:nvPr/>
        </p:nvSpPr>
        <p:spPr>
          <a:xfrm>
            <a:off x="822960" y="914400"/>
            <a:ext cx="10545775" cy="640080"/>
          </a:xfrm>
          <a:prstGeom prst="rect">
            <a:avLst/>
          </a:prstGeom>
          <a:noFill/>
        </p:spPr>
        <p:txBody>
          <a:bodyPr wrap="square" anchor="t" lIns="0" rIns="0" tIns="0" bIns="0">
            <a:spAutoFit/>
          </a:bodyPr>
          <a:lstStyle/>
          <a:p>
            <a:pPr algn="l">
              <a:lnSpc>
                <a:spcPct val="100000"/>
              </a:lnSpc>
              <a:spcBef>
                <a:spcPts val="0"/>
              </a:spcBef>
              <a:spcAft>
                <a:spcPts val="0"/>
              </a:spcAft>
            </a:pPr>
            <a:r>
              <a:rPr sz="2500" b="1" i="0" u="none">
                <a:solidFill>
                  <a:srgbClr val="232A38"/>
                </a:solidFill>
                <a:latin typeface="Palatino Linotype"/>
              </a:rPr>
              <a:t>Final Reflection and Paths of Further Study</a:t>
            </a:r>
          </a:p>
        </p:txBody>
      </p:sp>
      <p:cxnSp>
        <p:nvCxnSpPr>
          <p:cNvPr id="5" name="Connector 4"/>
          <p:cNvCxnSpPr/>
          <p:nvPr/>
        </p:nvCxnSpPr>
        <p:spPr>
          <a:xfrm>
            <a:off x="822960" y="1627632"/>
            <a:ext cx="10545775" cy="0"/>
          </a:xfrm>
          <a:prstGeom prst="line">
            <a:avLst/>
          </a:prstGeom>
          <a:ln w="1270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22960" y="1920240"/>
            <a:ext cx="32004" cy="14173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078992" y="1956816"/>
            <a:ext cx="10088575" cy="1463040"/>
          </a:xfrm>
          <a:prstGeom prst="rect">
            <a:avLst/>
          </a:prstGeom>
          <a:noFill/>
        </p:spPr>
        <p:txBody>
          <a:bodyPr wrap="square" anchor="t" lIns="0" rIns="0" tIns="0" bIns="0">
            <a:spAutoFit/>
          </a:bodyPr>
          <a:lstStyle/>
          <a:p>
            <a:pPr algn="l">
              <a:lnSpc>
                <a:spcPct val="140000"/>
              </a:lnSpc>
              <a:spcBef>
                <a:spcPts val="0"/>
              </a:spcBef>
              <a:spcAft>
                <a:spcPts val="0"/>
              </a:spcAft>
            </a:pPr>
            <a:r>
              <a:rPr sz="1350" b="0" i="0" u="none">
                <a:solidFill>
                  <a:srgbClr val="232A38"/>
                </a:solidFill>
                <a:latin typeface="Palatino Linotype"/>
              </a:rPr>
              <a:t>This programme has carried us from the threshold question — what is theology? — through the great doctrines of the Christian faith, its history, its practical expression, and finally to the methods of original research. The student who completes all eighteen modules possesses not a catalogue of propositions but a living, ordered, defensible understanding of the faith once delivered to the saints.</a:t>
            </a:r>
          </a:p>
        </p:txBody>
      </p:sp>
      <p:sp>
        <p:nvSpPr>
          <p:cNvPr id="8" name="TextBox 7"/>
          <p:cNvSpPr txBox="1"/>
          <p:nvPr/>
        </p:nvSpPr>
        <p:spPr>
          <a:xfrm>
            <a:off x="822960" y="3611880"/>
            <a:ext cx="5760720" cy="274320"/>
          </a:xfrm>
          <a:prstGeom prst="rect">
            <a:avLst/>
          </a:prstGeom>
          <a:noFill/>
        </p:spPr>
        <p:txBody>
          <a:bodyPr wrap="square" anchor="t" lIns="0" rIns="0" tIns="0" bIns="0">
            <a:spAutoFit/>
          </a:bodyPr>
          <a:lstStyle/>
          <a:p>
            <a:pPr algn="l">
              <a:lnSpc>
                <a:spcPct val="100000"/>
              </a:lnSpc>
              <a:spcBef>
                <a:spcPts val="0"/>
              </a:spcBef>
              <a:spcAft>
                <a:spcPts val="0"/>
              </a:spcAft>
            </a:pPr>
            <a:r>
              <a:rPr sz="950" b="1" i="0" u="none" spc="180">
                <a:solidFill>
                  <a:srgbClr val="77212E"/>
                </a:solidFill>
                <a:latin typeface="Calibri Light"/>
              </a:rPr>
              <a:t>SUGGESTED RESEARCH DIRECTIONS</a:t>
            </a:r>
          </a:p>
        </p:txBody>
      </p:sp>
      <p:sp>
        <p:nvSpPr>
          <p:cNvPr id="9" name="Rectangle 8"/>
          <p:cNvSpPr/>
          <p:nvPr/>
        </p:nvSpPr>
        <p:spPr>
          <a:xfrm>
            <a:off x="822960" y="4059935"/>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05840" y="3977639"/>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relationship of natural theology and revealed theology in the modern university</a:t>
            </a:r>
          </a:p>
        </p:txBody>
      </p:sp>
      <p:sp>
        <p:nvSpPr>
          <p:cNvPr id="11" name="Rectangle 10"/>
          <p:cNvSpPr/>
          <p:nvPr/>
        </p:nvSpPr>
        <p:spPr>
          <a:xfrm>
            <a:off x="822960" y="462686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4544568"/>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Historical Christology: the development of the doctrine from Nicaea to Chalcedon</a:t>
            </a:r>
          </a:p>
        </p:txBody>
      </p:sp>
      <p:sp>
        <p:nvSpPr>
          <p:cNvPr id="13" name="Rectangle 12"/>
          <p:cNvSpPr/>
          <p:nvPr/>
        </p:nvSpPr>
        <p:spPr>
          <a:xfrm>
            <a:off x="822960" y="519379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5111496"/>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doctrine of the Trinity in the early Church fathers and in contemporary theology</a:t>
            </a:r>
          </a:p>
        </p:txBody>
      </p:sp>
      <p:sp>
        <p:nvSpPr>
          <p:cNvPr id="15" name="Rectangle 14"/>
          <p:cNvSpPr/>
          <p:nvPr/>
        </p:nvSpPr>
        <p:spPr>
          <a:xfrm>
            <a:off x="822960" y="5760719"/>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05840" y="5678423"/>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Soteriology in the different Christian traditions: an objective comparison</a:t>
            </a:r>
          </a:p>
        </p:txBody>
      </p:sp>
      <p:sp>
        <p:nvSpPr>
          <p:cNvPr id="17" name="Rectangle 16"/>
          <p:cNvSpPr/>
          <p:nvPr/>
        </p:nvSpPr>
        <p:spPr>
          <a:xfrm>
            <a:off x="6324447" y="4059935"/>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07327" y="3977639"/>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Church and society: theological perspectives on public life</a:t>
            </a:r>
          </a:p>
        </p:txBody>
      </p:sp>
      <p:sp>
        <p:nvSpPr>
          <p:cNvPr id="19" name="Rectangle 18"/>
          <p:cNvSpPr/>
          <p:nvPr/>
        </p:nvSpPr>
        <p:spPr>
          <a:xfrm>
            <a:off x="6324447" y="4626864"/>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507327" y="4544568"/>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A critical survey of one major modern or contemporary theologian</a:t>
            </a:r>
          </a:p>
        </p:txBody>
      </p:sp>
      <p:sp>
        <p:nvSpPr>
          <p:cNvPr id="21" name="Rectangle 20"/>
          <p:cNvSpPr/>
          <p:nvPr/>
        </p:nvSpPr>
        <p:spPr>
          <a:xfrm>
            <a:off x="6324447" y="5193792"/>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07327" y="5111496"/>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Theology and the sciences: historical conflicts and current conversation</a:t>
            </a:r>
          </a:p>
        </p:txBody>
      </p:sp>
      <p:sp>
        <p:nvSpPr>
          <p:cNvPr id="23" name="Rectangle 22"/>
          <p:cNvSpPr/>
          <p:nvPr/>
        </p:nvSpPr>
        <p:spPr>
          <a:xfrm>
            <a:off x="6324447" y="5760719"/>
            <a:ext cx="20116" cy="274320"/>
          </a:xfrm>
          <a:prstGeom prst="rect">
            <a:avLst/>
          </a:prstGeom>
          <a:solidFill>
            <a:srgbClr val="A67F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07327" y="5678423"/>
            <a:ext cx="4769967" cy="548640"/>
          </a:xfrm>
          <a:prstGeom prst="rect">
            <a:avLst/>
          </a:prstGeom>
          <a:noFill/>
        </p:spPr>
        <p:txBody>
          <a:bodyPr wrap="square" anchor="ctr" lIns="0" rIns="0" tIns="0" bIns="0">
            <a:spAutoFit/>
          </a:bodyPr>
          <a:lstStyle/>
          <a:p>
            <a:pPr algn="l">
              <a:lnSpc>
                <a:spcPct val="112000"/>
              </a:lnSpc>
              <a:spcBef>
                <a:spcPts val="0"/>
              </a:spcBef>
              <a:spcAft>
                <a:spcPts val="0"/>
              </a:spcAft>
            </a:pPr>
            <a:r>
              <a:rPr sz="1130" b="0" i="0" u="none">
                <a:solidFill>
                  <a:srgbClr val="4C566B"/>
                </a:solidFill>
                <a:latin typeface="Calibri"/>
              </a:rPr>
              <a:t>The formation of the New Testament canon in the early church</a:t>
            </a:r>
          </a:p>
        </p:txBody>
      </p:sp>
      <p:sp>
        <p:nvSpPr>
          <p:cNvPr id="25" name="Rectangle 24"/>
          <p:cNvSpPr/>
          <p:nvPr/>
        </p:nvSpPr>
        <p:spPr>
          <a:xfrm>
            <a:off x="82296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101955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21615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41274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160934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80594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200253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19913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239572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2592324"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278892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985515"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3182112"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3378708"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3575303"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3771900"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3968496"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165091" y="6510528"/>
            <a:ext cx="146304" cy="32004"/>
          </a:xfrm>
          <a:prstGeom prst="rect">
            <a:avLst/>
          </a:prstGeom>
          <a:solidFill>
            <a:srgbClr val="7721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22A4E"/>
              </a:gs>
              <a:gs pos="100000">
                <a:srgbClr val="0B152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 y="411480"/>
            <a:ext cx="11368735" cy="6035040"/>
          </a:xfrm>
          <a:prstGeom prst="rect">
            <a:avLst/>
          </a:prstGeom>
          <a:noFill/>
          <a:ln w="13970">
            <a:solidFill>
              <a:srgbClr val="C9A4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12064" y="512064"/>
            <a:ext cx="11167567" cy="5833872"/>
          </a:xfrm>
          <a:prstGeom prst="rect">
            <a:avLst/>
          </a:prstGeom>
          <a:noFill/>
          <a:ln w="5080">
            <a:solidFill>
              <a:srgbClr val="A67F3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22960" y="1371600"/>
            <a:ext cx="10545775" cy="365760"/>
          </a:xfrm>
          <a:prstGeom prst="rect">
            <a:avLst/>
          </a:prstGeom>
          <a:noFill/>
        </p:spPr>
        <p:txBody>
          <a:bodyPr wrap="square" anchor="t" lIns="0" rIns="0" tIns="0" bIns="0">
            <a:spAutoFit/>
          </a:bodyPr>
          <a:lstStyle/>
          <a:p>
            <a:pPr algn="l">
              <a:lnSpc>
                <a:spcPct val="100000"/>
              </a:lnSpc>
              <a:spcBef>
                <a:spcPts val="0"/>
              </a:spcBef>
              <a:spcAft>
                <a:spcPts val="0"/>
              </a:spcAft>
            </a:pPr>
            <a:r>
              <a:rPr sz="1050" b="1" i="0" u="none" spc="340">
                <a:solidFill>
                  <a:srgbClr val="E6D3A3"/>
                </a:solidFill>
                <a:latin typeface="Calibri Light"/>
              </a:rPr>
              <a:t>THE END OF THE CURRICULUM</a:t>
            </a:r>
          </a:p>
        </p:txBody>
      </p:sp>
      <p:cxnSp>
        <p:nvCxnSpPr>
          <p:cNvPr id="6" name="Connector 5"/>
          <p:cNvCxnSpPr/>
          <p:nvPr/>
        </p:nvCxnSpPr>
        <p:spPr>
          <a:xfrm>
            <a:off x="5410047" y="1874519"/>
            <a:ext cx="50292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278727" y="1874519"/>
            <a:ext cx="502920" cy="0"/>
          </a:xfrm>
          <a:prstGeom prst="line">
            <a:avLst/>
          </a:prstGeom>
          <a:ln w="11430">
            <a:solidFill>
              <a:srgbClr val="A67F3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2377440"/>
            <a:ext cx="10362895" cy="1188720"/>
          </a:xfrm>
          <a:prstGeom prst="rect">
            <a:avLst/>
          </a:prstGeom>
          <a:noFill/>
        </p:spPr>
        <p:txBody>
          <a:bodyPr wrap="square" anchor="ctr" lIns="0" rIns="0" tIns="0" bIns="0">
            <a:spAutoFit/>
          </a:bodyPr>
          <a:lstStyle/>
          <a:p>
            <a:pPr algn="ctr">
              <a:lnSpc>
                <a:spcPct val="100000"/>
              </a:lnSpc>
              <a:spcBef>
                <a:spcPts val="0"/>
              </a:spcBef>
              <a:spcAft>
                <a:spcPts val="0"/>
              </a:spcAft>
            </a:pPr>
            <a:r>
              <a:rPr sz="4800" b="1" i="0" u="none" spc="150">
                <a:solidFill>
                  <a:srgbClr val="FFFFFF"/>
                </a:solidFill>
                <a:latin typeface="Palatino Linotype"/>
              </a:rPr>
              <a:t>CHRISTIAN THEOLOGY</a:t>
            </a:r>
          </a:p>
        </p:txBody>
      </p:sp>
      <p:sp>
        <p:nvSpPr>
          <p:cNvPr id="9" name="TextBox 8"/>
          <p:cNvSpPr txBox="1"/>
          <p:nvPr/>
        </p:nvSpPr>
        <p:spPr>
          <a:xfrm>
            <a:off x="914400" y="3611880"/>
            <a:ext cx="10362895" cy="457200"/>
          </a:xfrm>
          <a:prstGeom prst="rect">
            <a:avLst/>
          </a:prstGeom>
          <a:noFill/>
        </p:spPr>
        <p:txBody>
          <a:bodyPr wrap="square" anchor="t" lIns="0" rIns="0" tIns="0" bIns="0">
            <a:spAutoFit/>
          </a:bodyPr>
          <a:lstStyle/>
          <a:p>
            <a:pPr algn="ctr">
              <a:lnSpc>
                <a:spcPct val="100000"/>
              </a:lnSpc>
              <a:spcBef>
                <a:spcPts val="0"/>
              </a:spcBef>
              <a:spcAft>
                <a:spcPts val="0"/>
              </a:spcAft>
            </a:pPr>
            <a:r>
              <a:rPr sz="1350" b="1" i="0" u="none" spc="400">
                <a:solidFill>
                  <a:srgbClr val="E6D3A3"/>
                </a:solidFill>
                <a:latin typeface="Calibri Light"/>
              </a:rPr>
              <a:t>A COMPREHENSIVE ACADEMIC STUDY</a:t>
            </a:r>
          </a:p>
        </p:txBody>
      </p:sp>
      <p:sp>
        <p:nvSpPr>
          <p:cNvPr id="10" name="Rectangle 9"/>
          <p:cNvSpPr/>
          <p:nvPr/>
        </p:nvSpPr>
        <p:spPr>
          <a:xfrm>
            <a:off x="6059271" y="4306824"/>
            <a:ext cx="73152" cy="73152"/>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709160"/>
            <a:ext cx="10362895" cy="365760"/>
          </a:xfrm>
          <a:prstGeom prst="rect">
            <a:avLst/>
          </a:prstGeom>
          <a:noFill/>
        </p:spPr>
        <p:txBody>
          <a:bodyPr wrap="square" anchor="t" lIns="0" rIns="0" tIns="0" bIns="0">
            <a:spAutoFit/>
          </a:bodyPr>
          <a:lstStyle/>
          <a:p>
            <a:pPr algn="ctr">
              <a:lnSpc>
                <a:spcPct val="100000"/>
              </a:lnSpc>
              <a:spcBef>
                <a:spcPts val="0"/>
              </a:spcBef>
              <a:spcAft>
                <a:spcPts val="0"/>
              </a:spcAft>
            </a:pPr>
            <a:r>
              <a:rPr sz="1250" b="0" i="1" u="none">
                <a:solidFill>
                  <a:srgbClr val="C9CDD6"/>
                </a:solidFill>
                <a:latin typeface="Palatino Linotype"/>
              </a:rPr>
              <a:t>Eighteen Modules  ·  Two Hundred and Twenty Lecture Topics</a:t>
            </a:r>
          </a:p>
        </p:txBody>
      </p:sp>
      <p:sp>
        <p:nvSpPr>
          <p:cNvPr id="12" name="TextBox 11"/>
          <p:cNvSpPr txBox="1"/>
          <p:nvPr/>
        </p:nvSpPr>
        <p:spPr>
          <a:xfrm>
            <a:off x="914400" y="5623560"/>
            <a:ext cx="10362895" cy="365760"/>
          </a:xfrm>
          <a:prstGeom prst="rect">
            <a:avLst/>
          </a:prstGeom>
          <a:noFill/>
        </p:spPr>
        <p:txBody>
          <a:bodyPr wrap="square" anchor="t" lIns="0" rIns="0" tIns="0" bIns="0">
            <a:spAutoFit/>
          </a:bodyPr>
          <a:lstStyle/>
          <a:p>
            <a:pPr algn="ctr">
              <a:lnSpc>
                <a:spcPct val="100000"/>
              </a:lnSpc>
              <a:spcBef>
                <a:spcPts val="0"/>
              </a:spcBef>
              <a:spcAft>
                <a:spcPts val="0"/>
              </a:spcAft>
            </a:pPr>
            <a:r>
              <a:rPr sz="1300" b="0" i="1" u="none">
                <a:solidFill>
                  <a:srgbClr val="E6D3A3"/>
                </a:solidFill>
                <a:latin typeface="Palatino Linotype"/>
              </a:rPr>
              <a:t>Soli Deo Gloria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