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411480"/>
            <a:ext cx="11368735" cy="6035040"/>
          </a:xfrm>
          <a:prstGeom prst="rect">
            <a:avLst/>
          </a:prstGeom>
          <a:noFill/>
          <a:ln w="1397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12064" y="512064"/>
            <a:ext cx="11167567" cy="5833872"/>
          </a:xfrm>
          <a:prstGeom prst="rect">
            <a:avLst/>
          </a:prstGeom>
          <a:noFill/>
          <a:ln w="508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932688"/>
            <a:ext cx="1054577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E6D3A3"/>
                </a:solidFill>
                <a:latin typeface="Calibri Light"/>
              </a:rPr>
              <a:t>UNIVERSITY-LEVEL THEOLOGICAL EDUCATION</a:t>
            </a:r>
          </a:p>
        </p:txBody>
      </p:sp>
      <p:cxnSp>
        <p:nvCxnSpPr>
          <p:cNvPr id="6" name="Connector 5"/>
          <p:cNvCxnSpPr/>
          <p:nvPr/>
        </p:nvCxnSpPr>
        <p:spPr>
          <a:xfrm>
            <a:off x="5592927" y="1298448"/>
            <a:ext cx="320040"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278727" y="1298448"/>
            <a:ext cx="320040"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1874519"/>
            <a:ext cx="10362895" cy="1234440"/>
          </a:xfrm>
          <a:prstGeom prst="rect">
            <a:avLst/>
          </a:prstGeom>
          <a:noFill/>
        </p:spPr>
        <p:txBody>
          <a:bodyPr wrap="square" anchor="ctr" lIns="0" rIns="0" tIns="0" bIns="0">
            <a:spAutoFit/>
          </a:bodyPr>
          <a:lstStyle/>
          <a:p>
            <a:pPr algn="ctr">
              <a:lnSpc>
                <a:spcPct val="100000"/>
              </a:lnSpc>
              <a:spcBef>
                <a:spcPts val="0"/>
              </a:spcBef>
              <a:spcAft>
                <a:spcPts val="0"/>
              </a:spcAft>
            </a:pPr>
            <a:r>
              <a:rPr sz="5600" b="1" i="0" u="none" spc="150">
                <a:solidFill>
                  <a:srgbClr val="FFFFFF"/>
                </a:solidFill>
                <a:latin typeface="Palatino Linotype"/>
              </a:rPr>
              <a:t>CHRISTIAN THEOLOGY</a:t>
            </a:r>
          </a:p>
        </p:txBody>
      </p:sp>
      <p:cxnSp>
        <p:nvCxnSpPr>
          <p:cNvPr id="9" name="Connector 8"/>
          <p:cNvCxnSpPr/>
          <p:nvPr/>
        </p:nvCxnSpPr>
        <p:spPr>
          <a:xfrm>
            <a:off x="4175607" y="3310128"/>
            <a:ext cx="1737360" cy="0"/>
          </a:xfrm>
          <a:prstGeom prst="line">
            <a:avLst/>
          </a:prstGeom>
          <a:ln w="1397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78727" y="3310128"/>
            <a:ext cx="1737360" cy="0"/>
          </a:xfrm>
          <a:prstGeom prst="line">
            <a:avLst/>
          </a:prstGeom>
          <a:ln w="1397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059271" y="3273552"/>
            <a:ext cx="73152" cy="73152"/>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14400" y="3529584"/>
            <a:ext cx="10362895" cy="457200"/>
          </a:xfrm>
          <a:prstGeom prst="rect">
            <a:avLst/>
          </a:prstGeom>
          <a:noFill/>
        </p:spPr>
        <p:txBody>
          <a:bodyPr wrap="square" anchor="t" lIns="0" rIns="0" tIns="0" bIns="0">
            <a:spAutoFit/>
          </a:bodyPr>
          <a:lstStyle/>
          <a:p>
            <a:pPr algn="ctr">
              <a:lnSpc>
                <a:spcPct val="100000"/>
              </a:lnSpc>
              <a:spcBef>
                <a:spcPts val="0"/>
              </a:spcBef>
              <a:spcAft>
                <a:spcPts val="0"/>
              </a:spcAft>
            </a:pPr>
            <a:r>
              <a:rPr sz="1500" b="1" i="0" u="none" spc="450">
                <a:solidFill>
                  <a:srgbClr val="E6D3A3"/>
                </a:solidFill>
                <a:latin typeface="Calibri Light"/>
              </a:rPr>
              <a:t>A COMPREHENSIVE ACADEMIC STUDY</a:t>
            </a:r>
          </a:p>
        </p:txBody>
      </p:sp>
      <p:sp>
        <p:nvSpPr>
          <p:cNvPr id="13" name="TextBox 12"/>
          <p:cNvSpPr txBox="1"/>
          <p:nvPr/>
        </p:nvSpPr>
        <p:spPr>
          <a:xfrm>
            <a:off x="2194560" y="4315968"/>
            <a:ext cx="7802575" cy="868680"/>
          </a:xfrm>
          <a:prstGeom prst="rect">
            <a:avLst/>
          </a:prstGeom>
          <a:noFill/>
        </p:spPr>
        <p:txBody>
          <a:bodyPr wrap="square" anchor="t" lIns="0" rIns="0" tIns="0" bIns="0">
            <a:spAutoFit/>
          </a:bodyPr>
          <a:lstStyle/>
          <a:p>
            <a:pPr algn="ctr">
              <a:lnSpc>
                <a:spcPct val="140000"/>
              </a:lnSpc>
              <a:spcBef>
                <a:spcPts val="0"/>
              </a:spcBef>
              <a:spcAft>
                <a:spcPts val="0"/>
              </a:spcAft>
            </a:pPr>
            <a:r>
              <a:rPr sz="1300" b="0" i="1" u="none" spc="30">
                <a:solidFill>
                  <a:srgbClr val="C9CDD6"/>
                </a:solidFill>
                <a:latin typeface="Palatino Linotype"/>
              </a:rPr>
              <a:t>An eighteen-module academic programme tracing the Christian faith from its foundations to advanced research — scripture, doctrine, history, practice and critical inquiry.</a:t>
            </a:r>
          </a:p>
        </p:txBody>
      </p:sp>
      <p:sp>
        <p:nvSpPr>
          <p:cNvPr id="14" name="TextBox 13"/>
          <p:cNvSpPr txBox="1"/>
          <p:nvPr/>
        </p:nvSpPr>
        <p:spPr>
          <a:xfrm>
            <a:off x="822960" y="5742432"/>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220">
                <a:solidFill>
                  <a:srgbClr val="9AA5BC"/>
                </a:solidFill>
                <a:latin typeface="Calibri Light"/>
              </a:rPr>
              <a:t>18 MODULES  ·  220 LECTURE TOPICS  ·  FOUNDATIONS TO ADVANCED RESEARCH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105156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COURSE INTRODUCTION</a:t>
            </a:r>
          </a:p>
        </p:txBody>
      </p:sp>
      <p:sp>
        <p:nvSpPr>
          <p:cNvPr id="4" name="TextBox 3"/>
          <p:cNvSpPr txBox="1"/>
          <p:nvPr/>
        </p:nvSpPr>
        <p:spPr>
          <a:xfrm>
            <a:off x="822960" y="914400"/>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600" b="1" i="0" u="none">
                <a:solidFill>
                  <a:srgbClr val="232A38"/>
                </a:solidFill>
                <a:latin typeface="Palatino Linotype"/>
              </a:rPr>
              <a:t>Why Study Theology, and How This Course Proceeds</a:t>
            </a:r>
          </a:p>
        </p:txBody>
      </p:sp>
      <p:cxnSp>
        <p:nvCxnSpPr>
          <p:cNvPr id="5" name="Connector 4"/>
          <p:cNvCxnSpPr/>
          <p:nvPr/>
        </p:nvCxnSpPr>
        <p:spPr>
          <a:xfrm>
            <a:off x="822960" y="1627632"/>
            <a:ext cx="10543032"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901952"/>
            <a:ext cx="32004" cy="12984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78992" y="1901952"/>
            <a:ext cx="10058400"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ACADEMIC PURPOSE</a:t>
            </a:r>
          </a:p>
        </p:txBody>
      </p:sp>
      <p:sp>
        <p:nvSpPr>
          <p:cNvPr id="8" name="TextBox 7"/>
          <p:cNvSpPr txBox="1"/>
          <p:nvPr/>
        </p:nvSpPr>
        <p:spPr>
          <a:xfrm>
            <a:off x="1078992" y="2194560"/>
            <a:ext cx="10058400" cy="969264"/>
          </a:xfrm>
          <a:prstGeom prst="rect">
            <a:avLst/>
          </a:prstGeom>
          <a:noFill/>
        </p:spPr>
        <p:txBody>
          <a:bodyPr wrap="square" anchor="t" lIns="0" rIns="0" tIns="0" bIns="0">
            <a:spAutoFit/>
          </a:bodyPr>
          <a:lstStyle/>
          <a:p>
            <a:pPr algn="l">
              <a:lnSpc>
                <a:spcPct val="130000"/>
              </a:lnSpc>
              <a:spcBef>
                <a:spcPts val="0"/>
              </a:spcBef>
              <a:spcAft>
                <a:spcPts val="0"/>
              </a:spcAft>
            </a:pPr>
            <a:r>
              <a:rPr sz="1250" b="0" i="0" u="none">
                <a:solidFill>
                  <a:srgbClr val="232A38"/>
                </a:solidFill>
                <a:latin typeface="Palatino Linotype"/>
              </a:rPr>
              <a:t>Christian Theology (theologia Christiana) is the disciplined, rational study of the faith as it is grounded in Scripture, shaped by the historical Church, and addressed to the whole of life. This programme is designed to equip students to articulate, examine and defend the central doctrines of the Christian faith with scholarly rigour and devotional seriousness.</a:t>
            </a:r>
          </a:p>
        </p:txBody>
      </p:sp>
      <p:sp>
        <p:nvSpPr>
          <p:cNvPr id="9" name="Rectangle 8"/>
          <p:cNvSpPr/>
          <p:nvPr/>
        </p:nvSpPr>
        <p:spPr>
          <a:xfrm>
            <a:off x="822960" y="3401568"/>
            <a:ext cx="32004" cy="12984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78992" y="3401568"/>
            <a:ext cx="10058400"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METHOD &amp; APPROACH</a:t>
            </a:r>
          </a:p>
        </p:txBody>
      </p:sp>
      <p:sp>
        <p:nvSpPr>
          <p:cNvPr id="11" name="TextBox 10"/>
          <p:cNvSpPr txBox="1"/>
          <p:nvPr/>
        </p:nvSpPr>
        <p:spPr>
          <a:xfrm>
            <a:off x="1078992" y="3694176"/>
            <a:ext cx="10058400" cy="969264"/>
          </a:xfrm>
          <a:prstGeom prst="rect">
            <a:avLst/>
          </a:prstGeom>
          <a:noFill/>
        </p:spPr>
        <p:txBody>
          <a:bodyPr wrap="square" anchor="t" lIns="0" rIns="0" tIns="0" bIns="0">
            <a:spAutoFit/>
          </a:bodyPr>
          <a:lstStyle/>
          <a:p>
            <a:pPr algn="l">
              <a:lnSpc>
                <a:spcPct val="130000"/>
              </a:lnSpc>
              <a:spcBef>
                <a:spcPts val="0"/>
              </a:spcBef>
              <a:spcAft>
                <a:spcPts val="0"/>
              </a:spcAft>
            </a:pPr>
            <a:r>
              <a:rPr sz="1250" b="0" i="0" u="none">
                <a:solidFill>
                  <a:srgbClr val="232A38"/>
                </a:solidFill>
                <a:latin typeface="Palatino Linotype"/>
              </a:rPr>
              <a:t>Each module opens with a section divider, an introduction to the discipline, a sequence of numbered lecture topics, and a summary. Explanations distinguish biblical testimony, historical confession and systematic interpretation, and they present the major positions of different Christian traditions where they diverge.</a:t>
            </a:r>
          </a:p>
        </p:txBody>
      </p:sp>
      <p:sp>
        <p:nvSpPr>
          <p:cNvPr id="12" name="Rectangle 11"/>
          <p:cNvSpPr/>
          <p:nvPr/>
        </p:nvSpPr>
        <p:spPr>
          <a:xfrm>
            <a:off x="822960" y="4901184"/>
            <a:ext cx="32004" cy="12984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78992" y="4901184"/>
            <a:ext cx="10058400"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SCOPE OF STUDY</a:t>
            </a:r>
          </a:p>
        </p:txBody>
      </p:sp>
      <p:sp>
        <p:nvSpPr>
          <p:cNvPr id="14" name="TextBox 13"/>
          <p:cNvSpPr txBox="1"/>
          <p:nvPr/>
        </p:nvSpPr>
        <p:spPr>
          <a:xfrm>
            <a:off x="1078992" y="5193792"/>
            <a:ext cx="10058400" cy="969264"/>
          </a:xfrm>
          <a:prstGeom prst="rect">
            <a:avLst/>
          </a:prstGeom>
          <a:noFill/>
        </p:spPr>
        <p:txBody>
          <a:bodyPr wrap="square" anchor="t" lIns="0" rIns="0" tIns="0" bIns="0">
            <a:spAutoFit/>
          </a:bodyPr>
          <a:lstStyle/>
          <a:p>
            <a:pPr algn="l">
              <a:lnSpc>
                <a:spcPct val="130000"/>
              </a:lnSpc>
              <a:spcBef>
                <a:spcPts val="0"/>
              </a:spcBef>
              <a:spcAft>
                <a:spcPts val="0"/>
              </a:spcAft>
            </a:pPr>
            <a:r>
              <a:rPr sz="1250" b="0" i="0" u="none">
                <a:solidFill>
                  <a:srgbClr val="232A38"/>
                </a:solidFill>
                <a:latin typeface="Palatino Linotype"/>
              </a:rPr>
              <a:t>The curriculum spans the entire theological edifice: prolegomena and the nature of theological reflection; the doctrines of God, Christ, the Spirit, humanity and salvation; the person and mission of the Church; ethics and the Christian life; the history of Christian thought; apologetics and theology in conversation with modernity; and the methods of advanced theological research.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105156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LEARNING OBJECTIVES</a:t>
            </a:r>
          </a:p>
        </p:txBody>
      </p:sp>
      <p:sp>
        <p:nvSpPr>
          <p:cNvPr id="4" name="TextBox 3"/>
          <p:cNvSpPr txBox="1"/>
          <p:nvPr/>
        </p:nvSpPr>
        <p:spPr>
          <a:xfrm>
            <a:off x="822960" y="914400"/>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600" b="1" i="0" u="none">
                <a:solidFill>
                  <a:srgbClr val="232A38"/>
                </a:solidFill>
                <a:latin typeface="Palatino Linotype"/>
              </a:rPr>
              <a:t>What the Student Will Be Able to Do</a:t>
            </a:r>
          </a:p>
        </p:txBody>
      </p:sp>
      <p:cxnSp>
        <p:nvCxnSpPr>
          <p:cNvPr id="5" name="Connector 4"/>
          <p:cNvCxnSpPr/>
          <p:nvPr/>
        </p:nvCxnSpPr>
        <p:spPr>
          <a:xfrm>
            <a:off x="822960" y="1627632"/>
            <a:ext cx="10543032"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984248"/>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22960" y="1984248"/>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a:t>
            </a:r>
          </a:p>
        </p:txBody>
      </p:sp>
      <p:sp>
        <p:nvSpPr>
          <p:cNvPr id="8" name="TextBox 7"/>
          <p:cNvSpPr txBox="1"/>
          <p:nvPr/>
        </p:nvSpPr>
        <p:spPr>
          <a:xfrm>
            <a:off x="1417320" y="1965960"/>
            <a:ext cx="9875520" cy="566928"/>
          </a:xfrm>
          <a:prstGeom prst="rect">
            <a:avLst/>
          </a:prstGeom>
          <a:noFill/>
        </p:spPr>
        <p:txBody>
          <a:bodyPr wrap="square" anchor="ctr" lIns="0" rIns="0" tIns="0" bIns="0">
            <a:spAutoFit/>
          </a:bodyPr>
          <a:lstStyle/>
          <a:p>
            <a:pPr algn="l">
              <a:lnSpc>
                <a:spcPct val="118000"/>
              </a:lnSpc>
              <a:spcBef>
                <a:spcPts val="0"/>
              </a:spcBef>
              <a:spcAft>
                <a:spcPts val="0"/>
              </a:spcAft>
            </a:pPr>
            <a:r>
              <a:rPr sz="1250" b="0" i="0" u="none">
                <a:solidFill>
                  <a:srgbClr val="232A38"/>
                </a:solidFill>
                <a:latin typeface="Calibri"/>
              </a:rPr>
              <a:t>Define the major doctrinal terms of Christian theology with precision and explain their biblical, historical and systematic context.</a:t>
            </a:r>
          </a:p>
        </p:txBody>
      </p:sp>
      <p:cxnSp>
        <p:nvCxnSpPr>
          <p:cNvPr id="9" name="Connector 8"/>
          <p:cNvCxnSpPr/>
          <p:nvPr/>
        </p:nvCxnSpPr>
        <p:spPr>
          <a:xfrm>
            <a:off x="1417320" y="2532888"/>
            <a:ext cx="9921240" cy="0"/>
          </a:xfrm>
          <a:prstGeom prst="line">
            <a:avLst/>
          </a:prstGeom>
          <a:ln w="6350">
            <a:solidFill>
              <a:srgbClr val="D8D0BE"/>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822960" y="2743200"/>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2743200"/>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a:t>
            </a:r>
          </a:p>
        </p:txBody>
      </p:sp>
      <p:sp>
        <p:nvSpPr>
          <p:cNvPr id="12" name="TextBox 11"/>
          <p:cNvSpPr txBox="1"/>
          <p:nvPr/>
        </p:nvSpPr>
        <p:spPr>
          <a:xfrm>
            <a:off x="1417320" y="2724912"/>
            <a:ext cx="9875520" cy="566928"/>
          </a:xfrm>
          <a:prstGeom prst="rect">
            <a:avLst/>
          </a:prstGeom>
          <a:noFill/>
        </p:spPr>
        <p:txBody>
          <a:bodyPr wrap="square" anchor="ctr" lIns="0" rIns="0" tIns="0" bIns="0">
            <a:spAutoFit/>
          </a:bodyPr>
          <a:lstStyle/>
          <a:p>
            <a:pPr algn="l">
              <a:lnSpc>
                <a:spcPct val="118000"/>
              </a:lnSpc>
              <a:spcBef>
                <a:spcPts val="0"/>
              </a:spcBef>
              <a:spcAft>
                <a:spcPts val="0"/>
              </a:spcAft>
            </a:pPr>
            <a:r>
              <a:rPr sz="1250" b="0" i="0" u="none">
                <a:solidFill>
                  <a:srgbClr val="232A38"/>
                </a:solidFill>
                <a:latin typeface="Calibri"/>
              </a:rPr>
              <a:t>Trace the development of key doctrines from Scripture through the creeds, councils and confessions to contemporary expression.</a:t>
            </a:r>
          </a:p>
        </p:txBody>
      </p:sp>
      <p:cxnSp>
        <p:nvCxnSpPr>
          <p:cNvPr id="13" name="Connector 12"/>
          <p:cNvCxnSpPr/>
          <p:nvPr/>
        </p:nvCxnSpPr>
        <p:spPr>
          <a:xfrm>
            <a:off x="1417320" y="3291840"/>
            <a:ext cx="9921240" cy="0"/>
          </a:xfrm>
          <a:prstGeom prst="line">
            <a:avLst/>
          </a:prstGeom>
          <a:ln w="6350">
            <a:solidFill>
              <a:srgbClr val="D8D0BE"/>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22960" y="3502152"/>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2960" y="3502152"/>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3</a:t>
            </a:r>
          </a:p>
        </p:txBody>
      </p:sp>
      <p:sp>
        <p:nvSpPr>
          <p:cNvPr id="16" name="TextBox 15"/>
          <p:cNvSpPr txBox="1"/>
          <p:nvPr/>
        </p:nvSpPr>
        <p:spPr>
          <a:xfrm>
            <a:off x="1417320" y="3483864"/>
            <a:ext cx="9875520" cy="566928"/>
          </a:xfrm>
          <a:prstGeom prst="rect">
            <a:avLst/>
          </a:prstGeom>
          <a:noFill/>
        </p:spPr>
        <p:txBody>
          <a:bodyPr wrap="square" anchor="ctr" lIns="0" rIns="0" tIns="0" bIns="0">
            <a:spAutoFit/>
          </a:bodyPr>
          <a:lstStyle/>
          <a:p>
            <a:pPr algn="l">
              <a:lnSpc>
                <a:spcPct val="118000"/>
              </a:lnSpc>
              <a:spcBef>
                <a:spcPts val="0"/>
              </a:spcBef>
              <a:spcAft>
                <a:spcPts val="0"/>
              </a:spcAft>
            </a:pPr>
            <a:r>
              <a:rPr sz="1250" b="0" i="0" u="none">
                <a:solidFill>
                  <a:srgbClr val="232A38"/>
                </a:solidFill>
                <a:latin typeface="Calibri"/>
              </a:rPr>
              <a:t>Compare the major Christian traditions — Catholic, Orthodox, Reformed, Evangelical and others — with objective scholarly balance.</a:t>
            </a:r>
          </a:p>
        </p:txBody>
      </p:sp>
      <p:cxnSp>
        <p:nvCxnSpPr>
          <p:cNvPr id="17" name="Connector 16"/>
          <p:cNvCxnSpPr/>
          <p:nvPr/>
        </p:nvCxnSpPr>
        <p:spPr>
          <a:xfrm>
            <a:off x="1417320" y="4050791"/>
            <a:ext cx="9921240" cy="0"/>
          </a:xfrm>
          <a:prstGeom prst="line">
            <a:avLst/>
          </a:prstGeom>
          <a:ln w="6350">
            <a:solidFill>
              <a:srgbClr val="D8D0BE"/>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822960" y="4261103"/>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960" y="4261103"/>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4</a:t>
            </a:r>
          </a:p>
        </p:txBody>
      </p:sp>
      <p:sp>
        <p:nvSpPr>
          <p:cNvPr id="20" name="TextBox 19"/>
          <p:cNvSpPr txBox="1"/>
          <p:nvPr/>
        </p:nvSpPr>
        <p:spPr>
          <a:xfrm>
            <a:off x="1417320" y="4242816"/>
            <a:ext cx="9875520" cy="566928"/>
          </a:xfrm>
          <a:prstGeom prst="rect">
            <a:avLst/>
          </a:prstGeom>
          <a:noFill/>
        </p:spPr>
        <p:txBody>
          <a:bodyPr wrap="square" anchor="ctr" lIns="0" rIns="0" tIns="0" bIns="0">
            <a:spAutoFit/>
          </a:bodyPr>
          <a:lstStyle/>
          <a:p>
            <a:pPr algn="l">
              <a:lnSpc>
                <a:spcPct val="118000"/>
              </a:lnSpc>
              <a:spcBef>
                <a:spcPts val="0"/>
              </a:spcBef>
              <a:spcAft>
                <a:spcPts val="0"/>
              </a:spcAft>
            </a:pPr>
            <a:r>
              <a:rPr sz="1250" b="0" i="0" u="none">
                <a:solidFill>
                  <a:srgbClr val="232A38"/>
                </a:solidFill>
                <a:latin typeface="Calibri"/>
              </a:rPr>
              <a:t>Apply theological reasoning to ethical, cultural and missional questions of the present age.</a:t>
            </a:r>
          </a:p>
        </p:txBody>
      </p:sp>
      <p:cxnSp>
        <p:nvCxnSpPr>
          <p:cNvPr id="21" name="Connector 20"/>
          <p:cNvCxnSpPr/>
          <p:nvPr/>
        </p:nvCxnSpPr>
        <p:spPr>
          <a:xfrm>
            <a:off x="1417320" y="4809744"/>
            <a:ext cx="9921240" cy="0"/>
          </a:xfrm>
          <a:prstGeom prst="line">
            <a:avLst/>
          </a:prstGeom>
          <a:ln w="6350">
            <a:solidFill>
              <a:srgbClr val="D8D0BE"/>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22960" y="5020055"/>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2960" y="5020055"/>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5</a:t>
            </a:r>
          </a:p>
        </p:txBody>
      </p:sp>
      <p:sp>
        <p:nvSpPr>
          <p:cNvPr id="24" name="TextBox 23"/>
          <p:cNvSpPr txBox="1"/>
          <p:nvPr/>
        </p:nvSpPr>
        <p:spPr>
          <a:xfrm>
            <a:off x="1417320" y="5001768"/>
            <a:ext cx="9875520" cy="566928"/>
          </a:xfrm>
          <a:prstGeom prst="rect">
            <a:avLst/>
          </a:prstGeom>
          <a:noFill/>
        </p:spPr>
        <p:txBody>
          <a:bodyPr wrap="square" anchor="ctr" lIns="0" rIns="0" tIns="0" bIns="0">
            <a:spAutoFit/>
          </a:bodyPr>
          <a:lstStyle/>
          <a:p>
            <a:pPr algn="l">
              <a:lnSpc>
                <a:spcPct val="118000"/>
              </a:lnSpc>
              <a:spcBef>
                <a:spcPts val="0"/>
              </a:spcBef>
              <a:spcAft>
                <a:spcPts val="0"/>
              </a:spcAft>
            </a:pPr>
            <a:r>
              <a:rPr sz="1250" b="0" i="0" u="none">
                <a:solidFill>
                  <a:srgbClr val="232A38"/>
                </a:solidFill>
                <a:latin typeface="Calibri"/>
              </a:rPr>
              <a:t>Demonstrate competence in the academic method of theological research, from problem formulation to thesis defence.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31520"/>
            <a:ext cx="10515600" cy="320040"/>
          </a:xfrm>
          <a:prstGeom prst="rect">
            <a:avLst/>
          </a:prstGeom>
          <a:noFill/>
        </p:spPr>
        <p:txBody>
          <a:bodyPr wrap="square" anchor="t" lIns="0" rIns="0" tIns="0" bIns="0">
            <a:spAutoFit/>
          </a:bodyPr>
          <a:lstStyle/>
          <a:p>
            <a:pPr algn="l">
              <a:lnSpc>
                <a:spcPct val="100000"/>
              </a:lnSpc>
              <a:spcBef>
                <a:spcPts val="0"/>
              </a:spcBef>
              <a:spcAft>
                <a:spcPts val="0"/>
              </a:spcAft>
            </a:pPr>
            <a:r>
              <a:rPr sz="1050" b="1" i="0" u="none" spc="320">
                <a:solidFill>
                  <a:srgbClr val="E6D3A3"/>
                </a:solidFill>
                <a:latin typeface="Calibri Light"/>
              </a:rPr>
              <a:t>THEOLOGICAL PROGRESSION</a:t>
            </a:r>
          </a:p>
        </p:txBody>
      </p:sp>
      <p:sp>
        <p:nvSpPr>
          <p:cNvPr id="5" name="TextBox 4"/>
          <p:cNvSpPr txBox="1"/>
          <p:nvPr/>
        </p:nvSpPr>
        <p:spPr>
          <a:xfrm>
            <a:off x="822960" y="1097280"/>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600" b="1" i="0" u="none">
                <a:solidFill>
                  <a:srgbClr val="FFFFFF"/>
                </a:solidFill>
                <a:latin typeface="Palatino Linotype"/>
              </a:rPr>
              <a:t>From Foundation to Advanced Research</a:t>
            </a:r>
          </a:p>
        </p:txBody>
      </p:sp>
      <p:cxnSp>
        <p:nvCxnSpPr>
          <p:cNvPr id="6" name="Connector 5"/>
          <p:cNvCxnSpPr/>
          <p:nvPr/>
        </p:nvCxnSpPr>
        <p:spPr>
          <a:xfrm>
            <a:off x="822960" y="1810512"/>
            <a:ext cx="10543032"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2194560"/>
            <a:ext cx="713232" cy="713232"/>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2194560"/>
            <a:ext cx="713232" cy="713232"/>
          </a:xfrm>
          <a:prstGeom prst="rect">
            <a:avLst/>
          </a:prstGeom>
          <a:noFill/>
        </p:spPr>
        <p:txBody>
          <a:bodyPr wrap="square" anchor="ctr" lIns="0" rIns="0" tIns="0" bIns="0">
            <a:spAutoFit/>
          </a:bodyPr>
          <a:lstStyle/>
          <a:p>
            <a:pPr algn="ctr">
              <a:lnSpc>
                <a:spcPct val="100000"/>
              </a:lnSpc>
              <a:spcBef>
                <a:spcPts val="0"/>
              </a:spcBef>
              <a:spcAft>
                <a:spcPts val="0"/>
              </a:spcAft>
            </a:pPr>
            <a:r>
              <a:rPr sz="2000" b="1" i="0" u="none">
                <a:solidFill>
                  <a:srgbClr val="E6D3A3"/>
                </a:solidFill>
                <a:latin typeface="Palatino Linotype"/>
              </a:rPr>
              <a:t>I</a:t>
            </a:r>
          </a:p>
        </p:txBody>
      </p:sp>
      <p:sp>
        <p:nvSpPr>
          <p:cNvPr id="9" name="TextBox 8"/>
          <p:cNvSpPr txBox="1"/>
          <p:nvPr/>
        </p:nvSpPr>
        <p:spPr>
          <a:xfrm>
            <a:off x="1828800" y="2212848"/>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300" b="1" i="0" u="none" spc="120">
                <a:solidFill>
                  <a:srgbClr val="FFFFFF"/>
                </a:solidFill>
                <a:latin typeface="Calibri Light"/>
              </a:rPr>
              <a:t>Foundations</a:t>
            </a:r>
          </a:p>
        </p:txBody>
      </p:sp>
      <p:sp>
        <p:nvSpPr>
          <p:cNvPr id="10" name="TextBox 9"/>
          <p:cNvSpPr txBox="1"/>
          <p:nvPr/>
        </p:nvSpPr>
        <p:spPr>
          <a:xfrm>
            <a:off x="1828800" y="2560320"/>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000" b="0" i="0" u="none">
                <a:solidFill>
                  <a:srgbClr val="9AA5BC"/>
                </a:solidFill>
                <a:latin typeface="Calibri"/>
              </a:rPr>
              <a:t>the nature, sources and method of theology; the Bible as the rule of faith</a:t>
            </a:r>
          </a:p>
        </p:txBody>
      </p:sp>
      <p:cxnSp>
        <p:nvCxnSpPr>
          <p:cNvPr id="11" name="Connector 10"/>
          <p:cNvCxnSpPr/>
          <p:nvPr/>
        </p:nvCxnSpPr>
        <p:spPr>
          <a:xfrm>
            <a:off x="1179576" y="2907791"/>
            <a:ext cx="0" cy="173737"/>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822960" y="3081528"/>
            <a:ext cx="713232" cy="713232"/>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2960" y="3081528"/>
            <a:ext cx="713232" cy="713232"/>
          </a:xfrm>
          <a:prstGeom prst="rect">
            <a:avLst/>
          </a:prstGeom>
          <a:noFill/>
        </p:spPr>
        <p:txBody>
          <a:bodyPr wrap="square" anchor="ctr" lIns="0" rIns="0" tIns="0" bIns="0">
            <a:spAutoFit/>
          </a:bodyPr>
          <a:lstStyle/>
          <a:p>
            <a:pPr algn="ctr">
              <a:lnSpc>
                <a:spcPct val="100000"/>
              </a:lnSpc>
              <a:spcBef>
                <a:spcPts val="0"/>
              </a:spcBef>
              <a:spcAft>
                <a:spcPts val="0"/>
              </a:spcAft>
            </a:pPr>
            <a:r>
              <a:rPr sz="2000" b="1" i="0" u="none">
                <a:solidFill>
                  <a:srgbClr val="E6D3A3"/>
                </a:solidFill>
                <a:latin typeface="Palatino Linotype"/>
              </a:rPr>
              <a:t>II</a:t>
            </a:r>
          </a:p>
        </p:txBody>
      </p:sp>
      <p:sp>
        <p:nvSpPr>
          <p:cNvPr id="14" name="TextBox 13"/>
          <p:cNvSpPr txBox="1"/>
          <p:nvPr/>
        </p:nvSpPr>
        <p:spPr>
          <a:xfrm>
            <a:off x="1828800" y="3099816"/>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300" b="1" i="0" u="none" spc="120">
                <a:solidFill>
                  <a:srgbClr val="FFFFFF"/>
                </a:solidFill>
                <a:latin typeface="Calibri Light"/>
              </a:rPr>
              <a:t>Systematic Theology</a:t>
            </a:r>
          </a:p>
        </p:txBody>
      </p:sp>
      <p:sp>
        <p:nvSpPr>
          <p:cNvPr id="15" name="TextBox 14"/>
          <p:cNvSpPr txBox="1"/>
          <p:nvPr/>
        </p:nvSpPr>
        <p:spPr>
          <a:xfrm>
            <a:off x="1828800" y="3447288"/>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000" b="0" i="0" u="none">
                <a:solidFill>
                  <a:srgbClr val="9AA5BC"/>
                </a:solidFill>
                <a:latin typeface="Calibri"/>
              </a:rPr>
              <a:t>God, the Trinity, Christ, the Spirit, humanity, salvation, the Church and last things</a:t>
            </a:r>
          </a:p>
        </p:txBody>
      </p:sp>
      <p:cxnSp>
        <p:nvCxnSpPr>
          <p:cNvPr id="16" name="Connector 15"/>
          <p:cNvCxnSpPr/>
          <p:nvPr/>
        </p:nvCxnSpPr>
        <p:spPr>
          <a:xfrm>
            <a:off x="1179576" y="3794760"/>
            <a:ext cx="0" cy="173736"/>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22960" y="3968496"/>
            <a:ext cx="713232" cy="713232"/>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2960" y="3968496"/>
            <a:ext cx="713232" cy="713232"/>
          </a:xfrm>
          <a:prstGeom prst="rect">
            <a:avLst/>
          </a:prstGeom>
          <a:noFill/>
        </p:spPr>
        <p:txBody>
          <a:bodyPr wrap="square" anchor="ctr" lIns="0" rIns="0" tIns="0" bIns="0">
            <a:spAutoFit/>
          </a:bodyPr>
          <a:lstStyle/>
          <a:p>
            <a:pPr algn="ctr">
              <a:lnSpc>
                <a:spcPct val="100000"/>
              </a:lnSpc>
              <a:spcBef>
                <a:spcPts val="0"/>
              </a:spcBef>
              <a:spcAft>
                <a:spcPts val="0"/>
              </a:spcAft>
            </a:pPr>
            <a:r>
              <a:rPr sz="2000" b="1" i="0" u="none">
                <a:solidFill>
                  <a:srgbClr val="E6D3A3"/>
                </a:solidFill>
                <a:latin typeface="Palatino Linotype"/>
              </a:rPr>
              <a:t>III</a:t>
            </a:r>
          </a:p>
        </p:txBody>
      </p:sp>
      <p:sp>
        <p:nvSpPr>
          <p:cNvPr id="19" name="TextBox 18"/>
          <p:cNvSpPr txBox="1"/>
          <p:nvPr/>
        </p:nvSpPr>
        <p:spPr>
          <a:xfrm>
            <a:off x="1828800" y="3986783"/>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300" b="1" i="0" u="none" spc="120">
                <a:solidFill>
                  <a:srgbClr val="FFFFFF"/>
                </a:solidFill>
                <a:latin typeface="Calibri Light"/>
              </a:rPr>
              <a:t>Applied Theology</a:t>
            </a:r>
          </a:p>
        </p:txBody>
      </p:sp>
      <p:sp>
        <p:nvSpPr>
          <p:cNvPr id="20" name="TextBox 19"/>
          <p:cNvSpPr txBox="1"/>
          <p:nvPr/>
        </p:nvSpPr>
        <p:spPr>
          <a:xfrm>
            <a:off x="1828800" y="4334256"/>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000" b="0" i="0" u="none">
                <a:solidFill>
                  <a:srgbClr val="9AA5BC"/>
                </a:solidFill>
                <a:latin typeface="Calibri"/>
              </a:rPr>
              <a:t>the Christian life, ethics and the theology of the world's great questions</a:t>
            </a:r>
          </a:p>
        </p:txBody>
      </p:sp>
      <p:cxnSp>
        <p:nvCxnSpPr>
          <p:cNvPr id="21" name="Connector 20"/>
          <p:cNvCxnSpPr/>
          <p:nvPr/>
        </p:nvCxnSpPr>
        <p:spPr>
          <a:xfrm>
            <a:off x="1179576" y="4681728"/>
            <a:ext cx="0" cy="173736"/>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22960" y="4855464"/>
            <a:ext cx="713232" cy="713232"/>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2960" y="4855464"/>
            <a:ext cx="713232" cy="713232"/>
          </a:xfrm>
          <a:prstGeom prst="rect">
            <a:avLst/>
          </a:prstGeom>
          <a:noFill/>
        </p:spPr>
        <p:txBody>
          <a:bodyPr wrap="square" anchor="ctr" lIns="0" rIns="0" tIns="0" bIns="0">
            <a:spAutoFit/>
          </a:bodyPr>
          <a:lstStyle/>
          <a:p>
            <a:pPr algn="ctr">
              <a:lnSpc>
                <a:spcPct val="100000"/>
              </a:lnSpc>
              <a:spcBef>
                <a:spcPts val="0"/>
              </a:spcBef>
              <a:spcAft>
                <a:spcPts val="0"/>
              </a:spcAft>
            </a:pPr>
            <a:r>
              <a:rPr sz="2000" b="1" i="0" u="none">
                <a:solidFill>
                  <a:srgbClr val="E6D3A3"/>
                </a:solidFill>
                <a:latin typeface="Palatino Linotype"/>
              </a:rPr>
              <a:t>IV</a:t>
            </a:r>
          </a:p>
        </p:txBody>
      </p:sp>
      <p:sp>
        <p:nvSpPr>
          <p:cNvPr id="24" name="TextBox 23"/>
          <p:cNvSpPr txBox="1"/>
          <p:nvPr/>
        </p:nvSpPr>
        <p:spPr>
          <a:xfrm>
            <a:off x="1828800" y="4873751"/>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300" b="1" i="0" u="none" spc="120">
                <a:solidFill>
                  <a:srgbClr val="FFFFFF"/>
                </a:solidFill>
                <a:latin typeface="Calibri Light"/>
              </a:rPr>
              <a:t>Historical Theology</a:t>
            </a:r>
          </a:p>
        </p:txBody>
      </p:sp>
      <p:sp>
        <p:nvSpPr>
          <p:cNvPr id="25" name="TextBox 24"/>
          <p:cNvSpPr txBox="1"/>
          <p:nvPr/>
        </p:nvSpPr>
        <p:spPr>
          <a:xfrm>
            <a:off x="1828800" y="5221224"/>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000" b="0" i="0" u="none">
                <a:solidFill>
                  <a:srgbClr val="9AA5BC"/>
                </a:solidFill>
                <a:latin typeface="Calibri"/>
              </a:rPr>
              <a:t>the faith as confessed and lived from the apostles to the present</a:t>
            </a:r>
          </a:p>
        </p:txBody>
      </p:sp>
      <p:cxnSp>
        <p:nvCxnSpPr>
          <p:cNvPr id="26" name="Connector 25"/>
          <p:cNvCxnSpPr/>
          <p:nvPr/>
        </p:nvCxnSpPr>
        <p:spPr>
          <a:xfrm>
            <a:off x="1179576" y="5568696"/>
            <a:ext cx="0" cy="173735"/>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822960" y="5742431"/>
            <a:ext cx="713232" cy="713232"/>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22960" y="5742431"/>
            <a:ext cx="713232" cy="713232"/>
          </a:xfrm>
          <a:prstGeom prst="rect">
            <a:avLst/>
          </a:prstGeom>
          <a:noFill/>
        </p:spPr>
        <p:txBody>
          <a:bodyPr wrap="square" anchor="ctr" lIns="0" rIns="0" tIns="0" bIns="0">
            <a:spAutoFit/>
          </a:bodyPr>
          <a:lstStyle/>
          <a:p>
            <a:pPr algn="ctr">
              <a:lnSpc>
                <a:spcPct val="100000"/>
              </a:lnSpc>
              <a:spcBef>
                <a:spcPts val="0"/>
              </a:spcBef>
              <a:spcAft>
                <a:spcPts val="0"/>
              </a:spcAft>
            </a:pPr>
            <a:r>
              <a:rPr sz="2000" b="1" i="0" u="none">
                <a:solidFill>
                  <a:srgbClr val="E6D3A3"/>
                </a:solidFill>
                <a:latin typeface="Palatino Linotype"/>
              </a:rPr>
              <a:t>V</a:t>
            </a:r>
          </a:p>
        </p:txBody>
      </p:sp>
      <p:sp>
        <p:nvSpPr>
          <p:cNvPr id="29" name="TextBox 28"/>
          <p:cNvSpPr txBox="1"/>
          <p:nvPr/>
        </p:nvSpPr>
        <p:spPr>
          <a:xfrm>
            <a:off x="1828800" y="5760719"/>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300" b="1" i="0" u="none" spc="120">
                <a:solidFill>
                  <a:srgbClr val="FFFFFF"/>
                </a:solidFill>
                <a:latin typeface="Calibri Light"/>
              </a:rPr>
              <a:t>Advanced Theology</a:t>
            </a:r>
          </a:p>
        </p:txBody>
      </p:sp>
      <p:sp>
        <p:nvSpPr>
          <p:cNvPr id="30" name="TextBox 29"/>
          <p:cNvSpPr txBox="1"/>
          <p:nvPr/>
        </p:nvSpPr>
        <p:spPr>
          <a:xfrm>
            <a:off x="1828800" y="6108192"/>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000" b="0" i="0" u="none">
                <a:solidFill>
                  <a:srgbClr val="9AA5BC"/>
                </a:solidFill>
                <a:latin typeface="Calibri"/>
              </a:rPr>
              <a:t>apologetics, comparative traditions and the method of original research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a:off x="822960" y="56692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713232"/>
            <a:ext cx="1054577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COURSE OVERVIEW</a:t>
            </a:r>
          </a:p>
        </p:txBody>
      </p:sp>
      <p:sp>
        <p:nvSpPr>
          <p:cNvPr id="5" name="TextBox 4"/>
          <p:cNvSpPr txBox="1"/>
          <p:nvPr/>
        </p:nvSpPr>
        <p:spPr>
          <a:xfrm>
            <a:off x="822960" y="1005840"/>
            <a:ext cx="10545775" cy="548640"/>
          </a:xfrm>
          <a:prstGeom prst="rect">
            <a:avLst/>
          </a:prstGeom>
          <a:noFill/>
        </p:spPr>
        <p:txBody>
          <a:bodyPr wrap="square" anchor="t" lIns="0" rIns="0" tIns="0" bIns="0">
            <a:spAutoFit/>
          </a:bodyPr>
          <a:lstStyle/>
          <a:p>
            <a:pPr algn="l">
              <a:lnSpc>
                <a:spcPct val="100000"/>
              </a:lnSpc>
              <a:spcBef>
                <a:spcPts val="0"/>
              </a:spcBef>
              <a:spcAft>
                <a:spcPts val="0"/>
              </a:spcAft>
            </a:pPr>
            <a:r>
              <a:rPr sz="2700" b="1" i="0" u="none">
                <a:solidFill>
                  <a:srgbClr val="232A38"/>
                </a:solidFill>
                <a:latin typeface="Palatino Linotype"/>
              </a:rPr>
              <a:t>The Structure of the Programme</a:t>
            </a:r>
          </a:p>
        </p:txBody>
      </p:sp>
      <p:sp>
        <p:nvSpPr>
          <p:cNvPr id="6" name="Rectangle 5"/>
          <p:cNvSpPr/>
          <p:nvPr/>
        </p:nvSpPr>
        <p:spPr>
          <a:xfrm>
            <a:off x="822960" y="190195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87552" y="1783080"/>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01</a:t>
            </a:r>
          </a:p>
        </p:txBody>
      </p:sp>
      <p:sp>
        <p:nvSpPr>
          <p:cNvPr id="8" name="TextBox 7"/>
          <p:cNvSpPr txBox="1"/>
          <p:nvPr/>
        </p:nvSpPr>
        <p:spPr>
          <a:xfrm>
            <a:off x="1600200" y="1783080"/>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Foundations of Christian Theology</a:t>
            </a:r>
          </a:p>
        </p:txBody>
      </p:sp>
      <p:cxnSp>
        <p:nvCxnSpPr>
          <p:cNvPr id="9" name="Connector 8"/>
          <p:cNvCxnSpPr/>
          <p:nvPr/>
        </p:nvCxnSpPr>
        <p:spPr>
          <a:xfrm>
            <a:off x="822960" y="2276856"/>
            <a:ext cx="4632807"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822960" y="2436876"/>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87552" y="2318004"/>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02</a:t>
            </a:r>
          </a:p>
        </p:txBody>
      </p:sp>
      <p:sp>
        <p:nvSpPr>
          <p:cNvPr id="12" name="TextBox 11"/>
          <p:cNvSpPr txBox="1"/>
          <p:nvPr/>
        </p:nvSpPr>
        <p:spPr>
          <a:xfrm>
            <a:off x="1600200" y="2318004"/>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The Bible: The Book of Theology</a:t>
            </a:r>
          </a:p>
        </p:txBody>
      </p:sp>
      <p:cxnSp>
        <p:nvCxnSpPr>
          <p:cNvPr id="13" name="Connector 12"/>
          <p:cNvCxnSpPr/>
          <p:nvPr/>
        </p:nvCxnSpPr>
        <p:spPr>
          <a:xfrm>
            <a:off x="822960" y="2811780"/>
            <a:ext cx="4632807"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22960" y="2971800"/>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87552" y="2852928"/>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03</a:t>
            </a:r>
          </a:p>
        </p:txBody>
      </p:sp>
      <p:sp>
        <p:nvSpPr>
          <p:cNvPr id="16" name="TextBox 15"/>
          <p:cNvSpPr txBox="1"/>
          <p:nvPr/>
        </p:nvSpPr>
        <p:spPr>
          <a:xfrm>
            <a:off x="1600200" y="2852928"/>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Theology Proper: The Doctrine of God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8275319" y="2309774"/>
            <a:ext cx="2834640" cy="2834640"/>
          </a:xfrm>
          <a:prstGeom prst="ellipse">
            <a:avLst/>
          </a:prstGeom>
          <a:noFill/>
          <a:ln w="1143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flipV="1">
            <a:off x="9692640" y="3379622"/>
            <a:ext cx="0" cy="640080"/>
          </a:xfrm>
          <a:prstGeom prst="line">
            <a:avLst/>
          </a:prstGeom>
          <a:ln w="2032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321040" y="3343046"/>
            <a:ext cx="1371600" cy="338328"/>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9692640" y="3343046"/>
            <a:ext cx="1371600" cy="338328"/>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321040" y="4001414"/>
            <a:ext cx="1371600" cy="36576"/>
          </a:xfrm>
          <a:prstGeom prst="line">
            <a:avLst/>
          </a:prstGeom>
          <a:ln w="1270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692640" y="4001414"/>
            <a:ext cx="1371600" cy="36576"/>
          </a:xfrm>
          <a:prstGeom prst="line">
            <a:avLst/>
          </a:prstGeom>
          <a:ln w="1270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21040" y="368137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064240" y="368137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8522208" y="3377062"/>
            <a:ext cx="1005840" cy="274137"/>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522208" y="3439424"/>
            <a:ext cx="1005840" cy="156454"/>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522208" y="3501786"/>
            <a:ext cx="1005840" cy="3877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646919" y="2968142"/>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01</a:t>
            </a:r>
          </a:p>
        </p:txBody>
      </p:sp>
      <p:sp>
        <p:nvSpPr>
          <p:cNvPr id="18" name="TextBox 17"/>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01</a:t>
            </a:r>
          </a:p>
        </p:txBody>
      </p:sp>
      <p:sp>
        <p:nvSpPr>
          <p:cNvPr id="19" name="TextBox 18"/>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FOUNDATIONS OF CHRISTIAN THEOLOGY</a:t>
            </a:r>
          </a:p>
        </p:txBody>
      </p:sp>
      <p:cxnSp>
        <p:nvCxnSpPr>
          <p:cNvPr id="20" name="Connector 19"/>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Exploring the meaning, nature, sources, purpose and foundational principles of theological reflection.</a:t>
            </a:r>
          </a:p>
        </p:txBody>
      </p:sp>
      <p:sp>
        <p:nvSpPr>
          <p:cNvPr id="22" name="Rectangle 21"/>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01955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21615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41274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60934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01</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FOUNDATIONS OF CHRISTIAN THEOLOGY</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Foundations of Christian Theology</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56692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This module asks the threshold question: what is theology, and how is it done? It examines the word, its Greek and Latin roots, and the distinction between natural knowledge of God and revealed theology.</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56692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From the early Church's 'sacred science' to the medieval quadrivium and the modern university faculties, the study of divinity has always been anchored in the conviction that God has spoken — and that faith seeks understanding (fides quaerens intellectum).</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56692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Everything that follows in this programme depends on the answers given here: the sources of theology, its method, its language and its relation to philosophy, science and experience.</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define Christian theology, locate its sources, and adopt the disciplined method that the whole programme will 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Definition and Meaning of Theology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term 'theology' (theologia) is a Hellenistic coinage — found in Homer, Plato and Plutarch — but in the Christian sense it denotes the science of God as revealed in Scripture. Systematic theology distinguishes natural theology (knowledge of God from creation and conscience) from revealed theology (knowledge of God from his self-communication), while holding that the latter corrects and completes the former. Theologians have variously defined the discipline as 'faith seeking understanding', the science of the triune God, or the rational exposition of Christian belief.</a:t>
            </a:r>
          </a:p>
        </p:txBody>
      </p:sp>
      <p:sp>
        <p:nvSpPr>
          <p:cNvPr id="9" name="Rectangle 8"/>
          <p:cNvSpPr/>
          <p:nvPr/>
        </p:nvSpPr>
        <p:spPr>
          <a:xfrm>
            <a:off x="7973568" y="1810512"/>
            <a:ext cx="3395167" cy="233172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2011680"/>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340864"/>
            <a:ext cx="2937967" cy="1700784"/>
          </a:xfrm>
          <a:prstGeom prst="rect">
            <a:avLst/>
          </a:prstGeom>
          <a:noFill/>
        </p:spPr>
        <p:txBody>
          <a:bodyPr wrap="square" anchor="t" lIns="0" rIns="0" tIns="0" bIns="0">
            <a:spAutoFit/>
          </a:bodyPr>
          <a:lstStyle/>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Theologia: from theos (God) + logos (word, reason, discourse)</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Natural theology: knowledge of God from creation (Ps. 19; Rom. 1:20)</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Revealed theology: knowledge from God's self-communication</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Fides quaerens intellectum — Anselm's programme for Christian reflection</a:t>
            </a:r>
          </a:p>
        </p:txBody>
      </p:sp>
      <p:sp>
        <p:nvSpPr>
          <p:cNvPr id="13" name="Rectangle 12"/>
          <p:cNvSpPr/>
          <p:nvPr/>
        </p:nvSpPr>
        <p:spPr>
          <a:xfrm>
            <a:off x="7973568" y="4224528"/>
            <a:ext cx="3395167" cy="175564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4224528"/>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407408"/>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718304"/>
            <a:ext cx="2937967" cy="118872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19:1</a:t>
            </a:r>
          </a:p>
          <a:p>
            <a:pPr algn="l">
              <a:lnSpc>
                <a:spcPct val="108000"/>
              </a:lnSpc>
              <a:spcBef>
                <a:spcPts val="0"/>
              </a:spcBef>
              <a:spcAft>
                <a:spcPts val="250"/>
              </a:spcAft>
            </a:pPr>
            <a:r>
              <a:rPr sz="1000" b="0" i="1" u="none">
                <a:solidFill>
                  <a:srgbClr val="232A38"/>
                </a:solidFill>
                <a:latin typeface="Calibri"/>
              </a:rPr>
              <a:t>Romans 1:19-20</a:t>
            </a:r>
          </a:p>
          <a:p>
            <a:pPr algn="l">
              <a:lnSpc>
                <a:spcPct val="108000"/>
              </a:lnSpc>
              <a:spcBef>
                <a:spcPts val="0"/>
              </a:spcBef>
              <a:spcAft>
                <a:spcPts val="250"/>
              </a:spcAft>
            </a:pPr>
            <a:r>
              <a:rPr sz="1000" b="0" i="1" u="none">
                <a:solidFill>
                  <a:srgbClr val="232A38"/>
                </a:solidFill>
                <a:latin typeface="Calibri"/>
              </a:rPr>
              <a:t>1 Corinthians 2:10-13</a:t>
            </a:r>
          </a:p>
          <a:p>
            <a:pPr algn="l">
              <a:lnSpc>
                <a:spcPct val="108000"/>
              </a:lnSpc>
              <a:spcBef>
                <a:spcPts val="0"/>
              </a:spcBef>
              <a:spcAft>
                <a:spcPts val="250"/>
              </a:spcAft>
            </a:pPr>
            <a:r>
              <a:rPr sz="1000" b="0" i="1" u="none">
                <a:solidFill>
                  <a:srgbClr val="232A38"/>
                </a:solidFill>
                <a:latin typeface="Calibri"/>
              </a:rPr>
              <a:t>2 Timothy 2:15</a:t>
            </a:r>
          </a:p>
          <a:p>
            <a:pPr algn="l">
              <a:lnSpc>
                <a:spcPct val="110000"/>
              </a:lnSpc>
              <a:spcBef>
                <a:spcPts val="400"/>
              </a:spcBef>
              <a:spcAft>
                <a:spcPts val="0"/>
              </a:spcAft>
            </a:pPr>
            <a:r>
              <a:rPr sz="950" b="0" i="0" u="none">
                <a:solidFill>
                  <a:srgbClr val="4C566B"/>
                </a:solidFill>
                <a:latin typeface="Calibri"/>
              </a:rPr>
              <a:t>The word entered Christian usage via Philo of Alexandria and was adopted by the Greek Fathers; Origen's De Principiis (c. 215) is often cited as the earliest Christian systematic work.</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Christian theology is the disciplined study of God as he has revealed himself — reason in the service of faith, not its replacement.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Sources of Christian Theology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Historic Christian theology rests on a fourfold source that different traditions weight differently: Scripture, which the entire Church affirms as the inspired, authoritative norm (norma normans); the creeds and confessions of the historic Church; the tradition of the Church's doctrine, worship and life; and the experience of believers, illuminated by the Spirit. Roman Catholic, Eastern Orthodox, Reformed and Evangelical traditions order these sources differently, and an honest theological method makes the relationships explicit rather than implicit.</a:t>
            </a:r>
          </a:p>
        </p:txBody>
      </p:sp>
      <p:sp>
        <p:nvSpPr>
          <p:cNvPr id="9" name="Rectangle 8"/>
          <p:cNvSpPr/>
          <p:nvPr/>
        </p:nvSpPr>
        <p:spPr>
          <a:xfrm>
            <a:off x="7973568" y="1810512"/>
            <a:ext cx="3395167" cy="233172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2011680"/>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340864"/>
            <a:ext cx="2937967" cy="1700784"/>
          </a:xfrm>
          <a:prstGeom prst="rect">
            <a:avLst/>
          </a:prstGeom>
          <a:noFill/>
        </p:spPr>
        <p:txBody>
          <a:bodyPr wrap="square" anchor="t" lIns="0" rIns="0" tIns="0" bIns="0">
            <a:spAutoFit/>
          </a:bodyPr>
          <a:lstStyle/>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Scripture: the inspired, authoritative norm of doctrine (Sola Scriptura)</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Creeds and confessions: secondary rules of faith (Apostles', Nicene, Chalcedonian)</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Tradition: the living transmission of the faith (traditio)</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Experience: the Spirit-witnessed life of believers</a:t>
            </a:r>
          </a:p>
        </p:txBody>
      </p:sp>
      <p:sp>
        <p:nvSpPr>
          <p:cNvPr id="13" name="Rectangle 12"/>
          <p:cNvSpPr/>
          <p:nvPr/>
        </p:nvSpPr>
        <p:spPr>
          <a:xfrm>
            <a:off x="7973568" y="4224528"/>
            <a:ext cx="3395167" cy="175564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4224528"/>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407408"/>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718304"/>
            <a:ext cx="2937967" cy="118872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3:16-17</a:t>
            </a:r>
          </a:p>
          <a:p>
            <a:pPr algn="l">
              <a:lnSpc>
                <a:spcPct val="108000"/>
              </a:lnSpc>
              <a:spcBef>
                <a:spcPts val="0"/>
              </a:spcBef>
              <a:spcAft>
                <a:spcPts val="250"/>
              </a:spcAft>
            </a:pPr>
            <a:r>
              <a:rPr sz="1000" b="0" i="1" u="none">
                <a:solidFill>
                  <a:srgbClr val="232A38"/>
                </a:solidFill>
                <a:latin typeface="Calibri"/>
              </a:rPr>
              <a:t>2 Peter 1:20-21</a:t>
            </a:r>
          </a:p>
          <a:p>
            <a:pPr algn="l">
              <a:lnSpc>
                <a:spcPct val="108000"/>
              </a:lnSpc>
              <a:spcBef>
                <a:spcPts val="0"/>
              </a:spcBef>
              <a:spcAft>
                <a:spcPts val="250"/>
              </a:spcAft>
            </a:pPr>
            <a:r>
              <a:rPr sz="1000" b="0" i="1" u="none">
                <a:solidFill>
                  <a:srgbClr val="232A38"/>
                </a:solidFill>
                <a:latin typeface="Calibri"/>
              </a:rPr>
              <a:t>1 Corinthians 11:2</a:t>
            </a:r>
          </a:p>
          <a:p>
            <a:pPr algn="l">
              <a:lnSpc>
                <a:spcPct val="108000"/>
              </a:lnSpc>
              <a:spcBef>
                <a:spcPts val="0"/>
              </a:spcBef>
              <a:spcAft>
                <a:spcPts val="250"/>
              </a:spcAft>
            </a:pPr>
            <a:r>
              <a:rPr sz="1000" b="0" i="1" u="none">
                <a:solidFill>
                  <a:srgbClr val="232A38"/>
                </a:solidFill>
                <a:latin typeface="Calibri"/>
              </a:rPr>
              <a:t>Hebrews 1:1-2</a:t>
            </a:r>
          </a:p>
          <a:p>
            <a:pPr algn="l">
              <a:lnSpc>
                <a:spcPct val="110000"/>
              </a:lnSpc>
              <a:spcBef>
                <a:spcPts val="400"/>
              </a:spcBef>
              <a:spcAft>
                <a:spcPts val="0"/>
              </a:spcAft>
            </a:pPr>
            <a:r>
              <a:rPr sz="950" b="0" i="0" u="none">
                <a:solidFill>
                  <a:srgbClr val="4C566B"/>
                </a:solidFill>
                <a:latin typeface="Calibri"/>
              </a:rPr>
              <a:t>The classic Westminster Confession (1646) locates the 'supreme judge' in Scripture alone, while the Eastern tradition emphasises conciliar definition within the life of the Church.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must state its sources and their hierarchy — the differences between traditions are differences of ordering, not of inventing new authorities.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and Method of Theological Reflection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method of theology begins with the biblical texts, proceeds through careful exegesis, collects the witness of Scripture on each theme, and articulates it in doctrinal language. The classical movement is descriptive (what the texts say), dialectical (how apparent tensions are weighed) and constructive (the systematic statement). The whole process is checked against the rule of faith (regula fidei) and the confessions of the Church. Modern method additionally engages historical criticism, philosophy of religion and the social sciences as tools that serve, but do not govern, the theological task.</a:t>
            </a:r>
          </a:p>
        </p:txBody>
      </p:sp>
      <p:sp>
        <p:nvSpPr>
          <p:cNvPr id="9" name="Rectangle 8"/>
          <p:cNvSpPr/>
          <p:nvPr/>
        </p:nvSpPr>
        <p:spPr>
          <a:xfrm>
            <a:off x="7973568" y="1810512"/>
            <a:ext cx="3395167" cy="233172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2011680"/>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340864"/>
            <a:ext cx="2937967" cy="1700784"/>
          </a:xfrm>
          <a:prstGeom prst="rect">
            <a:avLst/>
          </a:prstGeom>
          <a:noFill/>
        </p:spPr>
        <p:txBody>
          <a:bodyPr wrap="square" anchor="t" lIns="0" rIns="0" tIns="0" bIns="0">
            <a:spAutoFit/>
          </a:bodyPr>
          <a:lstStyle/>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Exegesis before dogmatics: the texts precede the system</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Regula fidei: the rule by which interpretation is tested</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Analogia fidei: interpretation governed by the whole of Scripture</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The interplay of tradition, text and contemporary situation</a:t>
            </a:r>
          </a:p>
        </p:txBody>
      </p:sp>
      <p:sp>
        <p:nvSpPr>
          <p:cNvPr id="13" name="Rectangle 12"/>
          <p:cNvSpPr/>
          <p:nvPr/>
        </p:nvSpPr>
        <p:spPr>
          <a:xfrm>
            <a:off x="7973568" y="4224528"/>
            <a:ext cx="3395167" cy="175564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4224528"/>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407408"/>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718304"/>
            <a:ext cx="2937967" cy="118872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Isaiah 8:20</a:t>
            </a:r>
          </a:p>
          <a:p>
            <a:pPr algn="l">
              <a:lnSpc>
                <a:spcPct val="108000"/>
              </a:lnSpc>
              <a:spcBef>
                <a:spcPts val="0"/>
              </a:spcBef>
              <a:spcAft>
                <a:spcPts val="250"/>
              </a:spcAft>
            </a:pPr>
            <a:r>
              <a:rPr sz="1000" b="0" i="1" u="none">
                <a:solidFill>
                  <a:srgbClr val="232A38"/>
                </a:solidFill>
                <a:latin typeface="Calibri"/>
              </a:rPr>
              <a:t>Acts 17:11</a:t>
            </a:r>
          </a:p>
          <a:p>
            <a:pPr algn="l">
              <a:lnSpc>
                <a:spcPct val="108000"/>
              </a:lnSpc>
              <a:spcBef>
                <a:spcPts val="0"/>
              </a:spcBef>
              <a:spcAft>
                <a:spcPts val="250"/>
              </a:spcAft>
            </a:pPr>
            <a:r>
              <a:rPr sz="1000" b="0" i="1" u="none">
                <a:solidFill>
                  <a:srgbClr val="232A38"/>
                </a:solidFill>
                <a:latin typeface="Calibri"/>
              </a:rPr>
              <a:t>1 Timothy 3:15</a:t>
            </a:r>
          </a:p>
          <a:p>
            <a:pPr algn="l">
              <a:lnSpc>
                <a:spcPct val="108000"/>
              </a:lnSpc>
              <a:spcBef>
                <a:spcPts val="0"/>
              </a:spcBef>
              <a:spcAft>
                <a:spcPts val="250"/>
              </a:spcAft>
            </a:pPr>
            <a:r>
              <a:rPr sz="1000" b="0" i="1" u="none">
                <a:solidFill>
                  <a:srgbClr val="232A38"/>
                </a:solidFill>
                <a:latin typeface="Calibri"/>
              </a:rPr>
              <a:t>2 John 9</a:t>
            </a:r>
          </a:p>
          <a:p>
            <a:pPr algn="l">
              <a:lnSpc>
                <a:spcPct val="110000"/>
              </a:lnSpc>
              <a:spcBef>
                <a:spcPts val="400"/>
              </a:spcBef>
              <a:spcAft>
                <a:spcPts val="0"/>
              </a:spcAft>
            </a:pPr>
            <a:r>
              <a:rPr sz="950" b="0" i="0" u="none">
                <a:solidFill>
                  <a:srgbClr val="4C566B"/>
                </a:solidFill>
                <a:latin typeface="Calibri"/>
              </a:rPr>
              <a:t>Irenaeus of Lyons developed the rule of faith against the Gnostics; the Reformation recovered 'scripture interpreting scripture' as a governing principle.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Sound method is circular in the best sense: text, tradition and situation check one another until the confession coheres with the whole of revelation.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01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Foundations of Christian Theology</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Theology is the science of God as revealed, rooted in the conviction that God speaks.</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Scripture is the supreme norm; creeds, tradition and experience are subordinate witnesses.</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A disciplined method moves from exegesis through doctrinal articulation to confessional statement.</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sources established here — above all Scripture — become the primary material of every later module; the method recurs in biblical, historical and systematic theology alike.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fixed the sources and method of theology, the programme turns to the supreme text itself: the Bible as the book of theology.</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02 · The Bible: The Book of Theology</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02</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THE BIBLE: THE BOOK OF THEOLOGY</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fixed the sources and method of theology, the programme turns to the supreme text itself: the Bible as the book of theology.</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641080" y="3826764"/>
            <a:ext cx="2103120" cy="45720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915400" y="3259836"/>
            <a:ext cx="1554480" cy="45720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9189719" y="2692908"/>
            <a:ext cx="1005840" cy="457200"/>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 name="Connector 6"/>
          <p:cNvCxnSpPr/>
          <p:nvPr/>
        </p:nvCxnSpPr>
        <p:spPr>
          <a:xfrm flipV="1">
            <a:off x="9692640" y="1997964"/>
            <a:ext cx="0" cy="2377440"/>
          </a:xfrm>
          <a:prstGeom prst="line">
            <a:avLst/>
          </a:prstGeom>
          <a:ln w="10160">
            <a:solidFill>
              <a:srgbClr val="6E7A93"/>
            </a:solidFill>
            <a:prstDash val="dash"/>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9642348" y="1856232"/>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02</a:t>
            </a:r>
          </a:p>
        </p:txBody>
      </p:sp>
      <p:sp>
        <p:nvSpPr>
          <p:cNvPr id="11" name="TextBox 10"/>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02</a:t>
            </a:r>
          </a:p>
        </p:txBody>
      </p:sp>
      <p:sp>
        <p:nvSpPr>
          <p:cNvPr id="12" name="TextBox 11"/>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THE BIBLE: THE BOOK OF THEOLOGY</a:t>
            </a:r>
          </a:p>
        </p:txBody>
      </p:sp>
      <p:cxnSp>
        <p:nvCxnSpPr>
          <p:cNvPr id="13" name="Connector 12"/>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formation, inspiration, authority and interpretation of the Scriptures as the rule of Christian faith.</a:t>
            </a:r>
          </a:p>
        </p:txBody>
      </p:sp>
      <p:sp>
        <p:nvSpPr>
          <p:cNvPr id="15" name="Rectangle 14"/>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21615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41274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60934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02</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THE BIBLE: THE BOOK OF THEOLOGY</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The Bible: The Book of Theology</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56692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Biblical theology in the prolegomenal sense studies the Bible itself: its formation, its claim to be the word of God, its canon, its transmission and its interpretation.</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56692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Scriptures emerged within the covenant community of Israel and the Church, were recognised by the community's rule of faith, and have been transmitted, translated and interpreted across twenty centuries of church history.</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56692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If Scripture is the norm of all doctrine, then every other module stands or falls with the questions answered here: what the Bible is, why it is authoritative, and how it is to be read.</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the nature, authority and canonical structure of the Bible, and to adopt responsible principles of interpretation.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Formation and Composition of the Old Testament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Old Testament grew over centuries within Israel's covenant life: the Torah (the five books of Moses), the historical books, the wisdom and poetic literature, and the prophetic writings. The Hebrew canon — Law, Prophets and Writings (Nevi'im and Ketuvim) — was fixed in its present form around the time of the Council of Jamnia (c. 90 AD), though its books were recognised earlier as Scripture within the community. The division into 39 books corresponds to the Jewish threefold division.</a:t>
            </a:r>
          </a:p>
        </p:txBody>
      </p:sp>
      <p:sp>
        <p:nvSpPr>
          <p:cNvPr id="9" name="Rectangle 8"/>
          <p:cNvSpPr/>
          <p:nvPr/>
        </p:nvSpPr>
        <p:spPr>
          <a:xfrm>
            <a:off x="7973568" y="1810512"/>
            <a:ext cx="3395167" cy="233172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2011680"/>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340864"/>
            <a:ext cx="2937967" cy="1700784"/>
          </a:xfrm>
          <a:prstGeom prst="rect">
            <a:avLst/>
          </a:prstGeom>
          <a:noFill/>
        </p:spPr>
        <p:txBody>
          <a:bodyPr wrap="square" anchor="t" lIns="0" rIns="0" tIns="0" bIns="0">
            <a:spAutoFit/>
          </a:bodyPr>
          <a:lstStyle/>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Torah, Nevi'im, Ketuvim: the threefold Hebrew canon</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Dictated, prophetic, wisdom and apostolic modes of composition</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The canon: the process of recognition, not creation, of Scripture</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The Masoretic Text as the standard Hebrew witness</a:t>
            </a:r>
          </a:p>
        </p:txBody>
      </p:sp>
      <p:sp>
        <p:nvSpPr>
          <p:cNvPr id="13" name="Rectangle 12"/>
          <p:cNvSpPr/>
          <p:nvPr/>
        </p:nvSpPr>
        <p:spPr>
          <a:xfrm>
            <a:off x="7973568" y="4224528"/>
            <a:ext cx="3395167" cy="175564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4224528"/>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407408"/>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718304"/>
            <a:ext cx="2937967" cy="118872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Deuteronomy 4:2</a:t>
            </a:r>
          </a:p>
          <a:p>
            <a:pPr algn="l">
              <a:lnSpc>
                <a:spcPct val="108000"/>
              </a:lnSpc>
              <a:spcBef>
                <a:spcPts val="0"/>
              </a:spcBef>
              <a:spcAft>
                <a:spcPts val="250"/>
              </a:spcAft>
            </a:pPr>
            <a:r>
              <a:rPr sz="1000" b="0" i="1" u="none">
                <a:solidFill>
                  <a:srgbClr val="232A38"/>
                </a:solidFill>
                <a:latin typeface="Calibri"/>
              </a:rPr>
              <a:t>Nehemiah 8:8</a:t>
            </a:r>
          </a:p>
          <a:p>
            <a:pPr algn="l">
              <a:lnSpc>
                <a:spcPct val="108000"/>
              </a:lnSpc>
              <a:spcBef>
                <a:spcPts val="0"/>
              </a:spcBef>
              <a:spcAft>
                <a:spcPts val="250"/>
              </a:spcAft>
            </a:pPr>
            <a:r>
              <a:rPr sz="1000" b="0" i="1" u="none">
                <a:solidFill>
                  <a:srgbClr val="232A38"/>
                </a:solidFill>
                <a:latin typeface="Calibri"/>
              </a:rPr>
              <a:t>2 Timothy 3:14</a:t>
            </a:r>
          </a:p>
          <a:p>
            <a:pPr algn="l">
              <a:lnSpc>
                <a:spcPct val="108000"/>
              </a:lnSpc>
              <a:spcBef>
                <a:spcPts val="0"/>
              </a:spcBef>
              <a:spcAft>
                <a:spcPts val="250"/>
              </a:spcAft>
            </a:pPr>
            <a:r>
              <a:rPr sz="1000" b="0" i="1" u="none">
                <a:solidFill>
                  <a:srgbClr val="232A38"/>
                </a:solidFill>
                <a:latin typeface="Calibri"/>
              </a:rPr>
              <a:t>Psalm 119:152</a:t>
            </a:r>
          </a:p>
          <a:p>
            <a:pPr algn="l">
              <a:lnSpc>
                <a:spcPct val="110000"/>
              </a:lnSpc>
              <a:spcBef>
                <a:spcPts val="400"/>
              </a:spcBef>
              <a:spcAft>
                <a:spcPts val="0"/>
              </a:spcAft>
            </a:pPr>
            <a:r>
              <a:rPr sz="950" b="0" i="0" u="none">
                <a:solidFill>
                  <a:srgbClr val="4C566B"/>
                </a:solidFill>
                <a:latin typeface="Calibri"/>
              </a:rPr>
              <a:t>The Septuagint (LXX), the Greek translation made in Alexandria (c. 250-150 BC), shaped the New Testament's quotation of the Old and the canon of the early Church.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Old Testament is a library of covenant history — canonised by the faithful community's recognition of God's authoritative word within it.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Formation and Composition of the New Testament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New Testament arose in the decades following the resurrection: the Gospels and Acts, the Pauline and general epistles, and Revelation. The writings circulated among the churches, were read in worship alongside the Old Testament, and were collected into the fourfold Gospel and the complete canon. By the late fourth century — the Syntaxis of Athanasius (367) and the Councils of Hippo (393) and Carthage (397) — the 27-book canon had achieved its final, universal shape, recognised on the basis of apostolicity, orthodoxy and catholic usage.</a:t>
            </a:r>
          </a:p>
        </p:txBody>
      </p:sp>
      <p:sp>
        <p:nvSpPr>
          <p:cNvPr id="9" name="Rectangle 8"/>
          <p:cNvSpPr/>
          <p:nvPr/>
        </p:nvSpPr>
        <p:spPr>
          <a:xfrm>
            <a:off x="7973568" y="1810512"/>
            <a:ext cx="3395167" cy="233172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2011680"/>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340864"/>
            <a:ext cx="2937967" cy="1700784"/>
          </a:xfrm>
          <a:prstGeom prst="rect">
            <a:avLst/>
          </a:prstGeom>
          <a:noFill/>
        </p:spPr>
        <p:txBody>
          <a:bodyPr wrap="square" anchor="t" lIns="0" rIns="0" tIns="0" bIns="0">
            <a:spAutoFit/>
          </a:bodyPr>
          <a:lstStyle/>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Apostolicity: the criterion of connection with the apostolic witness</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The fourfold Gospel: Matthew, Mark, Luke, John</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The canonical process: recognition by the church's rule of faith</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The Textus Receptus and the critical text: modern textual scholarship</a:t>
            </a:r>
          </a:p>
        </p:txBody>
      </p:sp>
      <p:sp>
        <p:nvSpPr>
          <p:cNvPr id="13" name="Rectangle 12"/>
          <p:cNvSpPr/>
          <p:nvPr/>
        </p:nvSpPr>
        <p:spPr>
          <a:xfrm>
            <a:off x="7973568" y="4224528"/>
            <a:ext cx="3395167" cy="175564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4224528"/>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407408"/>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718304"/>
            <a:ext cx="2937967" cy="118872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Luke 1:1-4</a:t>
            </a:r>
          </a:p>
          <a:p>
            <a:pPr algn="l">
              <a:lnSpc>
                <a:spcPct val="108000"/>
              </a:lnSpc>
              <a:spcBef>
                <a:spcPts val="0"/>
              </a:spcBef>
              <a:spcAft>
                <a:spcPts val="250"/>
              </a:spcAft>
            </a:pPr>
            <a:r>
              <a:rPr sz="1000" b="0" i="1" u="none">
                <a:solidFill>
                  <a:srgbClr val="232A38"/>
                </a:solidFill>
                <a:latin typeface="Calibri"/>
              </a:rPr>
              <a:t>2 Peter 3:15-16</a:t>
            </a:r>
          </a:p>
          <a:p>
            <a:pPr algn="l">
              <a:lnSpc>
                <a:spcPct val="108000"/>
              </a:lnSpc>
              <a:spcBef>
                <a:spcPts val="0"/>
              </a:spcBef>
              <a:spcAft>
                <a:spcPts val="250"/>
              </a:spcAft>
            </a:pPr>
            <a:r>
              <a:rPr sz="1000" b="0" i="1" u="none">
                <a:solidFill>
                  <a:srgbClr val="232A38"/>
                </a:solidFill>
                <a:latin typeface="Calibri"/>
              </a:rPr>
              <a:t>Revelation 22:18-19</a:t>
            </a:r>
          </a:p>
          <a:p>
            <a:pPr algn="l">
              <a:lnSpc>
                <a:spcPct val="108000"/>
              </a:lnSpc>
              <a:spcBef>
                <a:spcPts val="0"/>
              </a:spcBef>
              <a:spcAft>
                <a:spcPts val="250"/>
              </a:spcAft>
            </a:pPr>
            <a:r>
              <a:rPr sz="1000" b="0" i="1" u="none">
                <a:solidFill>
                  <a:srgbClr val="232A38"/>
                </a:solidFill>
                <a:latin typeface="Calibri"/>
              </a:rPr>
              <a:t>Matthew 28:20</a:t>
            </a:r>
          </a:p>
          <a:p>
            <a:pPr algn="l">
              <a:lnSpc>
                <a:spcPct val="110000"/>
              </a:lnSpc>
              <a:spcBef>
                <a:spcPts val="400"/>
              </a:spcBef>
              <a:spcAft>
                <a:spcPts val="0"/>
              </a:spcAft>
            </a:pPr>
            <a:r>
              <a:rPr sz="950" b="0" i="0" u="none">
                <a:solidFill>
                  <a:srgbClr val="4C566B"/>
                </a:solidFill>
                <a:latin typeface="Calibri"/>
              </a:rPr>
              <a:t>Muratorian Fragment (c. 170) and the lists of Athanasius, Tertullian and Eusebius trace the canon's emergence; the church's act was to discern, not to authorise.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New Testament canon is the Church's witness to the apostolic rule of faith — a library received and guarded, not a document issued from above.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02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The Bible: The Book of Theology</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Both Testaments are covenant libraries, canonised by the faithful community's recognition.</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39+27 book canon achieved its final form in the fourth century on the basis of apostolicity and usage.</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text was preserved through the LXX, the Masoretic Text and the patristic manuscripts.</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questions of inspiration and authority that close this module feed directly into the doctrines of God's word and of revelation in the systematic modules that follow.</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With the formation of the Bible established, the next module examines the Bible's divine character: its inspiration, authority and inerrancy.</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03 · Theology Proper: The Doctrine of God</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03</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THEOLOGY PROPER: THE DOCTRINE OF GOD</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With the formation of the Bible established, the next module examines the Bible's divine character: its inspiration, authority and inerrancy.</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189719" y="3095244"/>
            <a:ext cx="1005840" cy="1005840"/>
          </a:xfrm>
          <a:prstGeom prst="ellipse">
            <a:avLst/>
          </a:prstGeom>
          <a:noFill/>
          <a:ln w="1905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564624" y="3470148"/>
            <a:ext cx="256032" cy="25603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321040" y="2226564"/>
            <a:ext cx="2743200" cy="2743200"/>
          </a:xfrm>
          <a:prstGeom prst="ellipse">
            <a:avLst/>
          </a:prstGeom>
          <a:noFill/>
          <a:ln w="1016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10328502" y="3855069"/>
            <a:ext cx="568038" cy="229502"/>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1034099" y="4121075"/>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9960603" y="4229446"/>
            <a:ext cx="239381" cy="563945"/>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39436" y="4929729"/>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H="1">
            <a:off x="9206232" y="4234026"/>
            <a:ext cx="229502" cy="568038"/>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105720" y="4939623"/>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497412" y="3866127"/>
            <a:ext cx="563945" cy="239381"/>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297066" y="4144960"/>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H="1" flipV="1">
            <a:off x="8488739" y="3111756"/>
            <a:ext cx="568038" cy="229502"/>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287172" y="301124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H="1" flipV="1">
            <a:off x="9185295" y="2402936"/>
            <a:ext cx="239381" cy="563945"/>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081835" y="2202590"/>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9949545" y="2394263"/>
            <a:ext cx="229502" cy="568038"/>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0215551" y="2192696"/>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flipV="1">
            <a:off x="10323922" y="3090819"/>
            <a:ext cx="563945" cy="239381"/>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1024205" y="2987359"/>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03</a:t>
            </a:r>
          </a:p>
        </p:txBody>
      </p:sp>
      <p:sp>
        <p:nvSpPr>
          <p:cNvPr id="25" name="TextBox 24"/>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03</a:t>
            </a:r>
          </a:p>
        </p:txBody>
      </p:sp>
      <p:sp>
        <p:nvSpPr>
          <p:cNvPr id="26" name="TextBox 25"/>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THEOLOGY PROPER: THE DOCTRINE OF GOD</a:t>
            </a:r>
          </a:p>
        </p:txBody>
      </p:sp>
      <p:cxnSp>
        <p:nvCxnSpPr>
          <p:cNvPr id="27" name="Connector 26"/>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being, attributes and triune life of the one true God — the centre of the whole theological edifice.</a:t>
            </a:r>
          </a:p>
        </p:txBody>
      </p:sp>
      <p:sp>
        <p:nvSpPr>
          <p:cNvPr id="29" name="Rectangle 28"/>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141274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160934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03</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THEOLOGY PROPER: THE DOCTRINE OF GOD</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Theology Proper: The Doctrine of God</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56692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Theology proper is the doctrine of God: his being, his attributes, his triune life and his works. It is 'proper' in the technical sense that it treats God in himself before treating his relation to the world.</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56692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God is the root and crown of Christian faith: the creeds begin with God the Father, and the entire confession of the faith moves from the divine being outward to creation, redemption and glory.</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56692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Whatever the Church says about Christ, the Spirit, salvation or the end of all things is controlled by what it says about God. Theology proper is therefore the doctrinal centre of the programme.</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articulate the existence, attributes and triune personhood of God as Scripture and the creeds confess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Existence and Self-Revelation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Christian theology confesses that the God of Israel exists, is one, and has spoken. The classical arguments (cosmological, teleological, moral) are offered by the Church as rational aids to belief, but the Christian conviction rests primarily on God's self-revelation — in creation, in Israel's history, and supremely in Jesus Christ. The divine names of the Old Testament (YHWH, El Shaddai, El Elyon) are not abstract titles but the language of a God who makes himself known and is known.</a:t>
            </a:r>
          </a:p>
        </p:txBody>
      </p:sp>
      <p:sp>
        <p:nvSpPr>
          <p:cNvPr id="9" name="Rectangle 8"/>
          <p:cNvSpPr/>
          <p:nvPr/>
        </p:nvSpPr>
        <p:spPr>
          <a:xfrm>
            <a:off x="7973568" y="1810512"/>
            <a:ext cx="3395167" cy="233172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2011680"/>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340864"/>
            <a:ext cx="2937967" cy="1700784"/>
          </a:xfrm>
          <a:prstGeom prst="rect">
            <a:avLst/>
          </a:prstGeom>
          <a:noFill/>
        </p:spPr>
        <p:txBody>
          <a:bodyPr wrap="square" anchor="t" lIns="0" rIns="0" tIns="0" bIns="0">
            <a:spAutoFit/>
          </a:bodyPr>
          <a:lstStyle/>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Revelation: God making himself known (disclosure, not bare information)</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General revelation: creation and conscience (Ps. 19; Rom. 1)</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Special revelation: the Word in Scripture and in Christ</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The divine names: YHWH ('I AM'), El Shaddai, El Elyon</a:t>
            </a:r>
          </a:p>
        </p:txBody>
      </p:sp>
      <p:sp>
        <p:nvSpPr>
          <p:cNvPr id="13" name="Rectangle 12"/>
          <p:cNvSpPr/>
          <p:nvPr/>
        </p:nvSpPr>
        <p:spPr>
          <a:xfrm>
            <a:off x="7973568" y="4224528"/>
            <a:ext cx="3395167" cy="175564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4224528"/>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407408"/>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718304"/>
            <a:ext cx="2937967" cy="118872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Exodus 3:14</a:t>
            </a:r>
          </a:p>
          <a:p>
            <a:pPr algn="l">
              <a:lnSpc>
                <a:spcPct val="108000"/>
              </a:lnSpc>
              <a:spcBef>
                <a:spcPts val="0"/>
              </a:spcBef>
              <a:spcAft>
                <a:spcPts val="250"/>
              </a:spcAft>
            </a:pPr>
            <a:r>
              <a:rPr sz="1000" b="0" i="1" u="none">
                <a:solidFill>
                  <a:srgbClr val="232A38"/>
                </a:solidFill>
                <a:latin typeface="Calibri"/>
              </a:rPr>
              <a:t>Psalm 19:1-4</a:t>
            </a:r>
          </a:p>
          <a:p>
            <a:pPr algn="l">
              <a:lnSpc>
                <a:spcPct val="108000"/>
              </a:lnSpc>
              <a:spcBef>
                <a:spcPts val="0"/>
              </a:spcBef>
              <a:spcAft>
                <a:spcPts val="250"/>
              </a:spcAft>
            </a:pPr>
            <a:r>
              <a:rPr sz="1000" b="0" i="1" u="none">
                <a:solidFill>
                  <a:srgbClr val="232A38"/>
                </a:solidFill>
                <a:latin typeface="Calibri"/>
              </a:rPr>
              <a:t>Isaiah 43:10</a:t>
            </a:r>
          </a:p>
          <a:p>
            <a:pPr algn="l">
              <a:lnSpc>
                <a:spcPct val="108000"/>
              </a:lnSpc>
              <a:spcBef>
                <a:spcPts val="0"/>
              </a:spcBef>
              <a:spcAft>
                <a:spcPts val="250"/>
              </a:spcAft>
            </a:pPr>
            <a:r>
              <a:rPr sz="1000" b="0" i="1" u="none">
                <a:solidFill>
                  <a:srgbClr val="232A38"/>
                </a:solidFill>
                <a:latin typeface="Calibri"/>
              </a:rPr>
              <a:t>John 1:18</a:t>
            </a:r>
          </a:p>
          <a:p>
            <a:pPr algn="l">
              <a:lnSpc>
                <a:spcPct val="110000"/>
              </a:lnSpc>
              <a:spcBef>
                <a:spcPts val="400"/>
              </a:spcBef>
              <a:spcAft>
                <a:spcPts val="0"/>
              </a:spcAft>
            </a:pPr>
            <a:r>
              <a:rPr sz="950" b="0" i="0" u="none">
                <a:solidFill>
                  <a:srgbClr val="4C566B"/>
                </a:solidFill>
                <a:latin typeface="Calibri"/>
              </a:rPr>
              <a:t>Theologians from Anselm to Plantinga have debated the status of the classical arguments; the historic Christian position treats them as compatible with, but secondary to, revelation.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God of Christian theology is not a hypothesis but a self-disclosing Person — known, named, and approachable.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Attributes of God: Incommunicable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incommunicable attributes are those that distinguish God absolutely from all creatures. Aseity: God is self-existent, depending on nothing but his own nature (Ex. 3:14). Eternity: God is without beginning or end, and for him there is no succession of time (Ps. 90:2). Immutability: God is not subject to change in his being, perfections or purposes (Mal. 3:6; Jas. 1:17). Omnipresence: God is present everywhere in his power, knowledge and care (Ps. 139:7-12). These attributes are not limitations of the infinite God but the perfection of his freedom.</a:t>
            </a:r>
          </a:p>
        </p:txBody>
      </p:sp>
      <p:sp>
        <p:nvSpPr>
          <p:cNvPr id="9" name="Rectangle 8"/>
          <p:cNvSpPr/>
          <p:nvPr/>
        </p:nvSpPr>
        <p:spPr>
          <a:xfrm>
            <a:off x="7973568" y="1810512"/>
            <a:ext cx="3395167" cy="233172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2011680"/>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340864"/>
            <a:ext cx="2937967" cy="1700784"/>
          </a:xfrm>
          <a:prstGeom prst="rect">
            <a:avLst/>
          </a:prstGeom>
          <a:noFill/>
        </p:spPr>
        <p:txBody>
          <a:bodyPr wrap="square" anchor="t" lIns="0" rIns="0" tIns="0" bIns="0">
            <a:spAutoFit/>
          </a:bodyPr>
          <a:lstStyle/>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Aseity: self-existence (actus purus in the scholastic language)</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Eternity: timelessness or endless duration — the major interpretations</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Immutability: constancy of character and purpose, not emotional inactivity</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Omnipresence: ubiquity of presence in creation and beyond it</a:t>
            </a:r>
          </a:p>
        </p:txBody>
      </p:sp>
      <p:sp>
        <p:nvSpPr>
          <p:cNvPr id="13" name="Rectangle 12"/>
          <p:cNvSpPr/>
          <p:nvPr/>
        </p:nvSpPr>
        <p:spPr>
          <a:xfrm>
            <a:off x="7973568" y="4224528"/>
            <a:ext cx="3395167" cy="175564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4224528"/>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407408"/>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718304"/>
            <a:ext cx="2937967" cy="118872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Exodus 3:14</a:t>
            </a:r>
          </a:p>
          <a:p>
            <a:pPr algn="l">
              <a:lnSpc>
                <a:spcPct val="108000"/>
              </a:lnSpc>
              <a:spcBef>
                <a:spcPts val="0"/>
              </a:spcBef>
              <a:spcAft>
                <a:spcPts val="250"/>
              </a:spcAft>
            </a:pPr>
            <a:r>
              <a:rPr sz="1000" b="0" i="1" u="none">
                <a:solidFill>
                  <a:srgbClr val="232A38"/>
                </a:solidFill>
                <a:latin typeface="Calibri"/>
              </a:rPr>
              <a:t>Psalm 90:2</a:t>
            </a:r>
          </a:p>
          <a:p>
            <a:pPr algn="l">
              <a:lnSpc>
                <a:spcPct val="108000"/>
              </a:lnSpc>
              <a:spcBef>
                <a:spcPts val="0"/>
              </a:spcBef>
              <a:spcAft>
                <a:spcPts val="250"/>
              </a:spcAft>
            </a:pPr>
            <a:r>
              <a:rPr sz="1000" b="0" i="1" u="none">
                <a:solidFill>
                  <a:srgbClr val="232A38"/>
                </a:solidFill>
                <a:latin typeface="Calibri"/>
              </a:rPr>
              <a:t>Malachi 3:6</a:t>
            </a:r>
          </a:p>
          <a:p>
            <a:pPr algn="l">
              <a:lnSpc>
                <a:spcPct val="108000"/>
              </a:lnSpc>
              <a:spcBef>
                <a:spcPts val="0"/>
              </a:spcBef>
              <a:spcAft>
                <a:spcPts val="250"/>
              </a:spcAft>
            </a:pPr>
            <a:r>
              <a:rPr sz="1000" b="0" i="1" u="none">
                <a:solidFill>
                  <a:srgbClr val="232A38"/>
                </a:solidFill>
                <a:latin typeface="Calibri"/>
              </a:rPr>
              <a:t>James 1:17</a:t>
            </a:r>
          </a:p>
          <a:p>
            <a:pPr algn="l">
              <a:lnSpc>
                <a:spcPct val="108000"/>
              </a:lnSpc>
              <a:spcBef>
                <a:spcPts val="0"/>
              </a:spcBef>
              <a:spcAft>
                <a:spcPts val="250"/>
              </a:spcAft>
            </a:pPr>
            <a:r>
              <a:rPr sz="1000" b="0" i="1" u="none">
                <a:solidFill>
                  <a:srgbClr val="232A38"/>
                </a:solidFill>
                <a:latin typeface="Calibri"/>
              </a:rPr>
              <a:t>Psalm 139:7-12</a:t>
            </a:r>
          </a:p>
          <a:p>
            <a:pPr algn="l">
              <a:lnSpc>
                <a:spcPct val="110000"/>
              </a:lnSpc>
              <a:spcBef>
                <a:spcPts val="400"/>
              </a:spcBef>
              <a:spcAft>
                <a:spcPts val="0"/>
              </a:spcAft>
            </a:pPr>
            <a:r>
              <a:rPr sz="950" b="0" i="0" u="none">
                <a:solidFill>
                  <a:srgbClr val="4C566B"/>
                </a:solidFill>
                <a:latin typeface="Calibri"/>
              </a:rPr>
              <a:t>The scholastic doctrine of actus purus (pure act) in Aquinas and the Reformed emphasis on divine simplicity both seek to guard the transcendence of God.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incommunicable attributes answer to the question 'What is God like?' — a God who needs nothing, changes in nothing, and is everywhere at home.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Attributes of God: Communicable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communicable attributes are those in which creatures bear a finite likeness to God. Omniscience: God knows all things, actual and possible (Ps. 139:4; Isa. 46:9-10). Omnipotence: God can do all that is consistent with his nature and purpose (Gen. 18:14; Heb. 11:3). Holiness: God is other than, and morally perfect above, all creatures (Isa. 6:3; 1 Pet. 1:16). Love: God is love in the fullest biblical sense — self-giving, covenantal, and the ground of redemption (1 John 4:8). Faithfulness and justice complete the set, showing that God's character is not merely powerful but personally trustworthy.</a:t>
            </a:r>
          </a:p>
        </p:txBody>
      </p:sp>
      <p:sp>
        <p:nvSpPr>
          <p:cNvPr id="9" name="Rectangle 8"/>
          <p:cNvSpPr/>
          <p:nvPr/>
        </p:nvSpPr>
        <p:spPr>
          <a:xfrm>
            <a:off x="7973568" y="1810512"/>
            <a:ext cx="3395167" cy="233172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2011680"/>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340864"/>
            <a:ext cx="2937967" cy="1700784"/>
          </a:xfrm>
          <a:prstGeom prst="rect">
            <a:avLst/>
          </a:prstGeom>
          <a:noFill/>
        </p:spPr>
        <p:txBody>
          <a:bodyPr wrap="square" anchor="t" lIns="0" rIns="0" tIns="0" bIns="0">
            <a:spAutoFit/>
          </a:bodyPr>
          <a:lstStyle/>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Omniscience: middle knowledge and the range of divine foreknowledge</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Omnipotence: the power to do what is logically and morally consistent with God</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Holiness: moral perfection and transcendent otherness (kadosh)</a:t>
            </a:r>
          </a:p>
          <a:p>
            <a:pPr algn="l" marL="201600" indent="-201600">
              <a:lnSpc>
                <a:spcPct val="114000"/>
              </a:lnSpc>
              <a:spcBef>
                <a:spcPts val="0"/>
              </a:spcBef>
              <a:spcAft>
                <a:spcPts val="500"/>
              </a:spcAft>
              <a:buClr>
                <a:srgbClr val="A67F3B"/>
              </a:buClr>
              <a:buSzPct val="76000"/>
              <a:buFont typeface="Arial"/>
              <a:buChar char="—"/>
            </a:pPr>
            <a:r>
              <a:rPr sz="1040" b="0" i="0" u="none">
                <a:solidFill>
                  <a:srgbClr val="4C566B"/>
                </a:solidFill>
                <a:latin typeface="Calibri"/>
              </a:rPr>
              <a:t>Love: agape as the self-giving ground of covenant and redemption</a:t>
            </a:r>
          </a:p>
        </p:txBody>
      </p:sp>
      <p:sp>
        <p:nvSpPr>
          <p:cNvPr id="13" name="Rectangle 12"/>
          <p:cNvSpPr/>
          <p:nvPr/>
        </p:nvSpPr>
        <p:spPr>
          <a:xfrm>
            <a:off x="7973568" y="4224528"/>
            <a:ext cx="3395167" cy="175564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4224528"/>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407408"/>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718304"/>
            <a:ext cx="2937967" cy="118872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139:4</a:t>
            </a:r>
          </a:p>
          <a:p>
            <a:pPr algn="l">
              <a:lnSpc>
                <a:spcPct val="108000"/>
              </a:lnSpc>
              <a:spcBef>
                <a:spcPts val="0"/>
              </a:spcBef>
              <a:spcAft>
                <a:spcPts val="250"/>
              </a:spcAft>
            </a:pPr>
            <a:r>
              <a:rPr sz="1000" b="0" i="1" u="none">
                <a:solidFill>
                  <a:srgbClr val="232A38"/>
                </a:solidFill>
                <a:latin typeface="Calibri"/>
              </a:rPr>
              <a:t>Isaiah 46:9-10</a:t>
            </a:r>
          </a:p>
          <a:p>
            <a:pPr algn="l">
              <a:lnSpc>
                <a:spcPct val="108000"/>
              </a:lnSpc>
              <a:spcBef>
                <a:spcPts val="0"/>
              </a:spcBef>
              <a:spcAft>
                <a:spcPts val="250"/>
              </a:spcAft>
            </a:pPr>
            <a:r>
              <a:rPr sz="1000" b="0" i="1" u="none">
                <a:solidFill>
                  <a:srgbClr val="232A38"/>
                </a:solidFill>
                <a:latin typeface="Calibri"/>
              </a:rPr>
              <a:t>Isaiah 6:3</a:t>
            </a:r>
          </a:p>
          <a:p>
            <a:pPr algn="l">
              <a:lnSpc>
                <a:spcPct val="108000"/>
              </a:lnSpc>
              <a:spcBef>
                <a:spcPts val="0"/>
              </a:spcBef>
              <a:spcAft>
                <a:spcPts val="250"/>
              </a:spcAft>
            </a:pPr>
            <a:r>
              <a:rPr sz="1000" b="0" i="1" u="none">
                <a:solidFill>
                  <a:srgbClr val="232A38"/>
                </a:solidFill>
                <a:latin typeface="Calibri"/>
              </a:rPr>
              <a:t>1 John 4:8</a:t>
            </a:r>
          </a:p>
          <a:p>
            <a:pPr algn="l">
              <a:lnSpc>
                <a:spcPct val="108000"/>
              </a:lnSpc>
              <a:spcBef>
                <a:spcPts val="0"/>
              </a:spcBef>
              <a:spcAft>
                <a:spcPts val="250"/>
              </a:spcAft>
            </a:pPr>
            <a:r>
              <a:rPr sz="1000" b="0" i="1" u="none">
                <a:solidFill>
                  <a:srgbClr val="232A38"/>
                </a:solidFill>
                <a:latin typeface="Calibri"/>
              </a:rPr>
              <a:t>Psalm 8:5-8</a:t>
            </a:r>
          </a:p>
          <a:p>
            <a:pPr algn="l">
              <a:lnSpc>
                <a:spcPct val="110000"/>
              </a:lnSpc>
              <a:spcBef>
                <a:spcPts val="400"/>
              </a:spcBef>
              <a:spcAft>
                <a:spcPts val="0"/>
              </a:spcAft>
            </a:pPr>
            <a:r>
              <a:rPr sz="950" b="0" i="0" u="none">
                <a:solidFill>
                  <a:srgbClr val="4C566B"/>
                </a:solidFill>
                <a:latin typeface="Calibri"/>
              </a:rPr>
              <a:t>The image of God (imago Dei) is the creaturely reflection of these attributes — the foundation for the doctrine of humanity that follows.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In the communicable attributes we see the world's true dignity: creation bears, in limited form, the signature of its Creator.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13232"/>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40">
                <a:solidFill>
                  <a:srgbClr val="E6D3A3"/>
                </a:solidFill>
                <a:latin typeface="Calibri Light"/>
              </a:rPr>
              <a:t>MODULE 03  ·  THEOLOGY PROPER: THE DOCTRINE OF GOD</a:t>
            </a:r>
          </a:p>
        </p:txBody>
      </p:sp>
      <p:sp>
        <p:nvSpPr>
          <p:cNvPr id="5" name="TextBox 4"/>
          <p:cNvSpPr txBox="1"/>
          <p:nvPr/>
        </p:nvSpPr>
        <p:spPr>
          <a:xfrm>
            <a:off x="822960" y="1024128"/>
            <a:ext cx="10607040" cy="640080"/>
          </a:xfrm>
          <a:prstGeom prst="rect">
            <a:avLst/>
          </a:prstGeom>
          <a:noFill/>
        </p:spPr>
        <p:txBody>
          <a:bodyPr wrap="square" anchor="t" lIns="0" rIns="0" tIns="0" bIns="0">
            <a:spAutoFit/>
          </a:bodyPr>
          <a:lstStyle/>
          <a:p>
            <a:pPr algn="l">
              <a:lnSpc>
                <a:spcPct val="100000"/>
              </a:lnSpc>
              <a:spcBef>
                <a:spcPts val="0"/>
              </a:spcBef>
              <a:spcAft>
                <a:spcPts val="0"/>
              </a:spcAft>
            </a:pPr>
            <a:r>
              <a:rPr sz="2400" b="1" i="0" u="none">
                <a:solidFill>
                  <a:srgbClr val="FFFFFF"/>
                </a:solidFill>
                <a:latin typeface="Palatino Linotype"/>
              </a:rPr>
              <a:t>The Attributes of God: One Nature, Two Classes</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143000" y="1847088"/>
            <a:ext cx="4206240" cy="4206240"/>
          </a:xfrm>
          <a:prstGeom prst="ellipse">
            <a:avLst/>
          </a:prstGeom>
          <a:noFill/>
          <a:ln w="1143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28799" y="2532888"/>
            <a:ext cx="2834640" cy="2834640"/>
          </a:xfrm>
          <a:prstGeom prst="ellipse">
            <a:avLst/>
          </a:prstGeom>
          <a:noFill/>
          <a:ln w="1143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377439" y="3081528"/>
            <a:ext cx="1737360" cy="1737360"/>
          </a:xfrm>
          <a:prstGeom prst="ellipse">
            <a:avLst/>
          </a:prstGeom>
          <a:noFill/>
          <a:ln w="2032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87752" y="3291840"/>
            <a:ext cx="1316736" cy="1316736"/>
          </a:xfrm>
          <a:prstGeom prst="ellipse">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23160" y="3493008"/>
            <a:ext cx="1645920" cy="914400"/>
          </a:xfrm>
          <a:prstGeom prst="rect">
            <a:avLst/>
          </a:prstGeom>
          <a:noFill/>
        </p:spPr>
        <p:txBody>
          <a:bodyPr wrap="square" anchor="ctr" lIns="0" rIns="0" tIns="0" bIns="0">
            <a:spAutoFit/>
          </a:bodyPr>
          <a:lstStyle/>
          <a:p>
            <a:pPr algn="ctr">
              <a:lnSpc>
                <a:spcPct val="100000"/>
              </a:lnSpc>
              <a:spcBef>
                <a:spcPts val="0"/>
              </a:spcBef>
              <a:spcAft>
                <a:spcPts val="100"/>
              </a:spcAft>
            </a:pPr>
            <a:r>
              <a:rPr sz="900" b="1" i="0" u="none" spc="150">
                <a:solidFill>
                  <a:srgbClr val="E6D3A3"/>
                </a:solidFill>
                <a:latin typeface="Calibri Light"/>
              </a:rPr>
              <a:t>THE</a:t>
            </a:r>
          </a:p>
          <a:p>
            <a:pPr algn="ctr">
              <a:lnSpc>
                <a:spcPct val="100000"/>
              </a:lnSpc>
              <a:spcBef>
                <a:spcPts val="0"/>
              </a:spcBef>
              <a:spcAft>
                <a:spcPts val="100"/>
              </a:spcAft>
            </a:pPr>
            <a:r>
              <a:rPr sz="1400" b="1" i="0" u="none">
                <a:solidFill>
                  <a:srgbClr val="FFFFFF"/>
                </a:solidFill>
                <a:latin typeface="Palatino Linotype"/>
              </a:rPr>
              <a:t>DIVINE</a:t>
            </a:r>
          </a:p>
          <a:p>
            <a:pPr algn="ctr">
              <a:lnSpc>
                <a:spcPct val="100000"/>
              </a:lnSpc>
              <a:spcBef>
                <a:spcPts val="0"/>
              </a:spcBef>
              <a:spcAft>
                <a:spcPts val="0"/>
              </a:spcAft>
            </a:pPr>
            <a:r>
              <a:rPr sz="1400" b="1" i="0" u="none">
                <a:solidFill>
                  <a:srgbClr val="FFFFFF"/>
                </a:solidFill>
                <a:latin typeface="Palatino Linotype"/>
              </a:rPr>
              <a:t>NATURE</a:t>
            </a:r>
          </a:p>
        </p:txBody>
      </p:sp>
      <p:cxnSp>
        <p:nvCxnSpPr>
          <p:cNvPr id="12" name="Connector 11"/>
          <p:cNvCxnSpPr/>
          <p:nvPr/>
        </p:nvCxnSpPr>
        <p:spPr>
          <a:xfrm flipV="1">
            <a:off x="3246120" y="2651760"/>
            <a:ext cx="0" cy="384048"/>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95827" y="248259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0" y="1965960"/>
            <a:ext cx="137160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E6D3A3"/>
                </a:solidFill>
                <a:latin typeface="Calibri Light"/>
              </a:rPr>
              <a:t>Omniscience</a:t>
            </a:r>
          </a:p>
        </p:txBody>
      </p:sp>
      <p:cxnSp>
        <p:nvCxnSpPr>
          <p:cNvPr id="15" name="Connector 14"/>
          <p:cNvCxnSpPr/>
          <p:nvPr/>
        </p:nvCxnSpPr>
        <p:spPr>
          <a:xfrm flipV="1">
            <a:off x="4038013" y="3300984"/>
            <a:ext cx="332595" cy="192024"/>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423263" y="319125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87755" y="2674620"/>
            <a:ext cx="137160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E6D3A3"/>
                </a:solidFill>
                <a:latin typeface="Calibri Light"/>
              </a:rPr>
              <a:t>Omnipotence</a:t>
            </a:r>
          </a:p>
        </p:txBody>
      </p:sp>
      <p:cxnSp>
        <p:nvCxnSpPr>
          <p:cNvPr id="18" name="Connector 17"/>
          <p:cNvCxnSpPr/>
          <p:nvPr/>
        </p:nvCxnSpPr>
        <p:spPr>
          <a:xfrm>
            <a:off x="4038013" y="4407408"/>
            <a:ext cx="332595" cy="192024"/>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423263" y="460857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87755" y="4914900"/>
            <a:ext cx="137160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E6D3A3"/>
                </a:solidFill>
                <a:latin typeface="Calibri Light"/>
              </a:rPr>
              <a:t>Holiness</a:t>
            </a:r>
          </a:p>
        </p:txBody>
      </p:sp>
      <p:cxnSp>
        <p:nvCxnSpPr>
          <p:cNvPr id="21" name="Connector 20"/>
          <p:cNvCxnSpPr/>
          <p:nvPr/>
        </p:nvCxnSpPr>
        <p:spPr>
          <a:xfrm>
            <a:off x="3246120" y="4864608"/>
            <a:ext cx="0" cy="384048"/>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195827" y="531723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60320" y="5623560"/>
            <a:ext cx="137160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E6D3A3"/>
                </a:solidFill>
                <a:latin typeface="Calibri Light"/>
              </a:rPr>
              <a:t>Love</a:t>
            </a:r>
          </a:p>
        </p:txBody>
      </p:sp>
      <p:cxnSp>
        <p:nvCxnSpPr>
          <p:cNvPr id="24" name="Connector 23"/>
          <p:cNvCxnSpPr/>
          <p:nvPr/>
        </p:nvCxnSpPr>
        <p:spPr>
          <a:xfrm flipH="1">
            <a:off x="2121631" y="4407408"/>
            <a:ext cx="332595" cy="192024"/>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968392" y="460857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32884" y="4914900"/>
            <a:ext cx="137160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E6D3A3"/>
                </a:solidFill>
                <a:latin typeface="Calibri Light"/>
              </a:rPr>
              <a:t>Faithfulness</a:t>
            </a:r>
          </a:p>
        </p:txBody>
      </p:sp>
      <p:cxnSp>
        <p:nvCxnSpPr>
          <p:cNvPr id="27" name="Connector 26"/>
          <p:cNvCxnSpPr/>
          <p:nvPr/>
        </p:nvCxnSpPr>
        <p:spPr>
          <a:xfrm flipH="1" flipV="1">
            <a:off x="2121631" y="3300984"/>
            <a:ext cx="332595" cy="192024"/>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968392" y="319125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32884" y="2674620"/>
            <a:ext cx="137160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E6D3A3"/>
                </a:solidFill>
                <a:latin typeface="Calibri Light"/>
              </a:rPr>
              <a:t>Justice</a:t>
            </a:r>
          </a:p>
        </p:txBody>
      </p:sp>
      <p:sp>
        <p:nvSpPr>
          <p:cNvPr id="30" name="Oval 29"/>
          <p:cNvSpPr/>
          <p:nvPr/>
        </p:nvSpPr>
        <p:spPr>
          <a:xfrm>
            <a:off x="4682958" y="2412785"/>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56010" y="1859573"/>
            <a:ext cx="155448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C9CDD6"/>
                </a:solidFill>
                <a:latin typeface="Calibri Light"/>
              </a:rPr>
              <a:t>Aseity</a:t>
            </a:r>
          </a:p>
        </p:txBody>
      </p:sp>
      <p:sp>
        <p:nvSpPr>
          <p:cNvPr id="32" name="Oval 31"/>
          <p:cNvSpPr/>
          <p:nvPr/>
        </p:nvSpPr>
        <p:spPr>
          <a:xfrm>
            <a:off x="1708697" y="2412785"/>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1749" y="1859573"/>
            <a:ext cx="155448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C9CDD6"/>
                </a:solidFill>
                <a:latin typeface="Calibri Light"/>
              </a:rPr>
              <a:t>Eternity</a:t>
            </a:r>
          </a:p>
        </p:txBody>
      </p:sp>
      <p:sp>
        <p:nvSpPr>
          <p:cNvPr id="34" name="Oval 33"/>
          <p:cNvSpPr/>
          <p:nvPr/>
        </p:nvSpPr>
        <p:spPr>
          <a:xfrm>
            <a:off x="1708697" y="5387046"/>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749" y="5729946"/>
            <a:ext cx="155448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C9CDD6"/>
                </a:solidFill>
                <a:latin typeface="Calibri Light"/>
              </a:rPr>
              <a:t>Immutability</a:t>
            </a:r>
          </a:p>
        </p:txBody>
      </p:sp>
      <p:sp>
        <p:nvSpPr>
          <p:cNvPr id="36" name="Oval 35"/>
          <p:cNvSpPr/>
          <p:nvPr/>
        </p:nvSpPr>
        <p:spPr>
          <a:xfrm>
            <a:off x="4682958" y="5387046"/>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56010" y="5729946"/>
            <a:ext cx="155448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C9CDD6"/>
                </a:solidFill>
                <a:latin typeface="Calibri Light"/>
              </a:rPr>
              <a:t>Omnipresence</a:t>
            </a:r>
          </a:p>
        </p:txBody>
      </p:sp>
      <p:sp>
        <p:nvSpPr>
          <p:cNvPr id="38" name="TextBox 37"/>
          <p:cNvSpPr txBox="1"/>
          <p:nvPr/>
        </p:nvSpPr>
        <p:spPr>
          <a:xfrm>
            <a:off x="868680" y="5989320"/>
            <a:ext cx="4846320" cy="274320"/>
          </a:xfrm>
          <a:prstGeom prst="rect">
            <a:avLst/>
          </a:prstGeom>
          <a:noFill/>
        </p:spPr>
        <p:txBody>
          <a:bodyPr wrap="square" anchor="t" lIns="0" rIns="0" tIns="0" bIns="0">
            <a:spAutoFit/>
          </a:bodyPr>
          <a:lstStyle/>
          <a:p>
            <a:pPr algn="l">
              <a:lnSpc>
                <a:spcPct val="100000"/>
              </a:lnSpc>
              <a:spcBef>
                <a:spcPts val="0"/>
              </a:spcBef>
              <a:spcAft>
                <a:spcPts val="0"/>
              </a:spcAft>
            </a:pPr>
            <a:r>
              <a:rPr sz="880" b="0" i="0" u="none" spc="80">
                <a:solidFill>
                  <a:srgbClr val="9AA5BC"/>
                </a:solidFill>
                <a:latin typeface="Calibri Light"/>
              </a:rPr>
              <a:t>Inner ring — communicable    ·    Outer ring — incommunicable</a:t>
            </a:r>
          </a:p>
        </p:txBody>
      </p:sp>
      <p:sp>
        <p:nvSpPr>
          <p:cNvPr id="39" name="Rectangle 38"/>
          <p:cNvSpPr/>
          <p:nvPr/>
        </p:nvSpPr>
        <p:spPr>
          <a:xfrm>
            <a:off x="6400800" y="2057400"/>
            <a:ext cx="4967935" cy="196596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400800" y="2057400"/>
            <a:ext cx="4967935"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620256" y="2231136"/>
            <a:ext cx="4529023"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40">
                <a:solidFill>
                  <a:srgbClr val="E6D3A3"/>
                </a:solidFill>
                <a:latin typeface="Calibri Light"/>
              </a:rPr>
              <a:t>INCOMMUNICABLE ATTRIBUTES</a:t>
            </a:r>
          </a:p>
        </p:txBody>
      </p:sp>
      <p:sp>
        <p:nvSpPr>
          <p:cNvPr id="42" name="TextBox 41"/>
          <p:cNvSpPr txBox="1"/>
          <p:nvPr/>
        </p:nvSpPr>
        <p:spPr>
          <a:xfrm>
            <a:off x="6620256" y="2578608"/>
            <a:ext cx="4529023" cy="1371600"/>
          </a:xfrm>
          <a:prstGeom prst="rect">
            <a:avLst/>
          </a:prstGeom>
          <a:noFill/>
        </p:spPr>
        <p:txBody>
          <a:bodyPr wrap="square" anchor="t" lIns="0" rIns="0" tIns="0" bIns="0">
            <a:spAutoFit/>
          </a:bodyPr>
          <a:lstStyle/>
          <a:p>
            <a:pPr algn="l">
              <a:lnSpc>
                <a:spcPct val="130000"/>
              </a:lnSpc>
              <a:spcBef>
                <a:spcPts val="0"/>
              </a:spcBef>
              <a:spcAft>
                <a:spcPts val="0"/>
              </a:spcAft>
            </a:pPr>
            <a:r>
              <a:rPr sz="1050" b="0" i="0" u="none">
                <a:solidFill>
                  <a:srgbClr val="C9CDD6"/>
                </a:solidFill>
                <a:latin typeface="Calibri"/>
              </a:rPr>
              <a:t>Shared with no creature — they distinguish God absolutely: aseity (self-existence), eternity, immutability, omnipresence.</a:t>
            </a:r>
          </a:p>
          <a:p>
            <a:pPr algn="l">
              <a:lnSpc>
                <a:spcPct val="100000"/>
              </a:lnSpc>
              <a:spcBef>
                <a:spcPts val="600"/>
              </a:spcBef>
              <a:spcAft>
                <a:spcPts val="0"/>
              </a:spcAft>
            </a:pPr>
            <a:r>
              <a:rPr sz="950" b="0" i="1" u="none">
                <a:solidFill>
                  <a:srgbClr val="9AA5BC"/>
                </a:solidFill>
                <a:latin typeface="Calibri"/>
              </a:rPr>
              <a:t>Psalm 90:2 · 1 Timothy 6:16 · James 1:17</a:t>
            </a:r>
          </a:p>
        </p:txBody>
      </p:sp>
      <p:sp>
        <p:nvSpPr>
          <p:cNvPr id="43" name="Rectangle 42"/>
          <p:cNvSpPr/>
          <p:nvPr/>
        </p:nvSpPr>
        <p:spPr>
          <a:xfrm>
            <a:off x="6400800" y="4224528"/>
            <a:ext cx="4967935" cy="196596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6400800" y="4224528"/>
            <a:ext cx="4967935"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620256" y="4398264"/>
            <a:ext cx="4529023"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40">
                <a:solidFill>
                  <a:srgbClr val="E6D3A3"/>
                </a:solidFill>
                <a:latin typeface="Calibri Light"/>
              </a:rPr>
              <a:t>COMMUNICABLE ATTRIBUTES</a:t>
            </a:r>
          </a:p>
        </p:txBody>
      </p:sp>
      <p:sp>
        <p:nvSpPr>
          <p:cNvPr id="46" name="TextBox 45"/>
          <p:cNvSpPr txBox="1"/>
          <p:nvPr/>
        </p:nvSpPr>
        <p:spPr>
          <a:xfrm>
            <a:off x="6620256" y="4745736"/>
            <a:ext cx="4529023" cy="1371600"/>
          </a:xfrm>
          <a:prstGeom prst="rect">
            <a:avLst/>
          </a:prstGeom>
          <a:noFill/>
        </p:spPr>
        <p:txBody>
          <a:bodyPr wrap="square" anchor="t" lIns="0" rIns="0" tIns="0" bIns="0">
            <a:spAutoFit/>
          </a:bodyPr>
          <a:lstStyle/>
          <a:p>
            <a:pPr algn="l">
              <a:lnSpc>
                <a:spcPct val="130000"/>
              </a:lnSpc>
              <a:spcBef>
                <a:spcPts val="0"/>
              </a:spcBef>
              <a:spcAft>
                <a:spcPts val="0"/>
              </a:spcAft>
            </a:pPr>
            <a:r>
              <a:rPr sz="1050" b="0" i="0" u="none">
                <a:solidFill>
                  <a:srgbClr val="C9CDD6"/>
                </a:solidFill>
                <a:latin typeface="Calibri"/>
              </a:rPr>
              <a:t>Manifest in creation and redemption, and reflected in creatures in a limited degree: omniscience, omnipotence, holiness, love, faithfulness, justice.</a:t>
            </a:r>
          </a:p>
          <a:p>
            <a:pPr algn="l">
              <a:lnSpc>
                <a:spcPct val="100000"/>
              </a:lnSpc>
              <a:spcBef>
                <a:spcPts val="600"/>
              </a:spcBef>
              <a:spcAft>
                <a:spcPts val="0"/>
              </a:spcAft>
            </a:pPr>
            <a:r>
              <a:rPr sz="950" b="0" i="1" u="none">
                <a:solidFill>
                  <a:srgbClr val="9AA5BC"/>
                </a:solidFill>
                <a:latin typeface="Calibri"/>
              </a:rPr>
              <a:t>Isaiah 6:3 · 1 John 4:8 · Psalm 8:5-8</a:t>
            </a:r>
          </a:p>
        </p:txBody>
      </p:sp>
      <p:sp>
        <p:nvSpPr>
          <p:cNvPr id="47" name="Rectangle 46"/>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141274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160934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180594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200253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2199132"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239572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259232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278892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2985515"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3182112"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337870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3575303"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377190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396849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4165091"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03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Theology Proper: The Doctrine of God</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God exists, is one, and has spoken — the starting point of all doctrine.</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incommunicable attributes define God's transcendence; the communicable attributes define his similarity to creation.</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doctrine of God is the root of every other doctrine in the Christian system.</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attributes explained here are the grammar of every later module: the incarnation is read by the attributes, salvation is measured by them, and the church's worship confesses them.</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one God in himself, the programme descends to the mystery within the Godhead: the doctrine of the Trinity.</a:t>
            </a:r>
          </a:p>
        </p:txBody>
      </p:sp>
      <p:sp>
        <p:nvSpPr>
          <p:cNvPr id="16" name="Rectangle 15"/>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41274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60934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77240"/>
            <a:ext cx="10545775" cy="320040"/>
          </a:xfrm>
          <a:prstGeom prst="rect">
            <a:avLst/>
          </a:prstGeom>
          <a:noFill/>
        </p:spPr>
        <p:txBody>
          <a:bodyPr wrap="square" anchor="t" lIns="0" rIns="0" tIns="0" bIns="0">
            <a:spAutoFit/>
          </a:bodyPr>
          <a:lstStyle/>
          <a:p>
            <a:pPr algn="l">
              <a:lnSpc>
                <a:spcPct val="100000"/>
              </a:lnSpc>
              <a:spcBef>
                <a:spcPts val="0"/>
              </a:spcBef>
              <a:spcAft>
                <a:spcPts val="0"/>
              </a:spcAft>
            </a:pPr>
            <a:r>
              <a:rPr sz="1050" b="1" i="0" u="none" spc="320">
                <a:solidFill>
                  <a:srgbClr val="E6D3A3"/>
                </a:solidFill>
                <a:latin typeface="Calibri Light"/>
              </a:rPr>
              <a:t>COURSE CONCLUSION</a:t>
            </a:r>
          </a:p>
        </p:txBody>
      </p:sp>
      <p:sp>
        <p:nvSpPr>
          <p:cNvPr id="5" name="TextBox 4"/>
          <p:cNvSpPr txBox="1"/>
          <p:nvPr/>
        </p:nvSpPr>
        <p:spPr>
          <a:xfrm>
            <a:off x="822960" y="1143000"/>
            <a:ext cx="10545775" cy="640080"/>
          </a:xfrm>
          <a:prstGeom prst="rect">
            <a:avLst/>
          </a:prstGeom>
          <a:noFill/>
        </p:spPr>
        <p:txBody>
          <a:bodyPr wrap="square" anchor="t" lIns="0" rIns="0" tIns="0" bIns="0">
            <a:spAutoFit/>
          </a:bodyPr>
          <a:lstStyle/>
          <a:p>
            <a:pPr algn="l">
              <a:lnSpc>
                <a:spcPct val="100000"/>
              </a:lnSpc>
              <a:spcBef>
                <a:spcPts val="0"/>
              </a:spcBef>
              <a:spcAft>
                <a:spcPts val="0"/>
              </a:spcAft>
            </a:pPr>
            <a:r>
              <a:rPr sz="2600" b="1" i="0" u="none">
                <a:solidFill>
                  <a:srgbClr val="FFFFFF"/>
                </a:solidFill>
                <a:latin typeface="Palatino Linotype"/>
              </a:rPr>
              <a:t>Comprehensive Review of the Theological Curriculum</a:t>
            </a:r>
          </a:p>
        </p:txBody>
      </p:sp>
      <p:cxnSp>
        <p:nvCxnSpPr>
          <p:cNvPr id="6" name="Connector 5"/>
          <p:cNvCxnSpPr/>
          <p:nvPr/>
        </p:nvCxnSpPr>
        <p:spPr>
          <a:xfrm>
            <a:off x="822960" y="1874519"/>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2286000"/>
            <a:ext cx="1853123"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822960" y="2286000"/>
            <a:ext cx="1853123"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2542032"/>
            <a:ext cx="1395923" cy="566928"/>
          </a:xfrm>
          <a:prstGeom prst="rect">
            <a:avLst/>
          </a:prstGeom>
          <a:noFill/>
        </p:spPr>
        <p:txBody>
          <a:bodyPr wrap="square" anchor="t" lIns="0" rIns="0" tIns="0" bIns="0">
            <a:spAutoFit/>
          </a:bodyPr>
          <a:lstStyle/>
          <a:p>
            <a:pPr algn="l">
              <a:lnSpc>
                <a:spcPct val="115000"/>
              </a:lnSpc>
              <a:spcBef>
                <a:spcPts val="0"/>
              </a:spcBef>
              <a:spcAft>
                <a:spcPts val="0"/>
              </a:spcAft>
            </a:pPr>
            <a:r>
              <a:rPr sz="1050" b="1" i="0" u="none" spc="160">
                <a:solidFill>
                  <a:srgbClr val="E6D3A3"/>
                </a:solidFill>
                <a:latin typeface="Calibri Light"/>
              </a:rPr>
              <a:t>FOUNDATIONS</a:t>
            </a:r>
          </a:p>
        </p:txBody>
      </p:sp>
      <p:sp>
        <p:nvSpPr>
          <p:cNvPr id="10" name="TextBox 9"/>
          <p:cNvSpPr txBox="1"/>
          <p:nvPr/>
        </p:nvSpPr>
        <p:spPr>
          <a:xfrm>
            <a:off x="1051560" y="3200400"/>
            <a:ext cx="1395923" cy="1691640"/>
          </a:xfrm>
          <a:prstGeom prst="rect">
            <a:avLst/>
          </a:prstGeom>
          <a:noFill/>
        </p:spPr>
        <p:txBody>
          <a:bodyPr wrap="square" anchor="t" lIns="0" rIns="0" tIns="0" bIns="0">
            <a:spAutoFit/>
          </a:bodyPr>
          <a:lstStyle/>
          <a:p>
            <a:pPr algn="l">
              <a:lnSpc>
                <a:spcPct val="125000"/>
              </a:lnSpc>
              <a:spcBef>
                <a:spcPts val="0"/>
              </a:spcBef>
              <a:spcAft>
                <a:spcPts val="0"/>
              </a:spcAft>
            </a:pPr>
            <a:r>
              <a:rPr sz="1000" b="0" i="0" u="none">
                <a:solidFill>
                  <a:srgbClr val="C9CDD6"/>
                </a:solidFill>
                <a:latin typeface="Calibri"/>
              </a:rPr>
              <a:t>The nature and sources of theology; the formation, inspiration and authority of the Bible.</a:t>
            </a:r>
          </a:p>
        </p:txBody>
      </p:sp>
      <p:sp>
        <p:nvSpPr>
          <p:cNvPr id="11" name="TextBox 10"/>
          <p:cNvSpPr txBox="1"/>
          <p:nvPr/>
        </p:nvSpPr>
        <p:spPr>
          <a:xfrm>
            <a:off x="1051560" y="5029200"/>
            <a:ext cx="1395923" cy="320040"/>
          </a:xfrm>
          <a:prstGeom prst="rect">
            <a:avLst/>
          </a:prstGeom>
          <a:noFill/>
        </p:spPr>
        <p:txBody>
          <a:bodyPr wrap="square" anchor="t" lIns="0" rIns="0" tIns="0" bIns="0">
            <a:spAutoFit/>
          </a:bodyPr>
          <a:lstStyle/>
          <a:p>
            <a:pPr algn="l">
              <a:lnSpc>
                <a:spcPct val="100000"/>
              </a:lnSpc>
              <a:spcBef>
                <a:spcPts val="0"/>
              </a:spcBef>
              <a:spcAft>
                <a:spcPts val="0"/>
              </a:spcAft>
            </a:pPr>
            <a:r>
              <a:rPr sz="850" b="1" i="0" u="none" spc="120">
                <a:solidFill>
                  <a:srgbClr val="9AA5BC"/>
                </a:solidFill>
                <a:latin typeface="Calibri Light"/>
              </a:rPr>
              <a:t>Modules 1–2</a:t>
            </a:r>
          </a:p>
        </p:txBody>
      </p:sp>
      <p:sp>
        <p:nvSpPr>
          <p:cNvPr id="12" name="Rectangle 11"/>
          <p:cNvSpPr/>
          <p:nvPr/>
        </p:nvSpPr>
        <p:spPr>
          <a:xfrm>
            <a:off x="2996123" y="2286000"/>
            <a:ext cx="1853123"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996123" y="2286000"/>
            <a:ext cx="1853123"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224723" y="2542032"/>
            <a:ext cx="1395923" cy="566928"/>
          </a:xfrm>
          <a:prstGeom prst="rect">
            <a:avLst/>
          </a:prstGeom>
          <a:noFill/>
        </p:spPr>
        <p:txBody>
          <a:bodyPr wrap="square" anchor="t" lIns="0" rIns="0" tIns="0" bIns="0">
            <a:spAutoFit/>
          </a:bodyPr>
          <a:lstStyle/>
          <a:p>
            <a:pPr algn="l">
              <a:lnSpc>
                <a:spcPct val="115000"/>
              </a:lnSpc>
              <a:spcBef>
                <a:spcPts val="0"/>
              </a:spcBef>
              <a:spcAft>
                <a:spcPts val="0"/>
              </a:spcAft>
            </a:pPr>
            <a:r>
              <a:rPr sz="1050" b="1" i="0" u="none" spc="160">
                <a:solidFill>
                  <a:srgbClr val="E6D3A3"/>
                </a:solidFill>
                <a:latin typeface="Calibri Light"/>
              </a:rPr>
              <a:t>SYSTEMATIC DOCTRINES</a:t>
            </a:r>
          </a:p>
        </p:txBody>
      </p:sp>
      <p:sp>
        <p:nvSpPr>
          <p:cNvPr id="15" name="TextBox 14"/>
          <p:cNvSpPr txBox="1"/>
          <p:nvPr/>
        </p:nvSpPr>
        <p:spPr>
          <a:xfrm>
            <a:off x="3224723" y="3200400"/>
            <a:ext cx="1395923" cy="1691640"/>
          </a:xfrm>
          <a:prstGeom prst="rect">
            <a:avLst/>
          </a:prstGeom>
          <a:noFill/>
        </p:spPr>
        <p:txBody>
          <a:bodyPr wrap="square" anchor="t" lIns="0" rIns="0" tIns="0" bIns="0">
            <a:spAutoFit/>
          </a:bodyPr>
          <a:lstStyle/>
          <a:p>
            <a:pPr algn="l">
              <a:lnSpc>
                <a:spcPct val="125000"/>
              </a:lnSpc>
              <a:spcBef>
                <a:spcPts val="0"/>
              </a:spcBef>
              <a:spcAft>
                <a:spcPts val="0"/>
              </a:spcAft>
            </a:pPr>
            <a:r>
              <a:rPr sz="1000" b="0" i="0" u="none">
                <a:solidFill>
                  <a:srgbClr val="C9CDD6"/>
                </a:solidFill>
                <a:latin typeface="Calibri"/>
              </a:rPr>
              <a:t>God, the Trinity, creation, humanity and sin, Christ, salvation, the Spirit, the Church, last things.</a:t>
            </a:r>
          </a:p>
        </p:txBody>
      </p:sp>
      <p:sp>
        <p:nvSpPr>
          <p:cNvPr id="16" name="TextBox 15"/>
          <p:cNvSpPr txBox="1"/>
          <p:nvPr/>
        </p:nvSpPr>
        <p:spPr>
          <a:xfrm>
            <a:off x="3224723" y="5029200"/>
            <a:ext cx="1395923" cy="320040"/>
          </a:xfrm>
          <a:prstGeom prst="rect">
            <a:avLst/>
          </a:prstGeom>
          <a:noFill/>
        </p:spPr>
        <p:txBody>
          <a:bodyPr wrap="square" anchor="t" lIns="0" rIns="0" tIns="0" bIns="0">
            <a:spAutoFit/>
          </a:bodyPr>
          <a:lstStyle/>
          <a:p>
            <a:pPr algn="l">
              <a:lnSpc>
                <a:spcPct val="100000"/>
              </a:lnSpc>
              <a:spcBef>
                <a:spcPts val="0"/>
              </a:spcBef>
              <a:spcAft>
                <a:spcPts val="0"/>
              </a:spcAft>
            </a:pPr>
            <a:r>
              <a:rPr sz="850" b="1" i="0" u="none" spc="120">
                <a:solidFill>
                  <a:srgbClr val="9AA5BC"/>
                </a:solidFill>
                <a:latin typeface="Calibri Light"/>
              </a:rPr>
              <a:t>Modules 3–13</a:t>
            </a:r>
          </a:p>
        </p:txBody>
      </p:sp>
      <p:sp>
        <p:nvSpPr>
          <p:cNvPr id="17" name="Rectangle 16"/>
          <p:cNvSpPr/>
          <p:nvPr/>
        </p:nvSpPr>
        <p:spPr>
          <a:xfrm>
            <a:off x="5169286" y="2286000"/>
            <a:ext cx="1853123"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169286" y="2286000"/>
            <a:ext cx="1853123"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97886" y="2542032"/>
            <a:ext cx="1395923" cy="566928"/>
          </a:xfrm>
          <a:prstGeom prst="rect">
            <a:avLst/>
          </a:prstGeom>
          <a:noFill/>
        </p:spPr>
        <p:txBody>
          <a:bodyPr wrap="square" anchor="t" lIns="0" rIns="0" tIns="0" bIns="0">
            <a:spAutoFit/>
          </a:bodyPr>
          <a:lstStyle/>
          <a:p>
            <a:pPr algn="l">
              <a:lnSpc>
                <a:spcPct val="115000"/>
              </a:lnSpc>
              <a:spcBef>
                <a:spcPts val="0"/>
              </a:spcBef>
              <a:spcAft>
                <a:spcPts val="0"/>
              </a:spcAft>
            </a:pPr>
            <a:r>
              <a:rPr sz="1050" b="1" i="0" u="none" spc="160">
                <a:solidFill>
                  <a:srgbClr val="E6D3A3"/>
                </a:solidFill>
                <a:latin typeface="Calibri Light"/>
              </a:rPr>
              <a:t>THE CHRISTIAN LIFE</a:t>
            </a:r>
          </a:p>
        </p:txBody>
      </p:sp>
      <p:sp>
        <p:nvSpPr>
          <p:cNvPr id="20" name="TextBox 19"/>
          <p:cNvSpPr txBox="1"/>
          <p:nvPr/>
        </p:nvSpPr>
        <p:spPr>
          <a:xfrm>
            <a:off x="5397886" y="3200400"/>
            <a:ext cx="1395923" cy="1691640"/>
          </a:xfrm>
          <a:prstGeom prst="rect">
            <a:avLst/>
          </a:prstGeom>
          <a:noFill/>
        </p:spPr>
        <p:txBody>
          <a:bodyPr wrap="square" anchor="t" lIns="0" rIns="0" tIns="0" bIns="0">
            <a:spAutoFit/>
          </a:bodyPr>
          <a:lstStyle/>
          <a:p>
            <a:pPr algn="l">
              <a:lnSpc>
                <a:spcPct val="125000"/>
              </a:lnSpc>
              <a:spcBef>
                <a:spcPts val="0"/>
              </a:spcBef>
              <a:spcAft>
                <a:spcPts val="0"/>
              </a:spcAft>
            </a:pPr>
            <a:r>
              <a:rPr sz="1000" b="0" i="0" u="none">
                <a:solidFill>
                  <a:srgbClr val="C9CDD6"/>
                </a:solidFill>
                <a:latin typeface="Calibri"/>
              </a:rPr>
              <a:t>Spiritual growth, ethics, the work of the Spirit in the believer, the theology of the world.</a:t>
            </a:r>
          </a:p>
        </p:txBody>
      </p:sp>
      <p:sp>
        <p:nvSpPr>
          <p:cNvPr id="21" name="TextBox 20"/>
          <p:cNvSpPr txBox="1"/>
          <p:nvPr/>
        </p:nvSpPr>
        <p:spPr>
          <a:xfrm>
            <a:off x="5397886" y="5029200"/>
            <a:ext cx="1395923" cy="320040"/>
          </a:xfrm>
          <a:prstGeom prst="rect">
            <a:avLst/>
          </a:prstGeom>
          <a:noFill/>
        </p:spPr>
        <p:txBody>
          <a:bodyPr wrap="square" anchor="t" lIns="0" rIns="0" tIns="0" bIns="0">
            <a:spAutoFit/>
          </a:bodyPr>
          <a:lstStyle/>
          <a:p>
            <a:pPr algn="l">
              <a:lnSpc>
                <a:spcPct val="100000"/>
              </a:lnSpc>
              <a:spcBef>
                <a:spcPts val="0"/>
              </a:spcBef>
              <a:spcAft>
                <a:spcPts val="0"/>
              </a:spcAft>
            </a:pPr>
            <a:r>
              <a:rPr sz="850" b="1" i="0" u="none" spc="120">
                <a:solidFill>
                  <a:srgbClr val="9AA5BC"/>
                </a:solidFill>
                <a:latin typeface="Calibri Light"/>
              </a:rPr>
              <a:t>Modules 14</a:t>
            </a:r>
          </a:p>
        </p:txBody>
      </p:sp>
      <p:sp>
        <p:nvSpPr>
          <p:cNvPr id="22" name="Rectangle 21"/>
          <p:cNvSpPr/>
          <p:nvPr/>
        </p:nvSpPr>
        <p:spPr>
          <a:xfrm>
            <a:off x="7342449" y="2286000"/>
            <a:ext cx="1853123"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342449" y="2286000"/>
            <a:ext cx="1853123"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571049" y="2542032"/>
            <a:ext cx="1395923" cy="566928"/>
          </a:xfrm>
          <a:prstGeom prst="rect">
            <a:avLst/>
          </a:prstGeom>
          <a:noFill/>
        </p:spPr>
        <p:txBody>
          <a:bodyPr wrap="square" anchor="t" lIns="0" rIns="0" tIns="0" bIns="0">
            <a:spAutoFit/>
          </a:bodyPr>
          <a:lstStyle/>
          <a:p>
            <a:pPr algn="l">
              <a:lnSpc>
                <a:spcPct val="115000"/>
              </a:lnSpc>
              <a:spcBef>
                <a:spcPts val="0"/>
              </a:spcBef>
              <a:spcAft>
                <a:spcPts val="0"/>
              </a:spcAft>
            </a:pPr>
            <a:r>
              <a:rPr sz="1050" b="1" i="0" u="none" spc="160">
                <a:solidFill>
                  <a:srgbClr val="E6D3A3"/>
                </a:solidFill>
                <a:latin typeface="Calibri Light"/>
              </a:rPr>
              <a:t>HISTORY &amp; CONTEXT</a:t>
            </a:r>
          </a:p>
        </p:txBody>
      </p:sp>
      <p:sp>
        <p:nvSpPr>
          <p:cNvPr id="25" name="TextBox 24"/>
          <p:cNvSpPr txBox="1"/>
          <p:nvPr/>
        </p:nvSpPr>
        <p:spPr>
          <a:xfrm>
            <a:off x="7571049" y="3200400"/>
            <a:ext cx="1395923" cy="1691640"/>
          </a:xfrm>
          <a:prstGeom prst="rect">
            <a:avLst/>
          </a:prstGeom>
          <a:noFill/>
        </p:spPr>
        <p:txBody>
          <a:bodyPr wrap="square" anchor="t" lIns="0" rIns="0" tIns="0" bIns="0">
            <a:spAutoFit/>
          </a:bodyPr>
          <a:lstStyle/>
          <a:p>
            <a:pPr algn="l">
              <a:lnSpc>
                <a:spcPct val="125000"/>
              </a:lnSpc>
              <a:spcBef>
                <a:spcPts val="0"/>
              </a:spcBef>
              <a:spcAft>
                <a:spcPts val="0"/>
              </a:spcAft>
            </a:pPr>
            <a:r>
              <a:rPr sz="1000" b="0" i="0" u="none">
                <a:solidFill>
                  <a:srgbClr val="C9CDD6"/>
                </a:solidFill>
                <a:latin typeface="Calibri"/>
              </a:rPr>
              <a:t>The development of the faith across two millennia; the church in society and culture.</a:t>
            </a:r>
          </a:p>
        </p:txBody>
      </p:sp>
      <p:sp>
        <p:nvSpPr>
          <p:cNvPr id="26" name="TextBox 25"/>
          <p:cNvSpPr txBox="1"/>
          <p:nvPr/>
        </p:nvSpPr>
        <p:spPr>
          <a:xfrm>
            <a:off x="7571049" y="5029200"/>
            <a:ext cx="1395923" cy="320040"/>
          </a:xfrm>
          <a:prstGeom prst="rect">
            <a:avLst/>
          </a:prstGeom>
          <a:noFill/>
        </p:spPr>
        <p:txBody>
          <a:bodyPr wrap="square" anchor="t" lIns="0" rIns="0" tIns="0" bIns="0">
            <a:spAutoFit/>
          </a:bodyPr>
          <a:lstStyle/>
          <a:p>
            <a:pPr algn="l">
              <a:lnSpc>
                <a:spcPct val="100000"/>
              </a:lnSpc>
              <a:spcBef>
                <a:spcPts val="0"/>
              </a:spcBef>
              <a:spcAft>
                <a:spcPts val="0"/>
              </a:spcAft>
            </a:pPr>
            <a:r>
              <a:rPr sz="850" b="1" i="0" u="none" spc="120">
                <a:solidFill>
                  <a:srgbClr val="9AA5BC"/>
                </a:solidFill>
                <a:latin typeface="Calibri Light"/>
              </a:rPr>
              <a:t>Module 15</a:t>
            </a:r>
          </a:p>
        </p:txBody>
      </p:sp>
      <p:sp>
        <p:nvSpPr>
          <p:cNvPr id="27" name="Rectangle 26"/>
          <p:cNvSpPr/>
          <p:nvPr/>
        </p:nvSpPr>
        <p:spPr>
          <a:xfrm>
            <a:off x="9515612" y="2286000"/>
            <a:ext cx="1853123"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515612" y="2286000"/>
            <a:ext cx="1853123"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744212" y="2542032"/>
            <a:ext cx="1395923" cy="566928"/>
          </a:xfrm>
          <a:prstGeom prst="rect">
            <a:avLst/>
          </a:prstGeom>
          <a:noFill/>
        </p:spPr>
        <p:txBody>
          <a:bodyPr wrap="square" anchor="t" lIns="0" rIns="0" tIns="0" bIns="0">
            <a:spAutoFit/>
          </a:bodyPr>
          <a:lstStyle/>
          <a:p>
            <a:pPr algn="l">
              <a:lnSpc>
                <a:spcPct val="115000"/>
              </a:lnSpc>
              <a:spcBef>
                <a:spcPts val="0"/>
              </a:spcBef>
              <a:spcAft>
                <a:spcPts val="0"/>
              </a:spcAft>
            </a:pPr>
            <a:r>
              <a:rPr sz="1050" b="1" i="0" u="none" spc="160">
                <a:solidFill>
                  <a:srgbClr val="E6D3A3"/>
                </a:solidFill>
                <a:latin typeface="Calibri Light"/>
              </a:rPr>
              <a:t>ADVANCED STUDY</a:t>
            </a:r>
          </a:p>
        </p:txBody>
      </p:sp>
      <p:sp>
        <p:nvSpPr>
          <p:cNvPr id="30" name="TextBox 29"/>
          <p:cNvSpPr txBox="1"/>
          <p:nvPr/>
        </p:nvSpPr>
        <p:spPr>
          <a:xfrm>
            <a:off x="9744212" y="3200400"/>
            <a:ext cx="1395923" cy="1691640"/>
          </a:xfrm>
          <a:prstGeom prst="rect">
            <a:avLst/>
          </a:prstGeom>
          <a:noFill/>
        </p:spPr>
        <p:txBody>
          <a:bodyPr wrap="square" anchor="t" lIns="0" rIns="0" tIns="0" bIns="0">
            <a:spAutoFit/>
          </a:bodyPr>
          <a:lstStyle/>
          <a:p>
            <a:pPr algn="l">
              <a:lnSpc>
                <a:spcPct val="125000"/>
              </a:lnSpc>
              <a:spcBef>
                <a:spcPts val="0"/>
              </a:spcBef>
              <a:spcAft>
                <a:spcPts val="0"/>
              </a:spcAft>
            </a:pPr>
            <a:r>
              <a:rPr sz="1000" b="0" i="0" u="none">
                <a:solidFill>
                  <a:srgbClr val="C9CDD6"/>
                </a:solidFill>
                <a:latin typeface="Calibri"/>
              </a:rPr>
              <a:t>Apologetics, comparative traditions, theology and modernity, original research.</a:t>
            </a:r>
          </a:p>
        </p:txBody>
      </p:sp>
      <p:sp>
        <p:nvSpPr>
          <p:cNvPr id="31" name="TextBox 30"/>
          <p:cNvSpPr txBox="1"/>
          <p:nvPr/>
        </p:nvSpPr>
        <p:spPr>
          <a:xfrm>
            <a:off x="9744212" y="5029200"/>
            <a:ext cx="1395923" cy="320040"/>
          </a:xfrm>
          <a:prstGeom prst="rect">
            <a:avLst/>
          </a:prstGeom>
          <a:noFill/>
        </p:spPr>
        <p:txBody>
          <a:bodyPr wrap="square" anchor="t" lIns="0" rIns="0" tIns="0" bIns="0">
            <a:spAutoFit/>
          </a:bodyPr>
          <a:lstStyle/>
          <a:p>
            <a:pPr algn="l">
              <a:lnSpc>
                <a:spcPct val="100000"/>
              </a:lnSpc>
              <a:spcBef>
                <a:spcPts val="0"/>
              </a:spcBef>
              <a:spcAft>
                <a:spcPts val="0"/>
              </a:spcAft>
            </a:pPr>
            <a:r>
              <a:rPr sz="850" b="1" i="0" u="none" spc="120">
                <a:solidFill>
                  <a:srgbClr val="9AA5BC"/>
                </a:solidFill>
                <a:latin typeface="Calibri Light"/>
              </a:rPr>
              <a:t>Modules 16–18</a:t>
            </a:r>
          </a:p>
        </p:txBody>
      </p:sp>
      <p:sp>
        <p:nvSpPr>
          <p:cNvPr id="32" name="Rectangle 31"/>
          <p:cNvSpPr/>
          <p:nvPr/>
        </p:nvSpPr>
        <p:spPr>
          <a:xfrm>
            <a:off x="822960"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1019556"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1216152"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1412748"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1609344"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1805940"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2002536"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2199132"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2395728"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2592324"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2788920"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2985515"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3182112"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3378708"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3575303"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3771900"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3968496"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4165091"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77240"/>
            <a:ext cx="10545775" cy="320040"/>
          </a:xfrm>
          <a:prstGeom prst="rect">
            <a:avLst/>
          </a:prstGeom>
          <a:noFill/>
        </p:spPr>
        <p:txBody>
          <a:bodyPr wrap="square" anchor="t" lIns="0" rIns="0" tIns="0" bIns="0">
            <a:spAutoFit/>
          </a:bodyPr>
          <a:lstStyle/>
          <a:p>
            <a:pPr algn="l">
              <a:lnSpc>
                <a:spcPct val="100000"/>
              </a:lnSpc>
              <a:spcBef>
                <a:spcPts val="0"/>
              </a:spcBef>
              <a:spcAft>
                <a:spcPts val="0"/>
              </a:spcAft>
            </a:pPr>
            <a:r>
              <a:rPr sz="1050" b="1" i="0" u="none" spc="320">
                <a:solidFill>
                  <a:srgbClr val="E6D3A3"/>
                </a:solidFill>
                <a:latin typeface="Calibri Light"/>
              </a:rPr>
              <a:t>COURSE CONCLUSION</a:t>
            </a:r>
          </a:p>
        </p:txBody>
      </p:sp>
      <p:sp>
        <p:nvSpPr>
          <p:cNvPr id="5" name="TextBox 4"/>
          <p:cNvSpPr txBox="1"/>
          <p:nvPr/>
        </p:nvSpPr>
        <p:spPr>
          <a:xfrm>
            <a:off x="822960" y="1143000"/>
            <a:ext cx="10545775" cy="640080"/>
          </a:xfrm>
          <a:prstGeom prst="rect">
            <a:avLst/>
          </a:prstGeom>
          <a:noFill/>
        </p:spPr>
        <p:txBody>
          <a:bodyPr wrap="square" anchor="t" lIns="0" rIns="0" tIns="0" bIns="0">
            <a:spAutoFit/>
          </a:bodyPr>
          <a:lstStyle/>
          <a:p>
            <a:pPr algn="l">
              <a:lnSpc>
                <a:spcPct val="100000"/>
              </a:lnSpc>
              <a:spcBef>
                <a:spcPts val="0"/>
              </a:spcBef>
              <a:spcAft>
                <a:spcPts val="0"/>
              </a:spcAft>
            </a:pPr>
            <a:r>
              <a:rPr sz="2600" b="1" i="0" u="none">
                <a:solidFill>
                  <a:srgbClr val="FFFFFF"/>
                </a:solidFill>
                <a:latin typeface="Palatino Linotype"/>
              </a:rPr>
              <a:t>The Integration of the Theological Disciplines</a:t>
            </a:r>
          </a:p>
        </p:txBody>
      </p:sp>
      <p:cxnSp>
        <p:nvCxnSpPr>
          <p:cNvPr id="6" name="Connector 5"/>
          <p:cNvCxnSpPr/>
          <p:nvPr/>
        </p:nvCxnSpPr>
        <p:spPr>
          <a:xfrm>
            <a:off x="822960" y="1874519"/>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606039" y="2971800"/>
            <a:ext cx="2286000" cy="2286000"/>
          </a:xfrm>
          <a:prstGeom prst="ellipse">
            <a:avLst/>
          </a:prstGeom>
          <a:noFill/>
          <a:ln w="2032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880359" y="3246120"/>
            <a:ext cx="1737360" cy="1737360"/>
          </a:xfrm>
          <a:prstGeom prst="ellipse">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97479" y="3547872"/>
            <a:ext cx="2103120" cy="1133856"/>
          </a:xfrm>
          <a:prstGeom prst="rect">
            <a:avLst/>
          </a:prstGeom>
          <a:noFill/>
        </p:spPr>
        <p:txBody>
          <a:bodyPr wrap="square" anchor="ctr" lIns="0" rIns="0" tIns="0" bIns="0">
            <a:spAutoFit/>
          </a:bodyPr>
          <a:lstStyle/>
          <a:p>
            <a:pPr algn="ctr">
              <a:lnSpc>
                <a:spcPct val="100000"/>
              </a:lnSpc>
              <a:spcBef>
                <a:spcPts val="0"/>
              </a:spcBef>
              <a:spcAft>
                <a:spcPts val="100"/>
              </a:spcAft>
            </a:pPr>
            <a:r>
              <a:rPr sz="1000" b="1" i="0" u="none" spc="140">
                <a:solidFill>
                  <a:srgbClr val="E6D3A3"/>
                </a:solidFill>
                <a:latin typeface="Calibri Light"/>
              </a:rPr>
              <a:t>THE CHRISTIAN</a:t>
            </a:r>
          </a:p>
          <a:p>
            <a:pPr algn="ctr">
              <a:lnSpc>
                <a:spcPct val="100000"/>
              </a:lnSpc>
              <a:spcBef>
                <a:spcPts val="0"/>
              </a:spcBef>
              <a:spcAft>
                <a:spcPts val="0"/>
              </a:spcAft>
            </a:pPr>
            <a:r>
              <a:rPr sz="1500" b="1" i="0" u="none">
                <a:solidFill>
                  <a:srgbClr val="FFFFFF"/>
                </a:solidFill>
                <a:latin typeface="Palatino Linotype"/>
              </a:rPr>
              <a:t>FAITH</a:t>
            </a:r>
          </a:p>
        </p:txBody>
      </p:sp>
      <p:cxnSp>
        <p:nvCxnSpPr>
          <p:cNvPr id="10" name="Connector 9"/>
          <p:cNvCxnSpPr/>
          <p:nvPr/>
        </p:nvCxnSpPr>
        <p:spPr>
          <a:xfrm>
            <a:off x="3749039" y="5440680"/>
            <a:ext cx="0" cy="132588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703320" y="6720840"/>
            <a:ext cx="91440" cy="91440"/>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199" y="6839712"/>
            <a:ext cx="2286000" cy="566928"/>
          </a:xfrm>
          <a:prstGeom prst="rect">
            <a:avLst/>
          </a:prstGeom>
          <a:noFill/>
        </p:spPr>
        <p:txBody>
          <a:bodyPr wrap="square" anchor="t" lIns="0" rIns="0" tIns="0" bIns="0">
            <a:spAutoFit/>
          </a:bodyPr>
          <a:lstStyle/>
          <a:p>
            <a:pPr algn="ctr">
              <a:lnSpc>
                <a:spcPct val="100000"/>
              </a:lnSpc>
              <a:spcBef>
                <a:spcPts val="0"/>
              </a:spcBef>
              <a:spcAft>
                <a:spcPts val="0"/>
              </a:spcAft>
            </a:pPr>
            <a:r>
              <a:rPr sz="1050" b="1" i="0" u="none" spc="120">
                <a:solidFill>
                  <a:srgbClr val="E6D3A3"/>
                </a:solidFill>
                <a:latin typeface="Calibri Light"/>
              </a:rPr>
              <a:t>Biblical Theology</a:t>
            </a:r>
          </a:p>
          <a:p>
            <a:pPr algn="ctr">
              <a:lnSpc>
                <a:spcPct val="105000"/>
              </a:lnSpc>
              <a:spcBef>
                <a:spcPts val="0"/>
              </a:spcBef>
              <a:spcAft>
                <a:spcPts val="0"/>
              </a:spcAft>
            </a:pPr>
            <a:r>
              <a:rPr sz="950" b="0" i="1" u="none">
                <a:solidFill>
                  <a:srgbClr val="C9CDD6"/>
                </a:solidFill>
                <a:latin typeface="Palatino Linotype"/>
              </a:rPr>
              <a:t>the Scriptures as the norm of all doctrine</a:t>
            </a:r>
          </a:p>
        </p:txBody>
      </p:sp>
      <p:cxnSp>
        <p:nvCxnSpPr>
          <p:cNvPr id="13" name="Connector 12"/>
          <p:cNvCxnSpPr/>
          <p:nvPr/>
        </p:nvCxnSpPr>
        <p:spPr>
          <a:xfrm flipH="1">
            <a:off x="1452548" y="4777740"/>
            <a:ext cx="1148246" cy="662939"/>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406828" y="5394959"/>
            <a:ext cx="91440" cy="91440"/>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021" y="5385816"/>
            <a:ext cx="2286000" cy="566928"/>
          </a:xfrm>
          <a:prstGeom prst="rect">
            <a:avLst/>
          </a:prstGeom>
          <a:noFill/>
        </p:spPr>
        <p:txBody>
          <a:bodyPr wrap="square" anchor="t" lIns="0" rIns="0" tIns="0" bIns="0">
            <a:spAutoFit/>
          </a:bodyPr>
          <a:lstStyle/>
          <a:p>
            <a:pPr algn="r">
              <a:lnSpc>
                <a:spcPct val="100000"/>
              </a:lnSpc>
              <a:spcBef>
                <a:spcPts val="0"/>
              </a:spcBef>
              <a:spcAft>
                <a:spcPts val="0"/>
              </a:spcAft>
            </a:pPr>
            <a:r>
              <a:rPr sz="1050" b="1" i="0" u="none" spc="120">
                <a:solidFill>
                  <a:srgbClr val="E6D3A3"/>
                </a:solidFill>
                <a:latin typeface="Calibri Light"/>
              </a:rPr>
              <a:t>Systematic Theology</a:t>
            </a:r>
          </a:p>
          <a:p>
            <a:pPr algn="r">
              <a:lnSpc>
                <a:spcPct val="105000"/>
              </a:lnSpc>
              <a:spcBef>
                <a:spcPts val="0"/>
              </a:spcBef>
              <a:spcAft>
                <a:spcPts val="0"/>
              </a:spcAft>
            </a:pPr>
            <a:r>
              <a:rPr sz="950" b="0" i="1" u="none">
                <a:solidFill>
                  <a:srgbClr val="C9CDD6"/>
                </a:solidFill>
                <a:latin typeface="Palatino Linotype"/>
              </a:rPr>
              <a:t>doctrine ordered into coherent dogmatics</a:t>
            </a:r>
          </a:p>
        </p:txBody>
      </p:sp>
      <p:cxnSp>
        <p:nvCxnSpPr>
          <p:cNvPr id="16" name="Connector 15"/>
          <p:cNvCxnSpPr/>
          <p:nvPr/>
        </p:nvCxnSpPr>
        <p:spPr>
          <a:xfrm flipH="1" flipV="1">
            <a:off x="1452548" y="2788920"/>
            <a:ext cx="1148246" cy="66294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406828" y="2743200"/>
            <a:ext cx="91440" cy="91440"/>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021" y="2478023"/>
            <a:ext cx="2286000" cy="566928"/>
          </a:xfrm>
          <a:prstGeom prst="rect">
            <a:avLst/>
          </a:prstGeom>
          <a:noFill/>
        </p:spPr>
        <p:txBody>
          <a:bodyPr wrap="square" anchor="t" lIns="0" rIns="0" tIns="0" bIns="0">
            <a:spAutoFit/>
          </a:bodyPr>
          <a:lstStyle/>
          <a:p>
            <a:pPr algn="r">
              <a:lnSpc>
                <a:spcPct val="100000"/>
              </a:lnSpc>
              <a:spcBef>
                <a:spcPts val="0"/>
              </a:spcBef>
              <a:spcAft>
                <a:spcPts val="0"/>
              </a:spcAft>
            </a:pPr>
            <a:r>
              <a:rPr sz="1050" b="1" i="0" u="none" spc="120">
                <a:solidFill>
                  <a:srgbClr val="E6D3A3"/>
                </a:solidFill>
                <a:latin typeface="Calibri Light"/>
              </a:rPr>
              <a:t>Historical Theology</a:t>
            </a:r>
          </a:p>
          <a:p>
            <a:pPr algn="r">
              <a:lnSpc>
                <a:spcPct val="105000"/>
              </a:lnSpc>
              <a:spcBef>
                <a:spcPts val="0"/>
              </a:spcBef>
              <a:spcAft>
                <a:spcPts val="0"/>
              </a:spcAft>
            </a:pPr>
            <a:r>
              <a:rPr sz="950" b="0" i="1" u="none">
                <a:solidFill>
                  <a:srgbClr val="C9CDD6"/>
                </a:solidFill>
                <a:latin typeface="Palatino Linotype"/>
              </a:rPr>
              <a:t>the faith as confessed across the centuries</a:t>
            </a:r>
          </a:p>
        </p:txBody>
      </p:sp>
      <p:cxnSp>
        <p:nvCxnSpPr>
          <p:cNvPr id="19" name="Connector 18"/>
          <p:cNvCxnSpPr/>
          <p:nvPr/>
        </p:nvCxnSpPr>
        <p:spPr>
          <a:xfrm flipV="1">
            <a:off x="3749039" y="1463040"/>
            <a:ext cx="0" cy="132588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703319" y="1417320"/>
            <a:ext cx="91440" cy="91440"/>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199" y="1024128"/>
            <a:ext cx="2286000" cy="566928"/>
          </a:xfrm>
          <a:prstGeom prst="rect">
            <a:avLst/>
          </a:prstGeom>
          <a:noFill/>
        </p:spPr>
        <p:txBody>
          <a:bodyPr wrap="square" anchor="t" lIns="0" rIns="0" tIns="0" bIns="0">
            <a:spAutoFit/>
          </a:bodyPr>
          <a:lstStyle/>
          <a:p>
            <a:pPr algn="ctr">
              <a:lnSpc>
                <a:spcPct val="100000"/>
              </a:lnSpc>
              <a:spcBef>
                <a:spcPts val="0"/>
              </a:spcBef>
              <a:spcAft>
                <a:spcPts val="0"/>
              </a:spcAft>
            </a:pPr>
            <a:r>
              <a:rPr sz="1050" b="1" i="0" u="none" spc="120">
                <a:solidFill>
                  <a:srgbClr val="E6D3A3"/>
                </a:solidFill>
                <a:latin typeface="Calibri Light"/>
              </a:rPr>
              <a:t>Practical Theology</a:t>
            </a:r>
          </a:p>
          <a:p>
            <a:pPr algn="ctr">
              <a:lnSpc>
                <a:spcPct val="105000"/>
              </a:lnSpc>
              <a:spcBef>
                <a:spcPts val="0"/>
              </a:spcBef>
              <a:spcAft>
                <a:spcPts val="0"/>
              </a:spcAft>
            </a:pPr>
            <a:r>
              <a:rPr sz="950" b="0" i="1" u="none">
                <a:solidFill>
                  <a:srgbClr val="C9CDD6"/>
                </a:solidFill>
                <a:latin typeface="Palatino Linotype"/>
              </a:rPr>
              <a:t>doctrine embodied in life and ministry</a:t>
            </a:r>
          </a:p>
        </p:txBody>
      </p:sp>
      <p:cxnSp>
        <p:nvCxnSpPr>
          <p:cNvPr id="22" name="Connector 21"/>
          <p:cNvCxnSpPr/>
          <p:nvPr/>
        </p:nvCxnSpPr>
        <p:spPr>
          <a:xfrm flipV="1">
            <a:off x="4897285" y="2788919"/>
            <a:ext cx="1148246" cy="66294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999811" y="2743199"/>
            <a:ext cx="91440" cy="91440"/>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4421" y="2478023"/>
            <a:ext cx="2286000" cy="566928"/>
          </a:xfrm>
          <a:prstGeom prst="rect">
            <a:avLst/>
          </a:prstGeom>
          <a:noFill/>
        </p:spPr>
        <p:txBody>
          <a:bodyPr wrap="square" anchor="t" lIns="0" rIns="0" tIns="0" bIns="0">
            <a:spAutoFit/>
          </a:bodyPr>
          <a:lstStyle/>
          <a:p>
            <a:pPr algn="l">
              <a:lnSpc>
                <a:spcPct val="100000"/>
              </a:lnSpc>
              <a:spcBef>
                <a:spcPts val="0"/>
              </a:spcBef>
              <a:spcAft>
                <a:spcPts val="0"/>
              </a:spcAft>
            </a:pPr>
            <a:r>
              <a:rPr sz="1050" b="1" i="0" u="none" spc="120">
                <a:solidFill>
                  <a:srgbClr val="E6D3A3"/>
                </a:solidFill>
                <a:latin typeface="Calibri Light"/>
              </a:rPr>
              <a:t>Advanced Theology</a:t>
            </a:r>
          </a:p>
          <a:p>
            <a:pPr algn="l">
              <a:lnSpc>
                <a:spcPct val="105000"/>
              </a:lnSpc>
              <a:spcBef>
                <a:spcPts val="0"/>
              </a:spcBef>
              <a:spcAft>
                <a:spcPts val="0"/>
              </a:spcAft>
            </a:pPr>
            <a:r>
              <a:rPr sz="950" b="0" i="1" u="none">
                <a:solidFill>
                  <a:srgbClr val="C9CDD6"/>
                </a:solidFill>
                <a:latin typeface="Palatino Linotype"/>
              </a:rPr>
              <a:t>critique, context and original research</a:t>
            </a:r>
          </a:p>
        </p:txBody>
      </p:sp>
      <p:sp>
        <p:nvSpPr>
          <p:cNvPr id="25" name="TextBox 24"/>
          <p:cNvSpPr txBox="1"/>
          <p:nvPr/>
        </p:nvSpPr>
        <p:spPr>
          <a:xfrm>
            <a:off x="7223760" y="5806440"/>
            <a:ext cx="4206240" cy="640080"/>
          </a:xfrm>
          <a:prstGeom prst="rect">
            <a:avLst/>
          </a:prstGeom>
          <a:noFill/>
        </p:spPr>
        <p:txBody>
          <a:bodyPr wrap="square" anchor="t" lIns="0" rIns="0" tIns="0" bIns="0">
            <a:spAutoFit/>
          </a:bodyPr>
          <a:lstStyle/>
          <a:p>
            <a:pPr algn="r">
              <a:lnSpc>
                <a:spcPct val="130000"/>
              </a:lnSpc>
              <a:spcBef>
                <a:spcPts val="0"/>
              </a:spcBef>
              <a:spcAft>
                <a:spcPts val="0"/>
              </a:spcAft>
            </a:pPr>
            <a:r>
              <a:rPr sz="1100" b="0" i="1" u="none">
                <a:solidFill>
                  <a:srgbClr val="9AA5BC"/>
                </a:solidFill>
                <a:latin typeface="Palatino Linotype"/>
              </a:rPr>
              <a:t>Every discipline converges on the person and work of Christ — the centre of the Christian faith.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603504"/>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COURSE CONCLUSION</a:t>
            </a:r>
          </a:p>
        </p:txBody>
      </p:sp>
      <p:sp>
        <p:nvSpPr>
          <p:cNvPr id="4" name="TextBox 3"/>
          <p:cNvSpPr txBox="1"/>
          <p:nvPr/>
        </p:nvSpPr>
        <p:spPr>
          <a:xfrm>
            <a:off x="822960" y="914400"/>
            <a:ext cx="10545775"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Final Reflection and Paths of Further Study</a:t>
            </a:r>
          </a:p>
        </p:txBody>
      </p:sp>
      <p:cxnSp>
        <p:nvCxnSpPr>
          <p:cNvPr id="5" name="Connector 4"/>
          <p:cNvCxnSpPr/>
          <p:nvPr/>
        </p:nvCxnSpPr>
        <p:spPr>
          <a:xfrm>
            <a:off x="822960" y="1627632"/>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920240"/>
            <a:ext cx="32004" cy="14173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78992" y="1956816"/>
            <a:ext cx="10088575" cy="1463040"/>
          </a:xfrm>
          <a:prstGeom prst="rect">
            <a:avLst/>
          </a:prstGeom>
          <a:noFill/>
        </p:spPr>
        <p:txBody>
          <a:bodyPr wrap="square" anchor="t" lIns="0" rIns="0" tIns="0" bIns="0">
            <a:spAutoFit/>
          </a:bodyPr>
          <a:lstStyle/>
          <a:p>
            <a:pPr algn="l">
              <a:lnSpc>
                <a:spcPct val="140000"/>
              </a:lnSpc>
              <a:spcBef>
                <a:spcPts val="0"/>
              </a:spcBef>
              <a:spcAft>
                <a:spcPts val="0"/>
              </a:spcAft>
            </a:pPr>
            <a:r>
              <a:rPr sz="1350" b="0" i="0" u="none">
                <a:solidFill>
                  <a:srgbClr val="232A38"/>
                </a:solidFill>
                <a:latin typeface="Palatino Linotype"/>
              </a:rPr>
              <a:t>This programme has carried us from the threshold question — what is theology? — through the great doctrines of the Christian faith, its history, its practical expression, and finally to the methods of original research. The student who completes all eighteen modules possesses not a catalogue of propositions but a living, ordered, defensible understanding of the faith once delivered to the saints.</a:t>
            </a:r>
          </a:p>
        </p:txBody>
      </p:sp>
      <p:sp>
        <p:nvSpPr>
          <p:cNvPr id="8" name="TextBox 7"/>
          <p:cNvSpPr txBox="1"/>
          <p:nvPr/>
        </p:nvSpPr>
        <p:spPr>
          <a:xfrm>
            <a:off x="822960" y="3611880"/>
            <a:ext cx="576072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SUGGESTED RESEARCH DIRECTIONS</a:t>
            </a:r>
          </a:p>
        </p:txBody>
      </p:sp>
      <p:sp>
        <p:nvSpPr>
          <p:cNvPr id="9" name="Rectangle 8"/>
          <p:cNvSpPr/>
          <p:nvPr/>
        </p:nvSpPr>
        <p:spPr>
          <a:xfrm>
            <a:off x="822960" y="4059935"/>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05840" y="3977639"/>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The relationship of natural theology and revealed theology in the modern university</a:t>
            </a:r>
          </a:p>
        </p:txBody>
      </p:sp>
      <p:sp>
        <p:nvSpPr>
          <p:cNvPr id="11" name="Rectangle 10"/>
          <p:cNvSpPr/>
          <p:nvPr/>
        </p:nvSpPr>
        <p:spPr>
          <a:xfrm>
            <a:off x="822960" y="462686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4544568"/>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Historical Christology: the development of the doctrine from Nicaea to Chalcedon</a:t>
            </a:r>
          </a:p>
        </p:txBody>
      </p:sp>
      <p:sp>
        <p:nvSpPr>
          <p:cNvPr id="13" name="Rectangle 12"/>
          <p:cNvSpPr/>
          <p:nvPr/>
        </p:nvSpPr>
        <p:spPr>
          <a:xfrm>
            <a:off x="822960" y="519379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05840" y="5111496"/>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The doctrine of the Trinity in the early Church fathers and in contemporary theology</a:t>
            </a:r>
          </a:p>
        </p:txBody>
      </p:sp>
      <p:sp>
        <p:nvSpPr>
          <p:cNvPr id="15" name="Rectangle 14"/>
          <p:cNvSpPr/>
          <p:nvPr/>
        </p:nvSpPr>
        <p:spPr>
          <a:xfrm>
            <a:off x="822960" y="5760719"/>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05840" y="5678423"/>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Soteriology in the different Christian traditions: an objective comparison</a:t>
            </a:r>
          </a:p>
        </p:txBody>
      </p:sp>
      <p:sp>
        <p:nvSpPr>
          <p:cNvPr id="17" name="Rectangle 16"/>
          <p:cNvSpPr/>
          <p:nvPr/>
        </p:nvSpPr>
        <p:spPr>
          <a:xfrm>
            <a:off x="6324447" y="4059935"/>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07327" y="3977639"/>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The Church and society: theological perspectives on public life</a:t>
            </a:r>
          </a:p>
        </p:txBody>
      </p:sp>
      <p:sp>
        <p:nvSpPr>
          <p:cNvPr id="19" name="Rectangle 18"/>
          <p:cNvSpPr/>
          <p:nvPr/>
        </p:nvSpPr>
        <p:spPr>
          <a:xfrm>
            <a:off x="6324447" y="462686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07327" y="4544568"/>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A critical survey of one major modern or contemporary theologian</a:t>
            </a:r>
          </a:p>
        </p:txBody>
      </p:sp>
      <p:sp>
        <p:nvSpPr>
          <p:cNvPr id="21" name="Rectangle 20"/>
          <p:cNvSpPr/>
          <p:nvPr/>
        </p:nvSpPr>
        <p:spPr>
          <a:xfrm>
            <a:off x="6324447" y="519379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07327" y="5111496"/>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Theology and the sciences: historical conflicts and current conversation</a:t>
            </a:r>
          </a:p>
        </p:txBody>
      </p:sp>
      <p:sp>
        <p:nvSpPr>
          <p:cNvPr id="23" name="Rectangle 22"/>
          <p:cNvSpPr/>
          <p:nvPr/>
        </p:nvSpPr>
        <p:spPr>
          <a:xfrm>
            <a:off x="6324447" y="5760719"/>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07327" y="5678423"/>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The formation of the New Testament canon in the early church</a:t>
            </a:r>
          </a:p>
        </p:txBody>
      </p:sp>
      <p:sp>
        <p:nvSpPr>
          <p:cNvPr id="25" name="Rectangle 24"/>
          <p:cNvSpPr/>
          <p:nvPr/>
        </p:nvSpPr>
        <p:spPr>
          <a:xfrm>
            <a:off x="822960"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019556"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216152"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1412748"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1609344"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805940"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002536"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199132"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2395728"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2592324"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2788920"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2985515"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182112"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378708"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575303"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3771900"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3968496"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4165091"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411480"/>
            <a:ext cx="11368735" cy="6035040"/>
          </a:xfrm>
          <a:prstGeom prst="rect">
            <a:avLst/>
          </a:prstGeom>
          <a:noFill/>
          <a:ln w="1397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12064" y="512064"/>
            <a:ext cx="11167567" cy="5833872"/>
          </a:xfrm>
          <a:prstGeom prst="rect">
            <a:avLst/>
          </a:prstGeom>
          <a:noFill/>
          <a:ln w="508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371600"/>
            <a:ext cx="10545775" cy="365760"/>
          </a:xfrm>
          <a:prstGeom prst="rect">
            <a:avLst/>
          </a:prstGeom>
          <a:noFill/>
        </p:spPr>
        <p:txBody>
          <a:bodyPr wrap="square" anchor="t" lIns="0" rIns="0" tIns="0" bIns="0">
            <a:spAutoFit/>
          </a:bodyPr>
          <a:lstStyle/>
          <a:p>
            <a:pPr algn="l">
              <a:lnSpc>
                <a:spcPct val="100000"/>
              </a:lnSpc>
              <a:spcBef>
                <a:spcPts val="0"/>
              </a:spcBef>
              <a:spcAft>
                <a:spcPts val="0"/>
              </a:spcAft>
            </a:pPr>
            <a:r>
              <a:rPr sz="1050" b="1" i="0" u="none" spc="340">
                <a:solidFill>
                  <a:srgbClr val="E6D3A3"/>
                </a:solidFill>
                <a:latin typeface="Calibri Light"/>
              </a:rPr>
              <a:t>THE END OF THE CURRICULUM</a:t>
            </a:r>
          </a:p>
        </p:txBody>
      </p:sp>
      <p:cxnSp>
        <p:nvCxnSpPr>
          <p:cNvPr id="6" name="Connector 5"/>
          <p:cNvCxnSpPr/>
          <p:nvPr/>
        </p:nvCxnSpPr>
        <p:spPr>
          <a:xfrm>
            <a:off x="5410047" y="1874519"/>
            <a:ext cx="50292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278727" y="1874519"/>
            <a:ext cx="50292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2377440"/>
            <a:ext cx="10362895" cy="1188720"/>
          </a:xfrm>
          <a:prstGeom prst="rect">
            <a:avLst/>
          </a:prstGeom>
          <a:noFill/>
        </p:spPr>
        <p:txBody>
          <a:bodyPr wrap="square" anchor="ctr" lIns="0" rIns="0" tIns="0" bIns="0">
            <a:spAutoFit/>
          </a:bodyPr>
          <a:lstStyle/>
          <a:p>
            <a:pPr algn="ctr">
              <a:lnSpc>
                <a:spcPct val="100000"/>
              </a:lnSpc>
              <a:spcBef>
                <a:spcPts val="0"/>
              </a:spcBef>
              <a:spcAft>
                <a:spcPts val="0"/>
              </a:spcAft>
            </a:pPr>
            <a:r>
              <a:rPr sz="4800" b="1" i="0" u="none" spc="150">
                <a:solidFill>
                  <a:srgbClr val="FFFFFF"/>
                </a:solidFill>
                <a:latin typeface="Palatino Linotype"/>
              </a:rPr>
              <a:t>CHRISTIAN THEOLOGY</a:t>
            </a:r>
          </a:p>
        </p:txBody>
      </p:sp>
      <p:sp>
        <p:nvSpPr>
          <p:cNvPr id="9" name="TextBox 8"/>
          <p:cNvSpPr txBox="1"/>
          <p:nvPr/>
        </p:nvSpPr>
        <p:spPr>
          <a:xfrm>
            <a:off x="914400" y="3611880"/>
            <a:ext cx="10362895" cy="457200"/>
          </a:xfrm>
          <a:prstGeom prst="rect">
            <a:avLst/>
          </a:prstGeom>
          <a:noFill/>
        </p:spPr>
        <p:txBody>
          <a:bodyPr wrap="square" anchor="t" lIns="0" rIns="0" tIns="0" bIns="0">
            <a:spAutoFit/>
          </a:bodyPr>
          <a:lstStyle/>
          <a:p>
            <a:pPr algn="ctr">
              <a:lnSpc>
                <a:spcPct val="100000"/>
              </a:lnSpc>
              <a:spcBef>
                <a:spcPts val="0"/>
              </a:spcBef>
              <a:spcAft>
                <a:spcPts val="0"/>
              </a:spcAft>
            </a:pPr>
            <a:r>
              <a:rPr sz="1350" b="1" i="0" u="none" spc="400">
                <a:solidFill>
                  <a:srgbClr val="E6D3A3"/>
                </a:solidFill>
                <a:latin typeface="Calibri Light"/>
              </a:rPr>
              <a:t>A COMPREHENSIVE ACADEMIC STUDY</a:t>
            </a:r>
          </a:p>
        </p:txBody>
      </p:sp>
      <p:sp>
        <p:nvSpPr>
          <p:cNvPr id="10" name="Rectangle 9"/>
          <p:cNvSpPr/>
          <p:nvPr/>
        </p:nvSpPr>
        <p:spPr>
          <a:xfrm>
            <a:off x="6059271" y="4306824"/>
            <a:ext cx="73152" cy="73152"/>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709160"/>
            <a:ext cx="10362895" cy="365760"/>
          </a:xfrm>
          <a:prstGeom prst="rect">
            <a:avLst/>
          </a:prstGeom>
          <a:noFill/>
        </p:spPr>
        <p:txBody>
          <a:bodyPr wrap="square" anchor="t" lIns="0" rIns="0" tIns="0" bIns="0">
            <a:spAutoFit/>
          </a:bodyPr>
          <a:lstStyle/>
          <a:p>
            <a:pPr algn="ctr">
              <a:lnSpc>
                <a:spcPct val="100000"/>
              </a:lnSpc>
              <a:spcBef>
                <a:spcPts val="0"/>
              </a:spcBef>
              <a:spcAft>
                <a:spcPts val="0"/>
              </a:spcAft>
            </a:pPr>
            <a:r>
              <a:rPr sz="1250" b="0" i="1" u="none">
                <a:solidFill>
                  <a:srgbClr val="C9CDD6"/>
                </a:solidFill>
                <a:latin typeface="Palatino Linotype"/>
              </a:rPr>
              <a:t>Eighteen Modules  ·  Two Hundred and Twenty Lecture Topics</a:t>
            </a:r>
          </a:p>
        </p:txBody>
      </p:sp>
      <p:sp>
        <p:nvSpPr>
          <p:cNvPr id="12" name="TextBox 11"/>
          <p:cNvSpPr txBox="1"/>
          <p:nvPr/>
        </p:nvSpPr>
        <p:spPr>
          <a:xfrm>
            <a:off x="914400" y="5623560"/>
            <a:ext cx="10362895" cy="365760"/>
          </a:xfrm>
          <a:prstGeom prst="rect">
            <a:avLst/>
          </a:prstGeom>
          <a:noFill/>
        </p:spPr>
        <p:txBody>
          <a:bodyPr wrap="square" anchor="t" lIns="0" rIns="0" tIns="0" bIns="0">
            <a:spAutoFit/>
          </a:bodyPr>
          <a:lstStyle/>
          <a:p>
            <a:pPr algn="ctr">
              <a:lnSpc>
                <a:spcPct val="100000"/>
              </a:lnSpc>
              <a:spcBef>
                <a:spcPts val="0"/>
              </a:spcBef>
              <a:spcAft>
                <a:spcPts val="0"/>
              </a:spcAft>
            </a:pPr>
            <a:r>
              <a:rPr sz="1300" b="0" i="1" u="none">
                <a:solidFill>
                  <a:srgbClr val="E6D3A3"/>
                </a:solidFill>
                <a:latin typeface="Palatino Linotype"/>
              </a:rPr>
              <a:t>Soli Deo Gloria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